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Module 28: Incident Response Models and Digital Forensics, presented by the University of Zululand Department of Computer Science.</a:t>
            </a:r>
          </a:p>
          <a:p>
            <a:r>
              <a:t>In this capstone module, we answer the ultimate question: What do you do when an attack actually happens?</a:t>
            </a:r>
          </a:p>
          <a:p>
            <a:r>
              <a:t>We examine four essential pillars:</a:t>
            </a:r>
          </a:p>
          <a:p>
            <a:r>
              <a:t>1. Evidence Handling &amp; Attack Attribution (forensics, volatility order, chain of custody, legal standards).</a:t>
            </a:r>
          </a:p>
          <a:p>
            <a:r>
              <a:t>2. The Lockheed Martin Cyber Kill Chain (7 stages, defensive breakpoints, active SOC countermeasures).</a:t>
            </a:r>
          </a:p>
          <a:p>
            <a:r>
              <a:t>3. The Diamond Model of Intrusion Analysis (4 core features, 6 meta-features, pivoting across nodes).</a:t>
            </a:r>
          </a:p>
          <a:p>
            <a:r>
              <a:t>4. Incident Response procedures under NIST SP 800-61r2 (preparation, detection, containment, and post-incident lessons learned).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master architectural roadmap for Cisco CyberOps Associate Module 28. It connects the 4 core learning pillars: Section 28.1 Evidence Handling &amp; Attack Attribution; Section 28.2 The Cyber Kill Chain; Section 28.3 The Diamond Model of Intrusion Analysis; and Section 28.4 Incident Response under NIST SP 800-61r2. Each phase builds upon the previous, preparing the analyst from initial digital forensic collection to executive reporting.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Digital forensics is the recovery and investigation of information on digital devices related to criminal activity. Indicators of compromise (IoCs) are the evidence of an incident found on storage, volatile RAM, or pcaps and logs. We distinguish between private (internal) investigations and public investigations involving law enforcement. Also remember regulatory mandates like HIPAA: if patient data of 500+ individuals is breached, media and victims must be notified immediately! Forensics certifies the numbers.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master infographic summarizes Section 28.1 across three core pillars: First, Digital Forensics sources (storage, RAM, network pcaps) and regulatory mandates like HIPAA. Second, the 4-phase forensic process (Collection, Examination, Analysis, Reporting), classifications of legal evidence, and the RFC 3227 Order of Volatility. Third, Data Integrity, Chain of Custody, master volume preservation with write-blockers and bit-level copies, and Attack Attribution via location, malware features, and TTPs.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NIST SP 800-86 defines the 4-phase forensic process: Collection, Examination, Analysis, and Reporting. In Collection, media is acquired using write-blockers. In Examination, data is extracted and filtered using known-good hash databases. In Analysis, artifacts are correlated to determine what happened. In Reporting, documentation is created for leadership and legal prosecution.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legal proceedings, evidence is classified as Direct or Indirect (Circumstantial). Direct evidence indisputably ties the accused to the crime or involves eyewitnesses. Indirect evidence establishes a hypothesis in combination with other facts. Evidence is also classified as Best Evidence (unaltered original state, such as a verified bit-stream forensic image) or Corroborating Evidence (secondary server logs verifying an endpoint alert).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IETF RFC 3227 provides the official sequence for collecting digital evidence based on volatility. Data in registers, caches, and RAM disappears instantly on reboot or power loss, and can be overwritten by running processes. Therefore, evidence must be collected strictly from most volatile to least volatile: Registers/Caches -&gt; RAM/Routing/Process Table -&gt; Temp Files -&gt; Fixed Media -&gt; Remote Logs -&gt; Physical Topology -&gt; Archival Media.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Chain of custody documents the entire lifecycle of evidence: Who discovered it, exact timestamps, custody transfers, and physical storage security. If the chain is broken, evidence is deemed contaminated and inadmissible. Data preservation requires never working on original evidence; always create a bit-stream replica using hardware write-blockers and record SHA-256 hashes before and after copying.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Attack attribution identifies the threat actor responsible through IP geolocation, malware code artifacts, and behavioral TTPs. While attribution is challenging due to proxy networks, the MITRE ATT&amp;CK framework provides an industry-standard knowledge base categorizing adversary behavior across Tactics (Goals/Why), Techniques (Means/How), and Procedures (Execution actions).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Developed by Lockheed Martin, the Cyber Kill Chain defines the 7 sequential stages of an attack. Breaking any single link stops the entire campaign. In Stage 1 (Reconnaissance), the attacker harvests intel and scans targets. In Stage 2 (Weaponization), malware is paired with an exploit. In Stage 3 (Delivery), the payload is sent via email, web, or USB. SOC defenses at these stages focus on threat intel, email attachment sandboxing, and web filtering.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tactical architecture diagram details the Lockheed Martin Cyber Kill Chain and corresponding SOC defenses. On the left is the adversary campaign: Reconnaissance, Weaponization, Delivery, Exploitation, Installation, Command and Control, and Actions on Objectives. In the center is the critical Defensive Breakpoint: stopping an exploit or persistence breaks the entire attack chain. On the right are active SOC defensive controls: log monitoring, signature updates, email filtering, endpoint hardening, and DNS sinkholing.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Stages 4 to 7 represent the operational execution of the attack. Stage 4 is Exploitation (triggering the vulnerability). Stage 5 is Installation (establishing persistent backdoors and registry Run keys). Stage 6 is Command and Control (opening a bi-directional beaconing channel). Stage 7 is Actions on Objectives (data exfiltration, ransomware, or destruction). Defensive countermeasures include endpoint hardening, HIPS, DNS sinkholing, and automated containment playbooks.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Diamond Model of Intrusion Analysis establishes relationships between 4 core features: Adversary, Capability, Infrastructure, and Victim. It emphasizes that an adversary uses infrastructure to deliver a capability against a victim. Each event is further classified by 6 meta-features: Timestamp, Phase, Result, Direction, Methodology, and Resources. This model excels at tracking campaigns across multiple hosts and organizations.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master architecture diagram illustrates the Diamond Model of Intrusion Analysis and its relationship to the Cyber Kill Chain. Part 1 shows the 4 core features: Adversary, Capability, Infrastructure, and Victim, along with meta-features (Timestamp, Phase, Result, Direction, Methodology, Resources). Part 2 shows Analytical Pivoting: moving from Victim to Capability to Infrastructure to Adversary. Part 3 illustrates vertical Kill Chain traversal against Gadgets Inc. with horizontal pivoting to compromise Victim 2.</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Pivoting is the analytical practice of using an artifact discovered in one diamond vertex to uncover related features in another vertex. For example, discovering malware on a victim leads to a C2 IP; searching logs for that IP reveals a second victim; analyzing both victims reveals a common threat actor.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Attack threading correlates sequential Diamond Model events with the Cyber Kill Chain. In the Gadgets Inc. case study, the adversary vertically traverses the Kill Chain against Admin NA1. Once NA1 is compromised, the adversary pivots horizontally, using NA1's email contacts to spearphish the CRO of Victim 2 (Interesting Research Inc.) and configuring NA1 as a web proxy for data exfiltration.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NIST SP 800-61r2 mandates three baseline governance documents to establish an Incident Response capability: Policy, Plan, and Procedures. Policy defines organizational authority and severity definitions. The Plan provides the roadmap and structure. Procedures define step-by-step technical standard operating procedures (SOPs).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Incident response requires cross-functional coordination beyond technical staff: Management, IT Support, Legal, Public Relations, and Human Resources. The US Department of Defense Cybersecurity Maturity Model Certification (CMMC) defines 5 maturity levels: Level 2 requires establishing a plan; Level 3 requires testing capability; Level 4 incorporates threat intel and 24/7 SOC; Level 5 utilizes automated real-time response.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NIST SP 800-61r2 Incident Response Life Cycle is a continuous 4-phase framework: 1. Preparation (tools, team, jump kits); 2. Detection &amp; Analysis (attack vectors, validating alerts); 3. Containment, Eradication &amp; Recovery (stopping damage, clean rebuilds); 4. Post-Incident Activity (lessons learned, evidence retention). Feedback loops between detection and preparation ensure defenses harden after every incident.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master architecture diagram represents NIST SP 800-61r2 Incident Response operations. In the center is the 4-phase circular life cycle: Preparation, Detection &amp; Analysis, Containment/Eradication/Recovery, and Post-Incident Activities. Surrounding it are key operational requirements: Policy/Plan/Procedures (28.4.1), Stakeholders &amp; CMMC maturity levels (28.4.3), Attack Vectors matrix (28.4.6), Containment strategy criteria (28.4.7), and Evidence retention factors (28.4.9).</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Preparation includes maintaining forensic jump kits equipped with analysis laptops, packet sniffers, write-blockers, clean media, and documentation. NIST categorizes incidents across 7 primary attack vectors: Web, Email, Loss/Theft, Impersonation, Attrition (DDoS), Removable Media, and External Hardware.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Containment limits the scope of an incident. Criteria include potential damage, evidence preservation, availability impact, and duration. Analysts face the Containment Dilemma: abruptly severing network access stops the bleeding, but alerts the attacker who may wipe files or destroy evidence. Subtle routing or DNS redirection maintains surveillance while mitigating risk. Eradication removes artifacts, while Recovery cleanly restores systems from verified backups.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lessons learned meeting is held within two weeks of incident closure. It answers 10 fundamental questions: Exactly what happened and when? Did staff follow SOPs? Were procedures adequate? Was precursor information missed? What corrective actions prevent recurrence? What precursors/indicators should be monitored? What additional tools are needed? How to improve external sharing? What management support was required? What corrective steps will be taken?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Incident data collection must be actionable. High incident counts can indicate flawed methodology or CSIRT incompetence, while low counts may mean improved defense or total absence of detection! Retention depends on 3 factors: Prosecution (retain until legal action concludes), Data Type (forensics kept 3+ years vs. routine logs for 90 days), and Cost (storage expenses and legacy hardware maintenance).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28.4.10 covers reporting and information sharing. NIST provides 5 critical recommendations: plan ahead, consult legal, share throughout the lifecycle, automate sharing, and balance benefits against sensitive disclosure risks. VERIS (Vocabulary for Event Recording and Incident Sharing) is an open framework categorizing incidents across 4 A's: Actors, Actions, Assets, and Attributes, powering the annual Verizon DBIR.</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Module 28: Remember the RFC 3227 Volatility ladder, never examine original evidence without write-blockers and hashes, break the Cyber Kill Chain as early as possible, use the Diamond Model to pivot between adversary, capability, infrastructure, and victim, and follow the NIST 4-phase incident life cycle. Thank you from the University of Zululand Department of Computer Science!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2.xml"/><Relationship Id="rId5" Type="http://schemas.openxmlformats.org/officeDocument/2006/relationships/image" Target="../media/image3.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4.xml"/><Relationship Id="rId5" Type="http://schemas.openxmlformats.org/officeDocument/2006/relationships/image" Target="../media/image4.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1.xml"/><Relationship Id="rId5" Type="http://schemas.openxmlformats.org/officeDocument/2006/relationships/image" Target="../media/image5.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4.xml"/><Relationship Id="rId5" Type="http://schemas.openxmlformats.org/officeDocument/2006/relationships/image" Target="../media/image6.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20.xml"/><Relationship Id="rId5" Type="http://schemas.openxmlformats.org/officeDocument/2006/relationships/image" Target="../media/image7.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2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unizulu_watermark.png"/>
          <p:cNvPicPr>
            <a:picLocks noChangeAspect="1"/>
          </p:cNvPicPr>
          <p:nvPr/>
        </p:nvPicPr>
        <p:blipFill>
          <a:blip r:embed="rId2"/>
          <a:stretch>
            <a:fillRect/>
          </a:stretch>
        </p:blipFill>
        <p:spPr>
          <a:xfrm>
            <a:off x="4206240" y="1188720"/>
            <a:ext cx="3840480" cy="4800600"/>
          </a:xfrm>
          <a:prstGeom prst="rect">
            <a:avLst/>
          </a:prstGeom>
        </p:spPr>
      </p:pic>
      <p:sp>
        <p:nvSpPr>
          <p:cNvPr id="4" name="Rectangle 3"/>
          <p:cNvSpPr/>
          <p:nvPr/>
        </p:nvSpPr>
        <p:spPr>
          <a:xfrm>
            <a:off x="0" y="0"/>
            <a:ext cx="12191695" cy="1371600"/>
          </a:xfrm>
          <a:prstGeom prst="rect">
            <a:avLst/>
          </a:prstGeom>
          <a:solidFill>
            <a:srgbClr val="002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1371600"/>
            <a:ext cx="12191695" cy="7315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unizulu_logo.png"/>
          <p:cNvPicPr>
            <a:picLocks noChangeAspect="1"/>
          </p:cNvPicPr>
          <p:nvPr/>
        </p:nvPicPr>
        <p:blipFill>
          <a:blip r:embed="rId3"/>
          <a:stretch>
            <a:fillRect/>
          </a:stretch>
        </p:blipFill>
        <p:spPr>
          <a:xfrm>
            <a:off x="548640" y="182880"/>
            <a:ext cx="804672" cy="1005840"/>
          </a:xfrm>
          <a:prstGeom prst="rect">
            <a:avLst/>
          </a:prstGeom>
        </p:spPr>
      </p:pic>
      <p:sp>
        <p:nvSpPr>
          <p:cNvPr id="7" name="TextBox 6"/>
          <p:cNvSpPr txBox="1"/>
          <p:nvPr/>
        </p:nvSpPr>
        <p:spPr>
          <a:xfrm>
            <a:off x="1645920" y="228600"/>
            <a:ext cx="9875520" cy="914400"/>
          </a:xfrm>
          <a:prstGeom prst="rect">
            <a:avLst/>
          </a:prstGeom>
          <a:noFill/>
        </p:spPr>
        <p:txBody>
          <a:bodyPr wrap="square">
            <a:spAutoFit/>
          </a:bodyPr>
          <a:lstStyle/>
          <a:p>
            <a:pPr>
              <a:defRPr sz="1300" b="1">
                <a:solidFill>
                  <a:srgbClr val="F59E0B"/>
                </a:solidFill>
                <a:latin typeface="Segoe UI"/>
              </a:defRPr>
            </a:pPr>
            <a:r>
              <a:t>UNIVERSITY OF ZULULAND • CISCO CYBEROPS ACADEMY</a:t>
            </a:r>
          </a:p>
          <a:p>
            <a:pPr>
              <a:defRPr sz="2200" b="1">
                <a:solidFill>
                  <a:srgbClr val="FFFFFF"/>
                </a:solidFill>
                <a:latin typeface="Segoe UI"/>
              </a:defRPr>
            </a:pPr>
            <a:r>
              <a:t>Incident Response Models &amp; Digital Forensics</a:t>
            </a:r>
          </a:p>
        </p:txBody>
      </p:sp>
      <p:sp>
        <p:nvSpPr>
          <p:cNvPr id="8" name="Rectangle 7"/>
          <p:cNvSpPr/>
          <p:nvPr/>
        </p:nvSpPr>
        <p:spPr>
          <a:xfrm>
            <a:off x="0" y="6446520"/>
            <a:ext cx="12191695" cy="411480"/>
          </a:xfrm>
          <a:prstGeom prst="rect">
            <a:avLst/>
          </a:prstGeom>
          <a:solidFill>
            <a:srgbClr val="0018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428232"/>
            <a:ext cx="12191695" cy="18288"/>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6473952"/>
            <a:ext cx="8229600" cy="320040"/>
          </a:xfrm>
          <a:prstGeom prst="rect">
            <a:avLst/>
          </a:prstGeom>
          <a:noFill/>
        </p:spPr>
        <p:txBody>
          <a:bodyPr wrap="none">
            <a:spAutoFit/>
          </a:bodyPr>
          <a:lstStyle/>
          <a:p>
            <a:pPr>
              <a:defRPr sz="950">
                <a:solidFill>
                  <a:srgbClr val="FEF3C7"/>
                </a:solidFill>
                <a:latin typeface="Segoe UI"/>
              </a:defRPr>
            </a:pPr>
            <a:r>
              <a:t>University of Zululand • Faculty of Science, Agriculture &amp; Technology • Department of Computer Science</a:t>
            </a:r>
          </a:p>
        </p:txBody>
      </p:sp>
      <p:sp>
        <p:nvSpPr>
          <p:cNvPr id="11" name="TextBox 10"/>
          <p:cNvSpPr txBox="1"/>
          <p:nvPr/>
        </p:nvSpPr>
        <p:spPr>
          <a:xfrm>
            <a:off x="9601200" y="6473952"/>
            <a:ext cx="2103120" cy="320040"/>
          </a:xfrm>
          <a:prstGeom prst="rect">
            <a:avLst/>
          </a:prstGeom>
          <a:noFill/>
        </p:spPr>
        <p:txBody>
          <a:bodyPr wrap="none">
            <a:spAutoFit/>
          </a:bodyPr>
          <a:lstStyle/>
          <a:p>
            <a:pPr algn="r">
              <a:defRPr sz="1000" b="1">
                <a:solidFill>
                  <a:srgbClr val="FFFFFF"/>
                </a:solidFill>
                <a:latin typeface="Segoe UI"/>
              </a:defRPr>
            </a:pPr>
            <a:r>
              <a:t>Slide 1 of 26</a:t>
            </a:r>
          </a:p>
        </p:txBody>
      </p:sp>
      <p:sp>
        <p:nvSpPr>
          <p:cNvPr id="12" name="TextBox 11"/>
          <p:cNvSpPr txBox="1"/>
          <p:nvPr/>
        </p:nvSpPr>
        <p:spPr>
          <a:xfrm>
            <a:off x="548640" y="1600200"/>
            <a:ext cx="11064240" cy="731520"/>
          </a:xfrm>
          <a:prstGeom prst="rect">
            <a:avLst/>
          </a:prstGeom>
          <a:noFill/>
        </p:spPr>
        <p:txBody>
          <a:bodyPr wrap="square">
            <a:spAutoFit/>
          </a:bodyPr>
          <a:lstStyle/>
          <a:p>
            <a:pPr>
              <a:defRPr sz="1250">
                <a:solidFill>
                  <a:srgbClr val="1E293B"/>
                </a:solidFill>
                <a:latin typeface="Segoe UI"/>
              </a:defRPr>
            </a:pPr>
            <a:r>
              <a:t>You have learned all about attack vectors and defensive tools to protect systems. In this capstone module, you will learn what to do when an attack actually happens, mastering forensic evidence preservation, intrusion analysis models, and NIST handling lifecycles.</a:t>
            </a:r>
          </a:p>
        </p:txBody>
      </p:sp>
      <p:sp>
        <p:nvSpPr>
          <p:cNvPr id="13" name="Rounded Rectangle 12"/>
          <p:cNvSpPr/>
          <p:nvPr/>
        </p:nvSpPr>
        <p:spPr>
          <a:xfrm>
            <a:off x="548640" y="2468880"/>
            <a:ext cx="2606040" cy="3657600"/>
          </a:xfrm>
          <a:prstGeom prst="roundRect">
            <a:avLst/>
          </a:prstGeom>
          <a:solidFill>
            <a:srgbClr val="F8FAFC"/>
          </a:solidFill>
          <a:ln w="19050">
            <a:solidFill>
              <a:srgbClr val="0028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 y="2606040"/>
            <a:ext cx="2276856" cy="3383280"/>
          </a:xfrm>
          <a:prstGeom prst="rect">
            <a:avLst/>
          </a:prstGeom>
          <a:noFill/>
        </p:spPr>
        <p:txBody>
          <a:bodyPr wrap="square">
            <a:spAutoFit/>
          </a:bodyPr>
          <a:lstStyle/>
          <a:p>
            <a:pPr>
              <a:defRPr sz="1400" b="1">
                <a:solidFill>
                  <a:srgbClr val="002855"/>
                </a:solidFill>
                <a:latin typeface="Segoe UI"/>
              </a:defRPr>
            </a:pPr>
            <a:r>
              <a:t>28.1 Evidence Handling</a:t>
            </a:r>
          </a:p>
          <a:p>
            <a:pPr>
              <a:spcBef>
                <a:spcPts val="400"/>
              </a:spcBef>
              <a:defRPr sz="1050">
                <a:solidFill>
                  <a:srgbClr val="1E293B"/>
                </a:solidFill>
                <a:latin typeface="Segoe UI"/>
              </a:defRPr>
            </a:pPr>
            <a:r>
              <a:t>•  Digital forensics processes</a:t>
            </a:r>
          </a:p>
          <a:p>
            <a:pPr>
              <a:spcBef>
                <a:spcPts val="400"/>
              </a:spcBef>
              <a:defRPr sz="1050">
                <a:solidFill>
                  <a:srgbClr val="1E293B"/>
                </a:solidFill>
                <a:latin typeface="Segoe UI"/>
              </a:defRPr>
            </a:pPr>
            <a:r>
              <a:t>•  Best vs. circumstantial evidence</a:t>
            </a:r>
          </a:p>
          <a:p>
            <a:pPr>
              <a:spcBef>
                <a:spcPts val="400"/>
              </a:spcBef>
              <a:defRPr sz="1050">
                <a:solidFill>
                  <a:srgbClr val="1E293B"/>
                </a:solidFill>
                <a:latin typeface="Segoe UI"/>
              </a:defRPr>
            </a:pPr>
            <a:r>
              <a:t>•  RFC 3227 order of volatility</a:t>
            </a:r>
          </a:p>
          <a:p>
            <a:pPr>
              <a:spcBef>
                <a:spcPts val="400"/>
              </a:spcBef>
              <a:defRPr sz="1050">
                <a:solidFill>
                  <a:srgbClr val="1E293B"/>
                </a:solidFill>
                <a:latin typeface="Segoe UI"/>
              </a:defRPr>
            </a:pPr>
            <a:r>
              <a:t>•  Chain of custody &amp; attribution</a:t>
            </a:r>
          </a:p>
        </p:txBody>
      </p:sp>
      <p:sp>
        <p:nvSpPr>
          <p:cNvPr id="15" name="Rounded Rectangle 14"/>
          <p:cNvSpPr/>
          <p:nvPr/>
        </p:nvSpPr>
        <p:spPr>
          <a:xfrm>
            <a:off x="3364992" y="2468880"/>
            <a:ext cx="2606040" cy="3657600"/>
          </a:xfrm>
          <a:prstGeom prst="roundRect">
            <a:avLst/>
          </a:prstGeom>
          <a:solidFill>
            <a:srgbClr val="F8FAFC"/>
          </a:solidFill>
          <a:ln w="19050">
            <a:solidFill>
              <a:srgbClr val="0028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29584" y="2606040"/>
            <a:ext cx="2276856" cy="3383280"/>
          </a:xfrm>
          <a:prstGeom prst="rect">
            <a:avLst/>
          </a:prstGeom>
          <a:noFill/>
        </p:spPr>
        <p:txBody>
          <a:bodyPr wrap="square">
            <a:spAutoFit/>
          </a:bodyPr>
          <a:lstStyle/>
          <a:p>
            <a:pPr>
              <a:defRPr sz="1400" b="1">
                <a:solidFill>
                  <a:srgbClr val="002855"/>
                </a:solidFill>
                <a:latin typeface="Segoe UI"/>
              </a:defRPr>
            </a:pPr>
            <a:r>
              <a:t>28.2 Cyber Kill Chain</a:t>
            </a:r>
          </a:p>
          <a:p>
            <a:pPr>
              <a:spcBef>
                <a:spcPts val="400"/>
              </a:spcBef>
              <a:defRPr sz="1050">
                <a:solidFill>
                  <a:srgbClr val="1E293B"/>
                </a:solidFill>
                <a:latin typeface="Segoe UI"/>
              </a:defRPr>
            </a:pPr>
            <a:r>
              <a:t>•  Lockheed Martin 7-stage model</a:t>
            </a:r>
          </a:p>
          <a:p>
            <a:pPr>
              <a:spcBef>
                <a:spcPts val="400"/>
              </a:spcBef>
              <a:defRPr sz="1050">
                <a:solidFill>
                  <a:srgbClr val="1E293B"/>
                </a:solidFill>
                <a:latin typeface="Segoe UI"/>
              </a:defRPr>
            </a:pPr>
            <a:r>
              <a:t>•  Adversary vertical progression</a:t>
            </a:r>
          </a:p>
          <a:p>
            <a:pPr>
              <a:spcBef>
                <a:spcPts val="400"/>
              </a:spcBef>
              <a:defRPr sz="1050">
                <a:solidFill>
                  <a:srgbClr val="1E293B"/>
                </a:solidFill>
                <a:latin typeface="Segoe UI"/>
              </a:defRPr>
            </a:pPr>
            <a:r>
              <a:t>•  Defensive breakpoints for SOC</a:t>
            </a:r>
          </a:p>
          <a:p>
            <a:pPr>
              <a:spcBef>
                <a:spcPts val="400"/>
              </a:spcBef>
              <a:defRPr sz="1050">
                <a:solidFill>
                  <a:srgbClr val="1E293B"/>
                </a:solidFill>
                <a:latin typeface="Segoe UI"/>
              </a:defRPr>
            </a:pPr>
            <a:r>
              <a:t>•  Stopping attack execution</a:t>
            </a:r>
          </a:p>
        </p:txBody>
      </p:sp>
      <p:sp>
        <p:nvSpPr>
          <p:cNvPr id="17" name="Rounded Rectangle 16"/>
          <p:cNvSpPr/>
          <p:nvPr/>
        </p:nvSpPr>
        <p:spPr>
          <a:xfrm>
            <a:off x="6181344" y="2468880"/>
            <a:ext cx="2606040" cy="3657600"/>
          </a:xfrm>
          <a:prstGeom prst="roundRect">
            <a:avLst/>
          </a:prstGeom>
          <a:solidFill>
            <a:srgbClr val="F8FAFC"/>
          </a:solidFill>
          <a:ln w="19050">
            <a:solidFill>
              <a:srgbClr val="0028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45936" y="2606040"/>
            <a:ext cx="2276856" cy="3383280"/>
          </a:xfrm>
          <a:prstGeom prst="rect">
            <a:avLst/>
          </a:prstGeom>
          <a:noFill/>
        </p:spPr>
        <p:txBody>
          <a:bodyPr wrap="square">
            <a:spAutoFit/>
          </a:bodyPr>
          <a:lstStyle/>
          <a:p>
            <a:pPr>
              <a:defRPr sz="1400" b="1">
                <a:solidFill>
                  <a:srgbClr val="002855"/>
                </a:solidFill>
                <a:latin typeface="Segoe UI"/>
              </a:defRPr>
            </a:pPr>
            <a:r>
              <a:t>28.3 Diamond Model</a:t>
            </a:r>
          </a:p>
          <a:p>
            <a:pPr>
              <a:spcBef>
                <a:spcPts val="400"/>
              </a:spcBef>
              <a:defRPr sz="1050">
                <a:solidFill>
                  <a:srgbClr val="1E293B"/>
                </a:solidFill>
                <a:latin typeface="Segoe UI"/>
              </a:defRPr>
            </a:pPr>
            <a:r>
              <a:t>•  4 Core features: Adversary, Capability, Infrastructure, Victim</a:t>
            </a:r>
          </a:p>
          <a:p>
            <a:pPr>
              <a:spcBef>
                <a:spcPts val="400"/>
              </a:spcBef>
              <a:defRPr sz="1050">
                <a:solidFill>
                  <a:srgbClr val="1E293B"/>
                </a:solidFill>
                <a:latin typeface="Segoe UI"/>
              </a:defRPr>
            </a:pPr>
            <a:r>
              <a:t>•  6 Meta-features characterization</a:t>
            </a:r>
          </a:p>
          <a:p>
            <a:pPr>
              <a:spcBef>
                <a:spcPts val="400"/>
              </a:spcBef>
              <a:defRPr sz="1050">
                <a:solidFill>
                  <a:srgbClr val="1E293B"/>
                </a:solidFill>
                <a:latin typeface="Segoe UI"/>
              </a:defRPr>
            </a:pPr>
            <a:r>
              <a:t>•  Multi-event pivoting pathways</a:t>
            </a:r>
          </a:p>
        </p:txBody>
      </p:sp>
      <p:sp>
        <p:nvSpPr>
          <p:cNvPr id="19" name="Rounded Rectangle 18"/>
          <p:cNvSpPr/>
          <p:nvPr/>
        </p:nvSpPr>
        <p:spPr>
          <a:xfrm>
            <a:off x="8997696" y="2468880"/>
            <a:ext cx="2606040" cy="3657600"/>
          </a:xfrm>
          <a:prstGeom prst="roundRect">
            <a:avLst/>
          </a:prstGeom>
          <a:solidFill>
            <a:srgbClr val="F8FAFC"/>
          </a:solidFill>
          <a:ln w="19050">
            <a:solidFill>
              <a:srgbClr val="0028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62288" y="2606040"/>
            <a:ext cx="2276856" cy="3383280"/>
          </a:xfrm>
          <a:prstGeom prst="rect">
            <a:avLst/>
          </a:prstGeom>
          <a:noFill/>
        </p:spPr>
        <p:txBody>
          <a:bodyPr wrap="square">
            <a:spAutoFit/>
          </a:bodyPr>
          <a:lstStyle/>
          <a:p>
            <a:pPr>
              <a:defRPr sz="1400" b="1">
                <a:solidFill>
                  <a:srgbClr val="002855"/>
                </a:solidFill>
                <a:latin typeface="Segoe UI"/>
              </a:defRPr>
            </a:pPr>
            <a:r>
              <a:t>28.4 Incident Response</a:t>
            </a:r>
          </a:p>
          <a:p>
            <a:pPr>
              <a:spcBef>
                <a:spcPts val="400"/>
              </a:spcBef>
              <a:defRPr sz="1050">
                <a:solidFill>
                  <a:srgbClr val="1E293B"/>
                </a:solidFill>
                <a:latin typeface="Segoe UI"/>
              </a:defRPr>
            </a:pPr>
            <a:r>
              <a:t>•  NIST SP 800-61r2 4-phase cycle</a:t>
            </a:r>
          </a:p>
          <a:p>
            <a:pPr>
              <a:spcBef>
                <a:spcPts val="400"/>
              </a:spcBef>
              <a:defRPr sz="1050">
                <a:solidFill>
                  <a:srgbClr val="1E293B"/>
                </a:solidFill>
                <a:latin typeface="Segoe UI"/>
              </a:defRPr>
            </a:pPr>
            <a:r>
              <a:t>•  CSIRC capability &amp; jump kits</a:t>
            </a:r>
          </a:p>
          <a:p>
            <a:pPr>
              <a:spcBef>
                <a:spcPts val="400"/>
              </a:spcBef>
              <a:defRPr sz="1050">
                <a:solidFill>
                  <a:srgbClr val="1E293B"/>
                </a:solidFill>
                <a:latin typeface="Segoe UI"/>
              </a:defRPr>
            </a:pPr>
            <a:r>
              <a:t>•  Containment strategy criteria</a:t>
            </a:r>
          </a:p>
          <a:p>
            <a:pPr>
              <a:spcBef>
                <a:spcPts val="400"/>
              </a:spcBef>
              <a:defRPr sz="1050">
                <a:solidFill>
                  <a:srgbClr val="1E293B"/>
                </a:solidFill>
                <a:latin typeface="Segoe UI"/>
              </a:defRPr>
            </a:pPr>
            <a:r>
              <a:t>•  Post-incident 10 review questions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unizulu_watermark.png"/>
          <p:cNvPicPr>
            <a:picLocks noChangeAspect="1"/>
          </p:cNvPicPr>
          <p:nvPr/>
        </p:nvPicPr>
        <p:blipFill>
          <a:blip r:embed="rId2"/>
          <a:stretch>
            <a:fillRect/>
          </a:stretch>
        </p:blipFill>
        <p:spPr>
          <a:xfrm>
            <a:off x="4206240" y="1188720"/>
            <a:ext cx="3840480" cy="4800600"/>
          </a:xfrm>
          <a:prstGeom prst="rect">
            <a:avLst/>
          </a:prstGeom>
        </p:spPr>
      </p:pic>
      <p:sp>
        <p:nvSpPr>
          <p:cNvPr id="4" name="Rectangle 3"/>
          <p:cNvSpPr/>
          <p:nvPr/>
        </p:nvSpPr>
        <p:spPr>
          <a:xfrm>
            <a:off x="0" y="0"/>
            <a:ext cx="12191695" cy="1051560"/>
          </a:xfrm>
          <a:prstGeom prst="rect">
            <a:avLst/>
          </a:prstGeom>
          <a:solidFill>
            <a:srgbClr val="002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1051560"/>
            <a:ext cx="12191695"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unizulu_logo.png"/>
          <p:cNvPicPr>
            <a:picLocks noChangeAspect="1"/>
          </p:cNvPicPr>
          <p:nvPr/>
        </p:nvPicPr>
        <p:blipFill>
          <a:blip r:embed="rId3"/>
          <a:stretch>
            <a:fillRect/>
          </a:stretch>
        </p:blipFill>
        <p:spPr>
          <a:xfrm>
            <a:off x="457200" y="109728"/>
            <a:ext cx="658368" cy="822960"/>
          </a:xfrm>
          <a:prstGeom prst="rect">
            <a:avLst/>
          </a:prstGeom>
        </p:spPr>
      </p:pic>
      <p:sp>
        <p:nvSpPr>
          <p:cNvPr id="7" name="TextBox 6"/>
          <p:cNvSpPr txBox="1"/>
          <p:nvPr/>
        </p:nvSpPr>
        <p:spPr>
          <a:xfrm>
            <a:off x="1280160" y="109728"/>
            <a:ext cx="8961120" cy="822960"/>
          </a:xfrm>
          <a:prstGeom prst="rect">
            <a:avLst/>
          </a:prstGeom>
          <a:noFill/>
        </p:spPr>
        <p:txBody>
          <a:bodyPr wrap="square">
            <a:spAutoFit/>
          </a:bodyPr>
          <a:lstStyle/>
          <a:p>
            <a:pPr>
              <a:defRPr sz="1000" b="1">
                <a:solidFill>
                  <a:srgbClr val="F59E0B"/>
                </a:solidFill>
                <a:latin typeface="Segoe UI"/>
              </a:defRPr>
            </a:pPr>
            <a:r>
              <a:t>28.0 INTRODUCTION • MODULE ARCHITECTURE ROADMAP</a:t>
            </a:r>
          </a:p>
          <a:p>
            <a:pPr>
              <a:defRPr sz="1900" b="1">
                <a:solidFill>
                  <a:srgbClr val="FFFFFF"/>
                </a:solidFill>
                <a:latin typeface="Segoe UI"/>
              </a:defRPr>
            </a:pPr>
            <a:r>
              <a:t>CyberOps: Incident Response Models Roadmap</a:t>
            </a:r>
          </a:p>
        </p:txBody>
      </p:sp>
      <p:sp>
        <p:nvSpPr>
          <p:cNvPr id="8" name="TextBox 7"/>
          <p:cNvSpPr txBox="1"/>
          <p:nvPr/>
        </p:nvSpPr>
        <p:spPr>
          <a:xfrm>
            <a:off x="9601200" y="182880"/>
            <a:ext cx="2103120" cy="640080"/>
          </a:xfrm>
          <a:prstGeom prst="rect">
            <a:avLst/>
          </a:prstGeom>
          <a:noFill/>
        </p:spPr>
        <p:txBody>
          <a:bodyPr wrap="none">
            <a:spAutoFit/>
          </a:bodyPr>
          <a:lstStyle/>
          <a:p>
            <a:pPr algn="r">
              <a:defRPr sz="1200" b="1">
                <a:solidFill>
                  <a:srgbClr val="F59E0B"/>
                </a:solidFill>
                <a:latin typeface="Segoe UI"/>
              </a:defRPr>
            </a:pPr>
            <a:r>
              <a:t>UNIZULU CSIRT</a:t>
            </a:r>
          </a:p>
          <a:p>
            <a:pPr algn="r">
              <a:defRPr sz="1000">
                <a:solidFill>
                  <a:srgbClr val="FFFFFF"/>
                </a:solidFill>
                <a:latin typeface="Segoe UI"/>
              </a:defRPr>
            </a:pPr>
            <a:r>
              <a:t>Module 28 • CyberOps</a:t>
            </a:r>
          </a:p>
        </p:txBody>
      </p:sp>
      <p:sp>
        <p:nvSpPr>
          <p:cNvPr id="9" name="Rectangle 8"/>
          <p:cNvSpPr/>
          <p:nvPr/>
        </p:nvSpPr>
        <p:spPr>
          <a:xfrm>
            <a:off x="0" y="6446520"/>
            <a:ext cx="12191695" cy="411480"/>
          </a:xfrm>
          <a:prstGeom prst="rect">
            <a:avLst/>
          </a:prstGeom>
          <a:solidFill>
            <a:srgbClr val="0018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428232"/>
            <a:ext cx="12191695" cy="18288"/>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473952"/>
            <a:ext cx="8229600" cy="320040"/>
          </a:xfrm>
          <a:prstGeom prst="rect">
            <a:avLst/>
          </a:prstGeom>
          <a:noFill/>
        </p:spPr>
        <p:txBody>
          <a:bodyPr wrap="none">
            <a:spAutoFit/>
          </a:bodyPr>
          <a:lstStyle/>
          <a:p>
            <a:pPr>
              <a:defRPr sz="950">
                <a:solidFill>
                  <a:srgbClr val="FEF3C7"/>
                </a:solidFill>
                <a:latin typeface="Segoe UI"/>
              </a:defRPr>
            </a:pPr>
            <a:r>
              <a:t>University of Zululand • Faculty of Science, Agriculture &amp; Technology • Department of Computer Science</a:t>
            </a:r>
          </a:p>
        </p:txBody>
      </p:sp>
      <p:sp>
        <p:nvSpPr>
          <p:cNvPr id="12" name="TextBox 11"/>
          <p:cNvSpPr txBox="1"/>
          <p:nvPr/>
        </p:nvSpPr>
        <p:spPr>
          <a:xfrm>
            <a:off x="9601200" y="6473952"/>
            <a:ext cx="2103120" cy="320040"/>
          </a:xfrm>
          <a:prstGeom prst="rect">
            <a:avLst/>
          </a:prstGeom>
          <a:noFill/>
        </p:spPr>
        <p:txBody>
          <a:bodyPr wrap="none">
            <a:spAutoFit/>
          </a:bodyPr>
          <a:lstStyle/>
          <a:p>
            <a:pPr algn="r">
              <a:defRPr sz="1000" b="1">
                <a:solidFill>
                  <a:srgbClr val="FFFFFF"/>
                </a:solidFill>
                <a:latin typeface="Segoe UI"/>
              </a:defRPr>
            </a:pPr>
            <a:r>
              <a:t>Slide 2 of 26</a:t>
            </a:r>
          </a:p>
        </p:txBody>
      </p:sp>
      <p:sp>
        <p:nvSpPr>
          <p:cNvPr id="13" name="Rounded Rectangle 12"/>
          <p:cNvSpPr/>
          <p:nvPr/>
        </p:nvSpPr>
        <p:spPr>
          <a:xfrm>
            <a:off x="502920" y="1234440"/>
            <a:ext cx="6858000" cy="4937760"/>
          </a:xfrm>
          <a:prstGeom prst="roundRect">
            <a:avLst/>
          </a:prstGeom>
          <a:solidFill>
            <a:srgbClr val="FFFFFF"/>
          </a:solidFill>
          <a:ln w="25400">
            <a:solidFill>
              <a:srgbClr val="0028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ab65b04f-09de-471a-9a89-305270b0ea91.jfif"/>
          <p:cNvPicPr>
            <a:picLocks noChangeAspect="1"/>
          </p:cNvPicPr>
          <p:nvPr/>
        </p:nvPicPr>
        <p:blipFill>
          <a:blip r:embed="rId5"/>
          <a:stretch>
            <a:fillRect/>
          </a:stretch>
        </p:blipFill>
        <p:spPr>
          <a:xfrm>
            <a:off x="640080" y="1371600"/>
            <a:ext cx="6583680" cy="3594021"/>
          </a:xfrm>
          <a:prstGeom prst="rect">
            <a:avLst/>
          </a:prstGeom>
        </p:spPr>
      </p:pic>
      <p:sp>
        <p:nvSpPr>
          <p:cNvPr id="15" name="Rectangle 14"/>
          <p:cNvSpPr/>
          <p:nvPr/>
        </p:nvSpPr>
        <p:spPr>
          <a:xfrm>
            <a:off x="502920" y="5806440"/>
            <a:ext cx="6858000" cy="365760"/>
          </a:xfrm>
          <a:prstGeom prst="rect">
            <a:avLst/>
          </a:prstGeom>
          <a:solidFill>
            <a:srgbClr val="002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59E0B"/>
                </a:solidFill>
                <a:latin typeface="Segoe UI"/>
              </a:defRPr>
            </a:pPr>
            <a:r>
              <a:t>Cisco CyberOps Associate • Module 28 Master Architecture Diagram</a:t>
            </a:r>
          </a:p>
        </p:txBody>
      </p:sp>
      <p:sp>
        <p:nvSpPr>
          <p:cNvPr id="16" name="Rounded Rectangle 15"/>
          <p:cNvSpPr/>
          <p:nvPr/>
        </p:nvSpPr>
        <p:spPr>
          <a:xfrm>
            <a:off x="7543800" y="1234440"/>
            <a:ext cx="4160520" cy="1110996"/>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80960" y="1307592"/>
            <a:ext cx="3886200" cy="964692"/>
          </a:xfrm>
          <a:prstGeom prst="rect">
            <a:avLst/>
          </a:prstGeom>
          <a:noFill/>
        </p:spPr>
        <p:txBody>
          <a:bodyPr wrap="square">
            <a:spAutoFit/>
          </a:bodyPr>
          <a:lstStyle/>
          <a:p>
            <a:pPr>
              <a:defRPr sz="1200" b="1">
                <a:solidFill>
                  <a:srgbClr val="002855"/>
                </a:solidFill>
                <a:latin typeface="Segoe UI"/>
              </a:defRPr>
            </a:pPr>
            <a:r>
              <a:t>1. Evidence Handling &amp; Attribution (28.1)</a:t>
            </a:r>
          </a:p>
          <a:p>
            <a:pPr>
              <a:spcBef>
                <a:spcPts val="300"/>
              </a:spcBef>
              <a:defRPr sz="1000">
                <a:solidFill>
                  <a:srgbClr val="1E293B"/>
                </a:solidFill>
                <a:latin typeface="Segoe UI"/>
              </a:defRPr>
            </a:pPr>
            <a:r>
              <a:t>Covers digital forensics sources, volatile memory acquisition order (RFC 3227), legal evidence classifications, unbroken chain of custody, and attribution.</a:t>
            </a:r>
          </a:p>
        </p:txBody>
      </p:sp>
      <p:sp>
        <p:nvSpPr>
          <p:cNvPr id="18" name="Rounded Rectangle 17"/>
          <p:cNvSpPr/>
          <p:nvPr/>
        </p:nvSpPr>
        <p:spPr>
          <a:xfrm>
            <a:off x="7543800" y="2510028"/>
            <a:ext cx="4160520" cy="1110996"/>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680960" y="2583180"/>
            <a:ext cx="3886200" cy="964692"/>
          </a:xfrm>
          <a:prstGeom prst="rect">
            <a:avLst/>
          </a:prstGeom>
          <a:noFill/>
        </p:spPr>
        <p:txBody>
          <a:bodyPr wrap="square">
            <a:spAutoFit/>
          </a:bodyPr>
          <a:lstStyle/>
          <a:p>
            <a:pPr>
              <a:defRPr sz="1200" b="1">
                <a:solidFill>
                  <a:srgbClr val="002855"/>
                </a:solidFill>
                <a:latin typeface="Segoe UI"/>
              </a:defRPr>
            </a:pPr>
            <a:r>
              <a:t>2. The Cyber Kill Chain (28.2)</a:t>
            </a:r>
          </a:p>
          <a:p>
            <a:pPr>
              <a:spcBef>
                <a:spcPts val="300"/>
              </a:spcBef>
              <a:defRPr sz="1000">
                <a:solidFill>
                  <a:srgbClr val="1E293B"/>
                </a:solidFill>
                <a:latin typeface="Segoe UI"/>
              </a:defRPr>
            </a:pPr>
            <a:r>
              <a:t>Identifies the 7 sequential stages developed by Lockheed Martin; pinpoints defensive breakpoints where SOC controls break the intrusion.</a:t>
            </a:r>
          </a:p>
        </p:txBody>
      </p:sp>
      <p:sp>
        <p:nvSpPr>
          <p:cNvPr id="20" name="Rounded Rectangle 19"/>
          <p:cNvSpPr/>
          <p:nvPr/>
        </p:nvSpPr>
        <p:spPr>
          <a:xfrm>
            <a:off x="7543800" y="3785616"/>
            <a:ext cx="4160520" cy="1110996"/>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680960" y="3858768"/>
            <a:ext cx="3886200" cy="964692"/>
          </a:xfrm>
          <a:prstGeom prst="rect">
            <a:avLst/>
          </a:prstGeom>
          <a:noFill/>
        </p:spPr>
        <p:txBody>
          <a:bodyPr wrap="square">
            <a:spAutoFit/>
          </a:bodyPr>
          <a:lstStyle/>
          <a:p>
            <a:pPr>
              <a:defRPr sz="1200" b="1">
                <a:solidFill>
                  <a:srgbClr val="002855"/>
                </a:solidFill>
                <a:latin typeface="Segoe UI"/>
              </a:defRPr>
            </a:pPr>
            <a:r>
              <a:t>3. The Diamond Model (28.3)</a:t>
            </a:r>
          </a:p>
          <a:p>
            <a:pPr>
              <a:spcBef>
                <a:spcPts val="300"/>
              </a:spcBef>
              <a:defRPr sz="1000">
                <a:solidFill>
                  <a:srgbClr val="1E293B"/>
                </a:solidFill>
                <a:latin typeface="Segoe UI"/>
              </a:defRPr>
            </a:pPr>
            <a:r>
              <a:t>Classifies intrusion events using 4 core vertices and 6 meta-features; maps complex multi-victim intrusions through horizontal pivoting.</a:t>
            </a:r>
          </a:p>
        </p:txBody>
      </p:sp>
      <p:sp>
        <p:nvSpPr>
          <p:cNvPr id="22" name="Rounded Rectangle 21"/>
          <p:cNvSpPr/>
          <p:nvPr/>
        </p:nvSpPr>
        <p:spPr>
          <a:xfrm>
            <a:off x="7543800" y="5061204"/>
            <a:ext cx="4160520" cy="1110996"/>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80960" y="5134356"/>
            <a:ext cx="3886200" cy="964692"/>
          </a:xfrm>
          <a:prstGeom prst="rect">
            <a:avLst/>
          </a:prstGeom>
          <a:noFill/>
        </p:spPr>
        <p:txBody>
          <a:bodyPr wrap="square">
            <a:spAutoFit/>
          </a:bodyPr>
          <a:lstStyle/>
          <a:p>
            <a:pPr>
              <a:defRPr sz="1200" b="1">
                <a:solidFill>
                  <a:srgbClr val="002855"/>
                </a:solidFill>
                <a:latin typeface="Segoe UI"/>
              </a:defRPr>
            </a:pPr>
            <a:r>
              <a:t>4. Incident Response (28.4)</a:t>
            </a:r>
          </a:p>
          <a:p>
            <a:pPr>
              <a:spcBef>
                <a:spcPts val="300"/>
              </a:spcBef>
              <a:defRPr sz="1000">
                <a:solidFill>
                  <a:srgbClr val="1E293B"/>
                </a:solidFill>
                <a:latin typeface="Segoe UI"/>
              </a:defRPr>
            </a:pPr>
            <a:r>
              <a:t>Applies NIST SP 800-61r2 handling procedures, CSIRC capability governance, DoD CMMC maturity levels, and lessons-learned metrics.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unizulu_watermark.png"/>
          <p:cNvPicPr>
            <a:picLocks noChangeAspect="1"/>
          </p:cNvPicPr>
          <p:nvPr/>
        </p:nvPicPr>
        <p:blipFill>
          <a:blip r:embed="rId2"/>
          <a:stretch>
            <a:fillRect/>
          </a:stretch>
        </p:blipFill>
        <p:spPr>
          <a:xfrm>
            <a:off x="4206240" y="1188720"/>
            <a:ext cx="3840480" cy="4800600"/>
          </a:xfrm>
          <a:prstGeom prst="rect">
            <a:avLst/>
          </a:prstGeom>
        </p:spPr>
      </p:pic>
      <p:sp>
        <p:nvSpPr>
          <p:cNvPr id="4" name="Rectangle 3"/>
          <p:cNvSpPr/>
          <p:nvPr/>
        </p:nvSpPr>
        <p:spPr>
          <a:xfrm>
            <a:off x="0" y="0"/>
            <a:ext cx="12191695" cy="1051560"/>
          </a:xfrm>
          <a:prstGeom prst="rect">
            <a:avLst/>
          </a:prstGeom>
          <a:solidFill>
            <a:srgbClr val="002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1051560"/>
            <a:ext cx="12191695"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unizulu_logo.png"/>
          <p:cNvPicPr>
            <a:picLocks noChangeAspect="1"/>
          </p:cNvPicPr>
          <p:nvPr/>
        </p:nvPicPr>
        <p:blipFill>
          <a:blip r:embed="rId3"/>
          <a:stretch>
            <a:fillRect/>
          </a:stretch>
        </p:blipFill>
        <p:spPr>
          <a:xfrm>
            <a:off x="457200" y="109728"/>
            <a:ext cx="658368" cy="822960"/>
          </a:xfrm>
          <a:prstGeom prst="rect">
            <a:avLst/>
          </a:prstGeom>
        </p:spPr>
      </p:pic>
      <p:sp>
        <p:nvSpPr>
          <p:cNvPr id="7" name="TextBox 6"/>
          <p:cNvSpPr txBox="1"/>
          <p:nvPr/>
        </p:nvSpPr>
        <p:spPr>
          <a:xfrm>
            <a:off x="1280160" y="109728"/>
            <a:ext cx="8961120" cy="822960"/>
          </a:xfrm>
          <a:prstGeom prst="rect">
            <a:avLst/>
          </a:prstGeom>
          <a:noFill/>
        </p:spPr>
        <p:txBody>
          <a:bodyPr wrap="square">
            <a:spAutoFit/>
          </a:bodyPr>
          <a:lstStyle/>
          <a:p>
            <a:pPr>
              <a:defRPr sz="1000" b="1">
                <a:solidFill>
                  <a:srgbClr val="F59E0B"/>
                </a:solidFill>
                <a:latin typeface="Segoe UI"/>
              </a:defRPr>
            </a:pPr>
            <a:r>
              <a:t>28.1 EVIDENCE HANDLING • 28.1.1 DIGITAL FORENSICS</a:t>
            </a:r>
          </a:p>
          <a:p>
            <a:pPr>
              <a:defRPr sz="1900" b="1">
                <a:solidFill>
                  <a:srgbClr val="FFFFFF"/>
                </a:solidFill>
                <a:latin typeface="Segoe UI"/>
              </a:defRPr>
            </a:pPr>
            <a:r>
              <a:t>Digital Forensics: Evidence &amp; Legal Context</a:t>
            </a:r>
          </a:p>
        </p:txBody>
      </p:sp>
      <p:sp>
        <p:nvSpPr>
          <p:cNvPr id="8" name="TextBox 7"/>
          <p:cNvSpPr txBox="1"/>
          <p:nvPr/>
        </p:nvSpPr>
        <p:spPr>
          <a:xfrm>
            <a:off x="9601200" y="182880"/>
            <a:ext cx="2103120" cy="640080"/>
          </a:xfrm>
          <a:prstGeom prst="rect">
            <a:avLst/>
          </a:prstGeom>
          <a:noFill/>
        </p:spPr>
        <p:txBody>
          <a:bodyPr wrap="none">
            <a:spAutoFit/>
          </a:bodyPr>
          <a:lstStyle/>
          <a:p>
            <a:pPr algn="r">
              <a:defRPr sz="1200" b="1">
                <a:solidFill>
                  <a:srgbClr val="F59E0B"/>
                </a:solidFill>
                <a:latin typeface="Segoe UI"/>
              </a:defRPr>
            </a:pPr>
            <a:r>
              <a:t>UNIZULU CSIRT</a:t>
            </a:r>
          </a:p>
          <a:p>
            <a:pPr algn="r">
              <a:defRPr sz="1000">
                <a:solidFill>
                  <a:srgbClr val="FFFFFF"/>
                </a:solidFill>
                <a:latin typeface="Segoe UI"/>
              </a:defRPr>
            </a:pPr>
            <a:r>
              <a:t>Module 28 • CyberOps</a:t>
            </a:r>
          </a:p>
        </p:txBody>
      </p:sp>
      <p:sp>
        <p:nvSpPr>
          <p:cNvPr id="9" name="Rectangle 8"/>
          <p:cNvSpPr/>
          <p:nvPr/>
        </p:nvSpPr>
        <p:spPr>
          <a:xfrm>
            <a:off x="0" y="6446520"/>
            <a:ext cx="12191695" cy="411480"/>
          </a:xfrm>
          <a:prstGeom prst="rect">
            <a:avLst/>
          </a:prstGeom>
          <a:solidFill>
            <a:srgbClr val="0018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428232"/>
            <a:ext cx="12191695" cy="18288"/>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473952"/>
            <a:ext cx="8229600" cy="320040"/>
          </a:xfrm>
          <a:prstGeom prst="rect">
            <a:avLst/>
          </a:prstGeom>
          <a:noFill/>
        </p:spPr>
        <p:txBody>
          <a:bodyPr wrap="none">
            <a:spAutoFit/>
          </a:bodyPr>
          <a:lstStyle/>
          <a:p>
            <a:pPr>
              <a:defRPr sz="950">
                <a:solidFill>
                  <a:srgbClr val="FEF3C7"/>
                </a:solidFill>
                <a:latin typeface="Segoe UI"/>
              </a:defRPr>
            </a:pPr>
            <a:r>
              <a:t>University of Zululand • Faculty of Science, Agriculture &amp; Technology • Department of Computer Science</a:t>
            </a:r>
          </a:p>
        </p:txBody>
      </p:sp>
      <p:sp>
        <p:nvSpPr>
          <p:cNvPr id="12" name="TextBox 11"/>
          <p:cNvSpPr txBox="1"/>
          <p:nvPr/>
        </p:nvSpPr>
        <p:spPr>
          <a:xfrm>
            <a:off x="9601200" y="6473952"/>
            <a:ext cx="2103120" cy="320040"/>
          </a:xfrm>
          <a:prstGeom prst="rect">
            <a:avLst/>
          </a:prstGeom>
          <a:noFill/>
        </p:spPr>
        <p:txBody>
          <a:bodyPr wrap="none">
            <a:spAutoFit/>
          </a:bodyPr>
          <a:lstStyle/>
          <a:p>
            <a:pPr algn="r">
              <a:defRPr sz="1000" b="1">
                <a:solidFill>
                  <a:srgbClr val="FFFFFF"/>
                </a:solidFill>
                <a:latin typeface="Segoe UI"/>
              </a:defRPr>
            </a:pPr>
            <a:r>
              <a:t>Slide 3 of 26</a:t>
            </a:r>
          </a:p>
        </p:txBody>
      </p:sp>
      <p:sp>
        <p:nvSpPr>
          <p:cNvPr id="13" name="Rounded Rectangle 12"/>
          <p:cNvSpPr/>
          <p:nvPr/>
        </p:nvSpPr>
        <p:spPr>
          <a:xfrm>
            <a:off x="548640" y="1280160"/>
            <a:ext cx="5303520" cy="4846320"/>
          </a:xfrm>
          <a:prstGeom prst="roundRect">
            <a:avLst/>
          </a:prstGeom>
          <a:solidFill>
            <a:srgbClr val="F8FAFC"/>
          </a:solidFill>
          <a:ln w="19050">
            <a:solidFill>
              <a:srgbClr val="0028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 y="1417320"/>
            <a:ext cx="4974336" cy="4572000"/>
          </a:xfrm>
          <a:prstGeom prst="rect">
            <a:avLst/>
          </a:prstGeom>
          <a:noFill/>
        </p:spPr>
        <p:txBody>
          <a:bodyPr wrap="square">
            <a:spAutoFit/>
          </a:bodyPr>
          <a:lstStyle/>
          <a:p>
            <a:pPr>
              <a:defRPr sz="1400" b="1">
                <a:solidFill>
                  <a:srgbClr val="002855"/>
                </a:solidFill>
                <a:latin typeface="Segoe UI"/>
              </a:defRPr>
            </a:pPr>
            <a:r>
              <a:t>What is Digital Forensics?</a:t>
            </a:r>
          </a:p>
          <a:p>
            <a:pPr>
              <a:spcBef>
                <a:spcPts val="400"/>
              </a:spcBef>
              <a:defRPr sz="1050">
                <a:solidFill>
                  <a:srgbClr val="1E293B"/>
                </a:solidFill>
                <a:latin typeface="Segoe UI"/>
              </a:defRPr>
            </a:pPr>
            <a:r>
              <a:t>•  Definition: Recovery and investigation of information on digital devices related to criminal activity.</a:t>
            </a:r>
          </a:p>
          <a:p>
            <a:pPr>
              <a:spcBef>
                <a:spcPts val="400"/>
              </a:spcBef>
              <a:defRPr sz="1050">
                <a:solidFill>
                  <a:srgbClr val="1E293B"/>
                </a:solidFill>
                <a:latin typeface="Segoe UI"/>
              </a:defRPr>
            </a:pPr>
            <a:r>
              <a:t>•  Indicators of Compromise (IoC): Tangible evidence that an incident occurred (disk files, volatile RAM, pcaps, logs).</a:t>
            </a:r>
          </a:p>
          <a:p>
            <a:pPr>
              <a:spcBef>
                <a:spcPts val="400"/>
              </a:spcBef>
              <a:defRPr sz="1050">
                <a:solidFill>
                  <a:srgbClr val="1E293B"/>
                </a:solidFill>
                <a:latin typeface="Segoe UI"/>
              </a:defRPr>
            </a:pPr>
            <a:r>
              <a:t>•  Tier 1 Analyst Role: Tier 1 analysts are often the first to uncover wrongdoing and must handle evidence so it supports legal prosecution.</a:t>
            </a:r>
          </a:p>
          <a:p>
            <a:pPr>
              <a:spcBef>
                <a:spcPts val="400"/>
              </a:spcBef>
              <a:defRPr sz="1050">
                <a:solidFill>
                  <a:srgbClr val="1E293B"/>
                </a:solidFill>
                <a:latin typeface="Segoe UI"/>
              </a:defRPr>
            </a:pPr>
            <a:r>
              <a:t>•  Golden Mandate: All IoCs must be preserved in untampered condition for future analysis and attack attribution.</a:t>
            </a:r>
          </a:p>
        </p:txBody>
      </p:sp>
      <p:sp>
        <p:nvSpPr>
          <p:cNvPr id="15" name="Rounded Rectangle 14"/>
          <p:cNvSpPr/>
          <p:nvPr/>
        </p:nvSpPr>
        <p:spPr>
          <a:xfrm>
            <a:off x="6217920" y="1280160"/>
            <a:ext cx="5303520" cy="4846320"/>
          </a:xfrm>
          <a:prstGeom prst="roundRect">
            <a:avLst/>
          </a:prstGeom>
          <a:solidFill>
            <a:srgbClr val="F8FAFC"/>
          </a:solidFill>
          <a:ln w="19050">
            <a:solidFill>
              <a:srgbClr val="0028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82512" y="1417320"/>
            <a:ext cx="4974336" cy="4572000"/>
          </a:xfrm>
          <a:prstGeom prst="rect">
            <a:avLst/>
          </a:prstGeom>
          <a:noFill/>
        </p:spPr>
        <p:txBody>
          <a:bodyPr wrap="square">
            <a:spAutoFit/>
          </a:bodyPr>
          <a:lstStyle/>
          <a:p>
            <a:pPr>
              <a:defRPr sz="1400" b="1">
                <a:solidFill>
                  <a:srgbClr val="002855"/>
                </a:solidFill>
                <a:latin typeface="Segoe UI"/>
              </a:defRPr>
            </a:pPr>
            <a:r>
              <a:t>Investigation Contexts &amp; Regulations</a:t>
            </a:r>
          </a:p>
          <a:p>
            <a:pPr>
              <a:spcBef>
                <a:spcPts val="400"/>
              </a:spcBef>
              <a:defRPr sz="1050">
                <a:solidFill>
                  <a:srgbClr val="1E293B"/>
                </a:solidFill>
                <a:latin typeface="Segoe UI"/>
              </a:defRPr>
            </a:pPr>
            <a:r>
              <a:t>•  Private (Internal) Investigations: Focus on internal policy violations. If criminal conduct or intellectual property theft occurs, it becomes public by notifying law enforcement.</a:t>
            </a:r>
          </a:p>
          <a:p>
            <a:pPr>
              <a:spcBef>
                <a:spcPts val="400"/>
              </a:spcBef>
              <a:defRPr sz="1050">
                <a:solidFill>
                  <a:srgbClr val="1E293B"/>
                </a:solidFill>
                <a:latin typeface="Segoe UI"/>
              </a:defRPr>
            </a:pPr>
            <a:r>
              <a:t>•  Public Investigations: Carried out by public officials when internal users or external attackers violate legal statutes.</a:t>
            </a:r>
          </a:p>
          <a:p>
            <a:pPr>
              <a:spcBef>
                <a:spcPts val="400"/>
              </a:spcBef>
              <a:defRPr sz="1050">
                <a:solidFill>
                  <a:srgbClr val="1E293B"/>
                </a:solidFill>
                <a:latin typeface="Segoe UI"/>
              </a:defRPr>
            </a:pPr>
            <a:r>
              <a:t>•  Regulatory Mandates (US HIPAA): Requires notification if patient records breach. If &gt;500 individuals are impacted in a jurisdiction, both media and affected victims must be notified.</a:t>
            </a:r>
          </a:p>
          <a:p>
            <a:pPr>
              <a:spcBef>
                <a:spcPts val="400"/>
              </a:spcBef>
              <a:defRPr sz="1050">
                <a:solidFill>
                  <a:srgbClr val="1E293B"/>
                </a:solidFill>
                <a:latin typeface="Segoe UI"/>
              </a:defRPr>
            </a:pPr>
            <a:r>
              <a:t>•  Organization Under Investigation: The organization itself may be investigated. Analysts must preserve evidence; intentional destruction results in criminal penalties.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unizulu_watermark.png"/>
          <p:cNvPicPr>
            <a:picLocks noChangeAspect="1"/>
          </p:cNvPicPr>
          <p:nvPr/>
        </p:nvPicPr>
        <p:blipFill>
          <a:blip r:embed="rId2"/>
          <a:stretch>
            <a:fillRect/>
          </a:stretch>
        </p:blipFill>
        <p:spPr>
          <a:xfrm>
            <a:off x="4206240" y="1188720"/>
            <a:ext cx="3840480" cy="4800600"/>
          </a:xfrm>
          <a:prstGeom prst="rect">
            <a:avLst/>
          </a:prstGeom>
        </p:spPr>
      </p:pic>
      <p:sp>
        <p:nvSpPr>
          <p:cNvPr id="4" name="Rectangle 3"/>
          <p:cNvSpPr/>
          <p:nvPr/>
        </p:nvSpPr>
        <p:spPr>
          <a:xfrm>
            <a:off x="0" y="0"/>
            <a:ext cx="12191695" cy="1051560"/>
          </a:xfrm>
          <a:prstGeom prst="rect">
            <a:avLst/>
          </a:prstGeom>
          <a:solidFill>
            <a:srgbClr val="002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1051560"/>
            <a:ext cx="12191695"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unizulu_logo.png"/>
          <p:cNvPicPr>
            <a:picLocks noChangeAspect="1"/>
          </p:cNvPicPr>
          <p:nvPr/>
        </p:nvPicPr>
        <p:blipFill>
          <a:blip r:embed="rId3"/>
          <a:stretch>
            <a:fillRect/>
          </a:stretch>
        </p:blipFill>
        <p:spPr>
          <a:xfrm>
            <a:off x="457200" y="109728"/>
            <a:ext cx="658368" cy="822960"/>
          </a:xfrm>
          <a:prstGeom prst="rect">
            <a:avLst/>
          </a:prstGeom>
        </p:spPr>
      </p:pic>
      <p:sp>
        <p:nvSpPr>
          <p:cNvPr id="7" name="TextBox 6"/>
          <p:cNvSpPr txBox="1"/>
          <p:nvPr/>
        </p:nvSpPr>
        <p:spPr>
          <a:xfrm>
            <a:off x="1280160" y="109728"/>
            <a:ext cx="8961120" cy="822960"/>
          </a:xfrm>
          <a:prstGeom prst="rect">
            <a:avLst/>
          </a:prstGeom>
          <a:noFill/>
        </p:spPr>
        <p:txBody>
          <a:bodyPr wrap="square">
            <a:spAutoFit/>
          </a:bodyPr>
          <a:lstStyle/>
          <a:p>
            <a:pPr>
              <a:defRPr sz="1000" b="1">
                <a:solidFill>
                  <a:srgbClr val="F59E0B"/>
                </a:solidFill>
                <a:latin typeface="Segoe UI"/>
              </a:defRPr>
            </a:pPr>
            <a:r>
              <a:t>28.1 EVIDENCE HANDLING • MASTER ARCHITECTURAL INFOGRAPHIC</a:t>
            </a:r>
          </a:p>
          <a:p>
            <a:pPr>
              <a:defRPr sz="1900" b="1">
                <a:solidFill>
                  <a:srgbClr val="FFFFFF"/>
                </a:solidFill>
                <a:latin typeface="Segoe UI"/>
              </a:defRPr>
            </a:pPr>
            <a:r>
              <a:t>Digital Forensics: Evidence Handling &amp; Attribution</a:t>
            </a:r>
          </a:p>
        </p:txBody>
      </p:sp>
      <p:sp>
        <p:nvSpPr>
          <p:cNvPr id="8" name="TextBox 7"/>
          <p:cNvSpPr txBox="1"/>
          <p:nvPr/>
        </p:nvSpPr>
        <p:spPr>
          <a:xfrm>
            <a:off x="9601200" y="182880"/>
            <a:ext cx="2103120" cy="640080"/>
          </a:xfrm>
          <a:prstGeom prst="rect">
            <a:avLst/>
          </a:prstGeom>
          <a:noFill/>
        </p:spPr>
        <p:txBody>
          <a:bodyPr wrap="none">
            <a:spAutoFit/>
          </a:bodyPr>
          <a:lstStyle/>
          <a:p>
            <a:pPr algn="r">
              <a:defRPr sz="1200" b="1">
                <a:solidFill>
                  <a:srgbClr val="F59E0B"/>
                </a:solidFill>
                <a:latin typeface="Segoe UI"/>
              </a:defRPr>
            </a:pPr>
            <a:r>
              <a:t>UNIZULU CSIRT</a:t>
            </a:r>
          </a:p>
          <a:p>
            <a:pPr algn="r">
              <a:defRPr sz="1000">
                <a:solidFill>
                  <a:srgbClr val="FFFFFF"/>
                </a:solidFill>
                <a:latin typeface="Segoe UI"/>
              </a:defRPr>
            </a:pPr>
            <a:r>
              <a:t>Module 28 • CyberOps</a:t>
            </a:r>
          </a:p>
        </p:txBody>
      </p:sp>
      <p:sp>
        <p:nvSpPr>
          <p:cNvPr id="9" name="Rectangle 8"/>
          <p:cNvSpPr/>
          <p:nvPr/>
        </p:nvSpPr>
        <p:spPr>
          <a:xfrm>
            <a:off x="0" y="6446520"/>
            <a:ext cx="12191695" cy="411480"/>
          </a:xfrm>
          <a:prstGeom prst="rect">
            <a:avLst/>
          </a:prstGeom>
          <a:solidFill>
            <a:srgbClr val="0018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428232"/>
            <a:ext cx="12191695" cy="18288"/>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473952"/>
            <a:ext cx="8229600" cy="320040"/>
          </a:xfrm>
          <a:prstGeom prst="rect">
            <a:avLst/>
          </a:prstGeom>
          <a:noFill/>
        </p:spPr>
        <p:txBody>
          <a:bodyPr wrap="none">
            <a:spAutoFit/>
          </a:bodyPr>
          <a:lstStyle/>
          <a:p>
            <a:pPr>
              <a:defRPr sz="950">
                <a:solidFill>
                  <a:srgbClr val="FEF3C7"/>
                </a:solidFill>
                <a:latin typeface="Segoe UI"/>
              </a:defRPr>
            </a:pPr>
            <a:r>
              <a:t>University of Zululand • Faculty of Science, Agriculture &amp; Technology • Department of Computer Science</a:t>
            </a:r>
          </a:p>
        </p:txBody>
      </p:sp>
      <p:sp>
        <p:nvSpPr>
          <p:cNvPr id="12" name="TextBox 11"/>
          <p:cNvSpPr txBox="1"/>
          <p:nvPr/>
        </p:nvSpPr>
        <p:spPr>
          <a:xfrm>
            <a:off x="9601200" y="6473952"/>
            <a:ext cx="2103120" cy="320040"/>
          </a:xfrm>
          <a:prstGeom prst="rect">
            <a:avLst/>
          </a:prstGeom>
          <a:noFill/>
        </p:spPr>
        <p:txBody>
          <a:bodyPr wrap="none">
            <a:spAutoFit/>
          </a:bodyPr>
          <a:lstStyle/>
          <a:p>
            <a:pPr algn="r">
              <a:defRPr sz="1000" b="1">
                <a:solidFill>
                  <a:srgbClr val="FFFFFF"/>
                </a:solidFill>
                <a:latin typeface="Segoe UI"/>
              </a:defRPr>
            </a:pPr>
            <a:r>
              <a:t>Slide 4 of 26</a:t>
            </a:r>
          </a:p>
        </p:txBody>
      </p:sp>
      <p:sp>
        <p:nvSpPr>
          <p:cNvPr id="13" name="Rounded Rectangle 12"/>
          <p:cNvSpPr/>
          <p:nvPr/>
        </p:nvSpPr>
        <p:spPr>
          <a:xfrm>
            <a:off x="502920" y="1234440"/>
            <a:ext cx="6858000" cy="4937760"/>
          </a:xfrm>
          <a:prstGeom prst="roundRect">
            <a:avLst/>
          </a:prstGeom>
          <a:solidFill>
            <a:srgbClr val="FFFFFF"/>
          </a:solidFill>
          <a:ln w="25400">
            <a:solidFill>
              <a:srgbClr val="0028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f404cbb5-ce19-412b-9313-f04529e11869.jfif"/>
          <p:cNvPicPr>
            <a:picLocks noChangeAspect="1"/>
          </p:cNvPicPr>
          <p:nvPr/>
        </p:nvPicPr>
        <p:blipFill>
          <a:blip r:embed="rId5"/>
          <a:stretch>
            <a:fillRect/>
          </a:stretch>
        </p:blipFill>
        <p:spPr>
          <a:xfrm>
            <a:off x="640080" y="1371600"/>
            <a:ext cx="6583680" cy="3594021"/>
          </a:xfrm>
          <a:prstGeom prst="rect">
            <a:avLst/>
          </a:prstGeom>
        </p:spPr>
      </p:pic>
      <p:sp>
        <p:nvSpPr>
          <p:cNvPr id="15" name="Rectangle 14"/>
          <p:cNvSpPr/>
          <p:nvPr/>
        </p:nvSpPr>
        <p:spPr>
          <a:xfrm>
            <a:off x="502920" y="5806440"/>
            <a:ext cx="6858000" cy="365760"/>
          </a:xfrm>
          <a:prstGeom prst="rect">
            <a:avLst/>
          </a:prstGeom>
          <a:solidFill>
            <a:srgbClr val="002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59E0B"/>
                </a:solidFill>
                <a:latin typeface="Segoe UI"/>
              </a:defRPr>
            </a:pPr>
            <a:r>
              <a:t>Cisco CyberOps Associate • Module 28 Master Architecture Diagram</a:t>
            </a:r>
          </a:p>
        </p:txBody>
      </p:sp>
      <p:sp>
        <p:nvSpPr>
          <p:cNvPr id="16" name="Rounded Rectangle 15"/>
          <p:cNvSpPr/>
          <p:nvPr/>
        </p:nvSpPr>
        <p:spPr>
          <a:xfrm>
            <a:off x="7543800" y="1234440"/>
            <a:ext cx="4160520" cy="1536192"/>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80960" y="1307592"/>
            <a:ext cx="3886200" cy="1389888"/>
          </a:xfrm>
          <a:prstGeom prst="rect">
            <a:avLst/>
          </a:prstGeom>
          <a:noFill/>
        </p:spPr>
        <p:txBody>
          <a:bodyPr wrap="square">
            <a:spAutoFit/>
          </a:bodyPr>
          <a:lstStyle/>
          <a:p>
            <a:pPr>
              <a:defRPr sz="1200" b="1">
                <a:solidFill>
                  <a:srgbClr val="002855"/>
                </a:solidFill>
                <a:latin typeface="Segoe UI"/>
              </a:defRPr>
            </a:pPr>
            <a:r>
              <a:t>1. Digital Forensics (28.1.1)</a:t>
            </a:r>
          </a:p>
          <a:p>
            <a:pPr>
              <a:spcBef>
                <a:spcPts val="300"/>
              </a:spcBef>
              <a:defRPr sz="1000">
                <a:solidFill>
                  <a:srgbClr val="1E293B"/>
                </a:solidFill>
                <a:latin typeface="Segoe UI"/>
              </a:defRPr>
            </a:pPr>
            <a:r>
              <a:t>Recovers digital evidence across storage, volatile RAM, and network pcaps; handles internal vs. public investigations; certifies breach numbers for regulatory compliance (HIPAA).</a:t>
            </a:r>
          </a:p>
        </p:txBody>
      </p:sp>
      <p:sp>
        <p:nvSpPr>
          <p:cNvPr id="18" name="Rounded Rectangle 17"/>
          <p:cNvSpPr/>
          <p:nvPr/>
        </p:nvSpPr>
        <p:spPr>
          <a:xfrm>
            <a:off x="7543800" y="2935224"/>
            <a:ext cx="4160520" cy="1536192"/>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680960" y="3008376"/>
            <a:ext cx="3886200" cy="1389888"/>
          </a:xfrm>
          <a:prstGeom prst="rect">
            <a:avLst/>
          </a:prstGeom>
          <a:noFill/>
        </p:spPr>
        <p:txBody>
          <a:bodyPr wrap="square">
            <a:spAutoFit/>
          </a:bodyPr>
          <a:lstStyle/>
          <a:p>
            <a:pPr>
              <a:defRPr sz="1200" b="1">
                <a:solidFill>
                  <a:srgbClr val="002855"/>
                </a:solidFill>
                <a:latin typeface="Segoe UI"/>
              </a:defRPr>
            </a:pPr>
            <a:r>
              <a:t>2. Process &amp; Types of Evidence (28.1.2 - 28.1.6)</a:t>
            </a:r>
          </a:p>
          <a:p>
            <a:pPr>
              <a:spcBef>
                <a:spcPts val="300"/>
              </a:spcBef>
              <a:defRPr sz="1000">
                <a:solidFill>
                  <a:srgbClr val="1E293B"/>
                </a:solidFill>
                <a:latin typeface="Segoe UI"/>
              </a:defRPr>
            </a:pPr>
            <a:r>
              <a:t>NIST SP 800-86 four phases (Collection, Examination, Analysis, Reporting); Best vs. Corroborating evidence; strict RFC 3227 volatility ladder (Registers ➔ RAM ➔ Disk ➔ Logs ➔ Archives).</a:t>
            </a:r>
          </a:p>
        </p:txBody>
      </p:sp>
      <p:sp>
        <p:nvSpPr>
          <p:cNvPr id="20" name="Rounded Rectangle 19"/>
          <p:cNvSpPr/>
          <p:nvPr/>
        </p:nvSpPr>
        <p:spPr>
          <a:xfrm>
            <a:off x="7543800" y="4636008"/>
            <a:ext cx="4160520" cy="1536192"/>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680960" y="4709160"/>
            <a:ext cx="3886200" cy="1389888"/>
          </a:xfrm>
          <a:prstGeom prst="rect">
            <a:avLst/>
          </a:prstGeom>
          <a:noFill/>
        </p:spPr>
        <p:txBody>
          <a:bodyPr wrap="square">
            <a:spAutoFit/>
          </a:bodyPr>
          <a:lstStyle/>
          <a:p>
            <a:pPr>
              <a:defRPr sz="1200" b="1">
                <a:solidFill>
                  <a:srgbClr val="002855"/>
                </a:solidFill>
                <a:latin typeface="Segoe UI"/>
              </a:defRPr>
            </a:pPr>
            <a:r>
              <a:t>3. Integrity &amp; Attribution (28.1.7 - 28.1.9)</a:t>
            </a:r>
          </a:p>
          <a:p>
            <a:pPr>
              <a:spcBef>
                <a:spcPts val="300"/>
              </a:spcBef>
              <a:defRPr sz="1000">
                <a:solidFill>
                  <a:srgbClr val="1E293B"/>
                </a:solidFill>
                <a:latin typeface="Segoe UI"/>
              </a:defRPr>
            </a:pPr>
            <a:r>
              <a:t>Unbroken chain of custody logbooks; hardware write-blockers; verified bit-level master replicas; attributing attacks via location (IP/MAC), malware code features, and MITRE TTPs.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unizulu_watermark.png"/>
          <p:cNvPicPr>
            <a:picLocks noChangeAspect="1"/>
          </p:cNvPicPr>
          <p:nvPr/>
        </p:nvPicPr>
        <p:blipFill>
          <a:blip r:embed="rId2"/>
          <a:stretch>
            <a:fillRect/>
          </a:stretch>
        </p:blipFill>
        <p:spPr>
          <a:xfrm>
            <a:off x="4206240" y="1188720"/>
            <a:ext cx="3840480" cy="4800600"/>
          </a:xfrm>
          <a:prstGeom prst="rect">
            <a:avLst/>
          </a:prstGeom>
        </p:spPr>
      </p:pic>
      <p:sp>
        <p:nvSpPr>
          <p:cNvPr id="4" name="Rectangle 3"/>
          <p:cNvSpPr/>
          <p:nvPr/>
        </p:nvSpPr>
        <p:spPr>
          <a:xfrm>
            <a:off x="0" y="0"/>
            <a:ext cx="12191695" cy="1051560"/>
          </a:xfrm>
          <a:prstGeom prst="rect">
            <a:avLst/>
          </a:prstGeom>
          <a:solidFill>
            <a:srgbClr val="002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1051560"/>
            <a:ext cx="12191695"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unizulu_logo.png"/>
          <p:cNvPicPr>
            <a:picLocks noChangeAspect="1"/>
          </p:cNvPicPr>
          <p:nvPr/>
        </p:nvPicPr>
        <p:blipFill>
          <a:blip r:embed="rId3"/>
          <a:stretch>
            <a:fillRect/>
          </a:stretch>
        </p:blipFill>
        <p:spPr>
          <a:xfrm>
            <a:off x="457200" y="109728"/>
            <a:ext cx="658368" cy="822960"/>
          </a:xfrm>
          <a:prstGeom prst="rect">
            <a:avLst/>
          </a:prstGeom>
        </p:spPr>
      </p:pic>
      <p:sp>
        <p:nvSpPr>
          <p:cNvPr id="7" name="TextBox 6"/>
          <p:cNvSpPr txBox="1"/>
          <p:nvPr/>
        </p:nvSpPr>
        <p:spPr>
          <a:xfrm>
            <a:off x="1280160" y="109728"/>
            <a:ext cx="8961120" cy="822960"/>
          </a:xfrm>
          <a:prstGeom prst="rect">
            <a:avLst/>
          </a:prstGeom>
          <a:noFill/>
        </p:spPr>
        <p:txBody>
          <a:bodyPr wrap="square">
            <a:spAutoFit/>
          </a:bodyPr>
          <a:lstStyle/>
          <a:p>
            <a:pPr>
              <a:defRPr sz="1000" b="1">
                <a:solidFill>
                  <a:srgbClr val="F59E0B"/>
                </a:solidFill>
                <a:latin typeface="Segoe UI"/>
              </a:defRPr>
            </a:pPr>
            <a:r>
              <a:t>28.1 EVIDENCE HANDLING • 28.1.2 THE FORENSIC PROCESS</a:t>
            </a:r>
          </a:p>
          <a:p>
            <a:pPr>
              <a:defRPr sz="1900" b="1">
                <a:solidFill>
                  <a:srgbClr val="FFFFFF"/>
                </a:solidFill>
                <a:latin typeface="Segoe UI"/>
              </a:defRPr>
            </a:pPr>
            <a:r>
              <a:t>The NIST SP 800-86 Forensic Process</a:t>
            </a:r>
          </a:p>
        </p:txBody>
      </p:sp>
      <p:sp>
        <p:nvSpPr>
          <p:cNvPr id="8" name="TextBox 7"/>
          <p:cNvSpPr txBox="1"/>
          <p:nvPr/>
        </p:nvSpPr>
        <p:spPr>
          <a:xfrm>
            <a:off x="9601200" y="182880"/>
            <a:ext cx="2103120" cy="640080"/>
          </a:xfrm>
          <a:prstGeom prst="rect">
            <a:avLst/>
          </a:prstGeom>
          <a:noFill/>
        </p:spPr>
        <p:txBody>
          <a:bodyPr wrap="none">
            <a:spAutoFit/>
          </a:bodyPr>
          <a:lstStyle/>
          <a:p>
            <a:pPr algn="r">
              <a:defRPr sz="1200" b="1">
                <a:solidFill>
                  <a:srgbClr val="F59E0B"/>
                </a:solidFill>
                <a:latin typeface="Segoe UI"/>
              </a:defRPr>
            </a:pPr>
            <a:r>
              <a:t>UNIZULU CSIRT</a:t>
            </a:r>
          </a:p>
          <a:p>
            <a:pPr algn="r">
              <a:defRPr sz="1000">
                <a:solidFill>
                  <a:srgbClr val="FFFFFF"/>
                </a:solidFill>
                <a:latin typeface="Segoe UI"/>
              </a:defRPr>
            </a:pPr>
            <a:r>
              <a:t>Module 28 • CyberOps</a:t>
            </a:r>
          </a:p>
        </p:txBody>
      </p:sp>
      <p:sp>
        <p:nvSpPr>
          <p:cNvPr id="9" name="Rectangle 8"/>
          <p:cNvSpPr/>
          <p:nvPr/>
        </p:nvSpPr>
        <p:spPr>
          <a:xfrm>
            <a:off x="0" y="6446520"/>
            <a:ext cx="12191695" cy="411480"/>
          </a:xfrm>
          <a:prstGeom prst="rect">
            <a:avLst/>
          </a:prstGeom>
          <a:solidFill>
            <a:srgbClr val="0018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428232"/>
            <a:ext cx="12191695" cy="18288"/>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473952"/>
            <a:ext cx="8229600" cy="320040"/>
          </a:xfrm>
          <a:prstGeom prst="rect">
            <a:avLst/>
          </a:prstGeom>
          <a:noFill/>
        </p:spPr>
        <p:txBody>
          <a:bodyPr wrap="none">
            <a:spAutoFit/>
          </a:bodyPr>
          <a:lstStyle/>
          <a:p>
            <a:pPr>
              <a:defRPr sz="950">
                <a:solidFill>
                  <a:srgbClr val="FEF3C7"/>
                </a:solidFill>
                <a:latin typeface="Segoe UI"/>
              </a:defRPr>
            </a:pPr>
            <a:r>
              <a:t>University of Zululand • Faculty of Science, Agriculture &amp; Technology • Department of Computer Science</a:t>
            </a:r>
          </a:p>
        </p:txBody>
      </p:sp>
      <p:sp>
        <p:nvSpPr>
          <p:cNvPr id="12" name="TextBox 11"/>
          <p:cNvSpPr txBox="1"/>
          <p:nvPr/>
        </p:nvSpPr>
        <p:spPr>
          <a:xfrm>
            <a:off x="9601200" y="6473952"/>
            <a:ext cx="2103120" cy="320040"/>
          </a:xfrm>
          <a:prstGeom prst="rect">
            <a:avLst/>
          </a:prstGeom>
          <a:noFill/>
        </p:spPr>
        <p:txBody>
          <a:bodyPr wrap="none">
            <a:spAutoFit/>
          </a:bodyPr>
          <a:lstStyle/>
          <a:p>
            <a:pPr algn="r">
              <a:defRPr sz="1000" b="1">
                <a:solidFill>
                  <a:srgbClr val="FFFFFF"/>
                </a:solidFill>
                <a:latin typeface="Segoe UI"/>
              </a:defRPr>
            </a:pPr>
            <a:r>
              <a:t>Slide 5 of 26</a:t>
            </a:r>
          </a:p>
        </p:txBody>
      </p:sp>
      <p:sp>
        <p:nvSpPr>
          <p:cNvPr id="13" name="Rounded Rectangle 12"/>
          <p:cNvSpPr/>
          <p:nvPr/>
        </p:nvSpPr>
        <p:spPr>
          <a:xfrm>
            <a:off x="548640" y="1325880"/>
            <a:ext cx="2606040" cy="4754880"/>
          </a:xfrm>
          <a:prstGeom prst="roundRect">
            <a:avLst/>
          </a:prstGeom>
          <a:solidFill>
            <a:srgbClr val="F8FAFC"/>
          </a:solidFill>
          <a:ln w="19050">
            <a:solidFill>
              <a:srgbClr val="0028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 y="1463040"/>
            <a:ext cx="2276856" cy="4480560"/>
          </a:xfrm>
          <a:prstGeom prst="rect">
            <a:avLst/>
          </a:prstGeom>
          <a:noFill/>
        </p:spPr>
        <p:txBody>
          <a:bodyPr wrap="square">
            <a:spAutoFit/>
          </a:bodyPr>
          <a:lstStyle/>
          <a:p>
            <a:pPr>
              <a:defRPr sz="1400" b="1">
                <a:solidFill>
                  <a:srgbClr val="002855"/>
                </a:solidFill>
                <a:latin typeface="Segoe UI"/>
              </a:defRPr>
            </a:pPr>
            <a:r>
              <a:t>1. Collection (Media)</a:t>
            </a:r>
          </a:p>
          <a:p>
            <a:pPr>
              <a:spcBef>
                <a:spcPts val="400"/>
              </a:spcBef>
              <a:defRPr sz="1050">
                <a:solidFill>
                  <a:srgbClr val="1E293B"/>
                </a:solidFill>
                <a:latin typeface="Segoe UI"/>
              </a:defRPr>
            </a:pPr>
            <a:r>
              <a:t>•  Identification of potential data sources (disks, RAM, logs).</a:t>
            </a:r>
          </a:p>
          <a:p>
            <a:pPr>
              <a:spcBef>
                <a:spcPts val="400"/>
              </a:spcBef>
              <a:defRPr sz="1050">
                <a:solidFill>
                  <a:srgbClr val="1E293B"/>
                </a:solidFill>
                <a:latin typeface="Segoe UI"/>
              </a:defRPr>
            </a:pPr>
            <a:r>
              <a:t>•  Acquisition, handling, and secure storage of digital media.</a:t>
            </a:r>
          </a:p>
          <a:p>
            <a:pPr>
              <a:spcBef>
                <a:spcPts val="400"/>
              </a:spcBef>
              <a:defRPr sz="1050">
                <a:solidFill>
                  <a:srgbClr val="1E293B"/>
                </a:solidFill>
                <a:latin typeface="Segoe UI"/>
              </a:defRPr>
            </a:pPr>
            <a:r>
              <a:t>•  Crucial Rule: Special care taken never to alter, damage, or omit evidence.</a:t>
            </a:r>
          </a:p>
          <a:p>
            <a:pPr>
              <a:spcBef>
                <a:spcPts val="400"/>
              </a:spcBef>
              <a:defRPr sz="1050">
                <a:solidFill>
                  <a:srgbClr val="1E293B"/>
                </a:solidFill>
                <a:latin typeface="Segoe UI"/>
              </a:defRPr>
            </a:pPr>
            <a:r>
              <a:t>•  Hardware write-blockers and bit-stream disk images.</a:t>
            </a:r>
          </a:p>
        </p:txBody>
      </p:sp>
      <p:sp>
        <p:nvSpPr>
          <p:cNvPr id="15" name="Rounded Rectangle 14"/>
          <p:cNvSpPr/>
          <p:nvPr/>
        </p:nvSpPr>
        <p:spPr>
          <a:xfrm>
            <a:off x="3364992" y="1325880"/>
            <a:ext cx="2606040" cy="4754880"/>
          </a:xfrm>
          <a:prstGeom prst="roundRect">
            <a:avLst/>
          </a:prstGeom>
          <a:solidFill>
            <a:srgbClr val="F8FAFC"/>
          </a:solidFill>
          <a:ln w="19050">
            <a:solidFill>
              <a:srgbClr val="0028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29584" y="1463040"/>
            <a:ext cx="2276856" cy="4480560"/>
          </a:xfrm>
          <a:prstGeom prst="rect">
            <a:avLst/>
          </a:prstGeom>
          <a:noFill/>
        </p:spPr>
        <p:txBody>
          <a:bodyPr wrap="square">
            <a:spAutoFit/>
          </a:bodyPr>
          <a:lstStyle/>
          <a:p>
            <a:pPr>
              <a:defRPr sz="1400" b="1">
                <a:solidFill>
                  <a:srgbClr val="002855"/>
                </a:solidFill>
                <a:latin typeface="Segoe UI"/>
              </a:defRPr>
            </a:pPr>
            <a:r>
              <a:t>2. Examination (Data)</a:t>
            </a:r>
          </a:p>
          <a:p>
            <a:pPr>
              <a:spcBef>
                <a:spcPts val="400"/>
              </a:spcBef>
              <a:defRPr sz="1050">
                <a:solidFill>
                  <a:srgbClr val="1E293B"/>
                </a:solidFill>
                <a:latin typeface="Segoe UI"/>
              </a:defRPr>
            </a:pPr>
            <a:r>
              <a:t>•  Processing collected data to extract relevant digital artifacts.</a:t>
            </a:r>
          </a:p>
          <a:p>
            <a:pPr>
              <a:spcBef>
                <a:spcPts val="400"/>
              </a:spcBef>
              <a:defRPr sz="1050">
                <a:solidFill>
                  <a:srgbClr val="1E293B"/>
                </a:solidFill>
                <a:latin typeface="Segoe UI"/>
              </a:defRPr>
            </a:pPr>
            <a:r>
              <a:t>•  De-NISTing: Filtering out routine OS noise using NSRL databases.</a:t>
            </a:r>
          </a:p>
          <a:p>
            <a:pPr>
              <a:spcBef>
                <a:spcPts val="400"/>
              </a:spcBef>
              <a:defRPr sz="1050">
                <a:solidFill>
                  <a:srgbClr val="1E293B"/>
                </a:solidFill>
                <a:latin typeface="Segoe UI"/>
              </a:defRPr>
            </a:pPr>
            <a:r>
              <a:t>•  Recovering hidden, deleted, or timestomped files.</a:t>
            </a:r>
          </a:p>
          <a:p>
            <a:pPr>
              <a:spcBef>
                <a:spcPts val="400"/>
              </a:spcBef>
              <a:defRPr sz="1050">
                <a:solidFill>
                  <a:srgbClr val="1E293B"/>
                </a:solidFill>
                <a:latin typeface="Segoe UI"/>
              </a:defRPr>
            </a:pPr>
            <a:r>
              <a:t>•  Extracting active network connections and memory strings.</a:t>
            </a:r>
          </a:p>
        </p:txBody>
      </p:sp>
      <p:sp>
        <p:nvSpPr>
          <p:cNvPr id="17" name="Rounded Rectangle 16"/>
          <p:cNvSpPr/>
          <p:nvPr/>
        </p:nvSpPr>
        <p:spPr>
          <a:xfrm>
            <a:off x="6181344" y="1325880"/>
            <a:ext cx="2606040" cy="4754880"/>
          </a:xfrm>
          <a:prstGeom prst="roundRect">
            <a:avLst/>
          </a:prstGeom>
          <a:solidFill>
            <a:srgbClr val="F8FAFC"/>
          </a:solidFill>
          <a:ln w="19050">
            <a:solidFill>
              <a:srgbClr val="0028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45936" y="1463040"/>
            <a:ext cx="2276856" cy="4480560"/>
          </a:xfrm>
          <a:prstGeom prst="rect">
            <a:avLst/>
          </a:prstGeom>
          <a:noFill/>
        </p:spPr>
        <p:txBody>
          <a:bodyPr wrap="square">
            <a:spAutoFit/>
          </a:bodyPr>
          <a:lstStyle/>
          <a:p>
            <a:pPr>
              <a:defRPr sz="1400" b="1">
                <a:solidFill>
                  <a:srgbClr val="002855"/>
                </a:solidFill>
                <a:latin typeface="Segoe UI"/>
              </a:defRPr>
            </a:pPr>
            <a:r>
              <a:t>3. Analysis (Information)</a:t>
            </a:r>
          </a:p>
          <a:p>
            <a:pPr>
              <a:spcBef>
                <a:spcPts val="400"/>
              </a:spcBef>
              <a:defRPr sz="1050">
                <a:solidFill>
                  <a:srgbClr val="1E293B"/>
                </a:solidFill>
                <a:latin typeface="Segoe UI"/>
              </a:defRPr>
            </a:pPr>
            <a:r>
              <a:t>•  Correlating digital artifacts to deduce the incident chronology.</a:t>
            </a:r>
          </a:p>
          <a:p>
            <a:pPr>
              <a:spcBef>
                <a:spcPts val="400"/>
              </a:spcBef>
              <a:defRPr sz="1050">
                <a:solidFill>
                  <a:srgbClr val="1E293B"/>
                </a:solidFill>
                <a:latin typeface="Segoe UI"/>
              </a:defRPr>
            </a:pPr>
            <a:r>
              <a:t>•  Reconstructing the attack timeline from log files.</a:t>
            </a:r>
          </a:p>
          <a:p>
            <a:pPr>
              <a:spcBef>
                <a:spcPts val="400"/>
              </a:spcBef>
              <a:defRPr sz="1050">
                <a:solidFill>
                  <a:srgbClr val="1E293B"/>
                </a:solidFill>
                <a:latin typeface="Segoe UI"/>
              </a:defRPr>
            </a:pPr>
            <a:r>
              <a:t>•  Determining adversary entry point and lateral movement.</a:t>
            </a:r>
          </a:p>
          <a:p>
            <a:pPr>
              <a:spcBef>
                <a:spcPts val="400"/>
              </a:spcBef>
              <a:defRPr sz="1050">
                <a:solidFill>
                  <a:srgbClr val="1E293B"/>
                </a:solidFill>
                <a:latin typeface="Segoe UI"/>
              </a:defRPr>
            </a:pPr>
            <a:r>
              <a:t>•  Deriving actionable attribution conclusions.</a:t>
            </a:r>
          </a:p>
        </p:txBody>
      </p:sp>
      <p:sp>
        <p:nvSpPr>
          <p:cNvPr id="19" name="Rounded Rectangle 18"/>
          <p:cNvSpPr/>
          <p:nvPr/>
        </p:nvSpPr>
        <p:spPr>
          <a:xfrm>
            <a:off x="8997696" y="1325880"/>
            <a:ext cx="2606040" cy="4754880"/>
          </a:xfrm>
          <a:prstGeom prst="roundRect">
            <a:avLst/>
          </a:prstGeom>
          <a:solidFill>
            <a:srgbClr val="F8FAFC"/>
          </a:solidFill>
          <a:ln w="19050">
            <a:solidFill>
              <a:srgbClr val="0028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62288" y="1463040"/>
            <a:ext cx="2276856" cy="4480560"/>
          </a:xfrm>
          <a:prstGeom prst="rect">
            <a:avLst/>
          </a:prstGeom>
          <a:noFill/>
        </p:spPr>
        <p:txBody>
          <a:bodyPr wrap="square">
            <a:spAutoFit/>
          </a:bodyPr>
          <a:lstStyle/>
          <a:p>
            <a:pPr>
              <a:defRPr sz="1400" b="1">
                <a:solidFill>
                  <a:srgbClr val="002855"/>
                </a:solidFill>
                <a:latin typeface="Segoe UI"/>
              </a:defRPr>
            </a:pPr>
            <a:r>
              <a:t>4. Reporting (Evidence)</a:t>
            </a:r>
          </a:p>
          <a:p>
            <a:pPr>
              <a:spcBef>
                <a:spcPts val="400"/>
              </a:spcBef>
              <a:defRPr sz="1050">
                <a:solidFill>
                  <a:srgbClr val="1E293B"/>
                </a:solidFill>
                <a:latin typeface="Segoe UI"/>
              </a:defRPr>
            </a:pPr>
            <a:r>
              <a:t>•  Documenting findings, techniques, and forensic conclusions.</a:t>
            </a:r>
          </a:p>
          <a:p>
            <a:pPr>
              <a:spcBef>
                <a:spcPts val="400"/>
              </a:spcBef>
              <a:defRPr sz="1050">
                <a:solidFill>
                  <a:srgbClr val="1E293B"/>
                </a:solidFill>
                <a:latin typeface="Segoe UI"/>
              </a:defRPr>
            </a:pPr>
            <a:r>
              <a:t>•  Writing executive summaries for organizational leadership.</a:t>
            </a:r>
          </a:p>
          <a:p>
            <a:pPr>
              <a:spcBef>
                <a:spcPts val="400"/>
              </a:spcBef>
              <a:defRPr sz="1050">
                <a:solidFill>
                  <a:srgbClr val="1E293B"/>
                </a:solidFill>
                <a:latin typeface="Segoe UI"/>
              </a:defRPr>
            </a:pPr>
            <a:r>
              <a:t>•  Preparing technical evidence suitable for legal court proceedings.</a:t>
            </a:r>
          </a:p>
          <a:p>
            <a:pPr>
              <a:spcBef>
                <a:spcPts val="400"/>
              </a:spcBef>
              <a:defRPr sz="1050">
                <a:solidFill>
                  <a:srgbClr val="1E293B"/>
                </a:solidFill>
                <a:latin typeface="Segoe UI"/>
              </a:defRPr>
            </a:pPr>
            <a:r>
              <a:t>•  Detailed chain-of-custody transfer logs.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unizulu_watermark.png"/>
          <p:cNvPicPr>
            <a:picLocks noChangeAspect="1"/>
          </p:cNvPicPr>
          <p:nvPr/>
        </p:nvPicPr>
        <p:blipFill>
          <a:blip r:embed="rId2"/>
          <a:stretch>
            <a:fillRect/>
          </a:stretch>
        </p:blipFill>
        <p:spPr>
          <a:xfrm>
            <a:off x="4206240" y="1188720"/>
            <a:ext cx="3840480" cy="4800600"/>
          </a:xfrm>
          <a:prstGeom prst="rect">
            <a:avLst/>
          </a:prstGeom>
        </p:spPr>
      </p:pic>
      <p:sp>
        <p:nvSpPr>
          <p:cNvPr id="4" name="Rectangle 3"/>
          <p:cNvSpPr/>
          <p:nvPr/>
        </p:nvSpPr>
        <p:spPr>
          <a:xfrm>
            <a:off x="0" y="0"/>
            <a:ext cx="12191695" cy="1051560"/>
          </a:xfrm>
          <a:prstGeom prst="rect">
            <a:avLst/>
          </a:prstGeom>
          <a:solidFill>
            <a:srgbClr val="002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1051560"/>
            <a:ext cx="12191695"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unizulu_logo.png"/>
          <p:cNvPicPr>
            <a:picLocks noChangeAspect="1"/>
          </p:cNvPicPr>
          <p:nvPr/>
        </p:nvPicPr>
        <p:blipFill>
          <a:blip r:embed="rId3"/>
          <a:stretch>
            <a:fillRect/>
          </a:stretch>
        </p:blipFill>
        <p:spPr>
          <a:xfrm>
            <a:off x="457200" y="109728"/>
            <a:ext cx="658368" cy="822960"/>
          </a:xfrm>
          <a:prstGeom prst="rect">
            <a:avLst/>
          </a:prstGeom>
        </p:spPr>
      </p:pic>
      <p:sp>
        <p:nvSpPr>
          <p:cNvPr id="7" name="TextBox 6"/>
          <p:cNvSpPr txBox="1"/>
          <p:nvPr/>
        </p:nvSpPr>
        <p:spPr>
          <a:xfrm>
            <a:off x="1280160" y="109728"/>
            <a:ext cx="8961120" cy="822960"/>
          </a:xfrm>
          <a:prstGeom prst="rect">
            <a:avLst/>
          </a:prstGeom>
          <a:noFill/>
        </p:spPr>
        <p:txBody>
          <a:bodyPr wrap="square">
            <a:spAutoFit/>
          </a:bodyPr>
          <a:lstStyle/>
          <a:p>
            <a:pPr>
              <a:defRPr sz="1000" b="1">
                <a:solidFill>
                  <a:srgbClr val="F59E0B"/>
                </a:solidFill>
                <a:latin typeface="Segoe UI"/>
              </a:defRPr>
            </a:pPr>
            <a:r>
              <a:t>28.1 EVIDENCE HANDLING • 28.1.4 TYPES OF EVIDENCE</a:t>
            </a:r>
          </a:p>
          <a:p>
            <a:pPr>
              <a:defRPr sz="1900" b="1">
                <a:solidFill>
                  <a:srgbClr val="FFFFFF"/>
                </a:solidFill>
                <a:latin typeface="Segoe UI"/>
              </a:defRPr>
            </a:pPr>
            <a:r>
              <a:t>Classifications of Legal Evidence</a:t>
            </a:r>
          </a:p>
        </p:txBody>
      </p:sp>
      <p:sp>
        <p:nvSpPr>
          <p:cNvPr id="8" name="TextBox 7"/>
          <p:cNvSpPr txBox="1"/>
          <p:nvPr/>
        </p:nvSpPr>
        <p:spPr>
          <a:xfrm>
            <a:off x="9601200" y="182880"/>
            <a:ext cx="2103120" cy="640080"/>
          </a:xfrm>
          <a:prstGeom prst="rect">
            <a:avLst/>
          </a:prstGeom>
          <a:noFill/>
        </p:spPr>
        <p:txBody>
          <a:bodyPr wrap="none">
            <a:spAutoFit/>
          </a:bodyPr>
          <a:lstStyle/>
          <a:p>
            <a:pPr algn="r">
              <a:defRPr sz="1200" b="1">
                <a:solidFill>
                  <a:srgbClr val="F59E0B"/>
                </a:solidFill>
                <a:latin typeface="Segoe UI"/>
              </a:defRPr>
            </a:pPr>
            <a:r>
              <a:t>UNIZULU CSIRT</a:t>
            </a:r>
          </a:p>
          <a:p>
            <a:pPr algn="r">
              <a:defRPr sz="1000">
                <a:solidFill>
                  <a:srgbClr val="FFFFFF"/>
                </a:solidFill>
                <a:latin typeface="Segoe UI"/>
              </a:defRPr>
            </a:pPr>
            <a:r>
              <a:t>Module 28 • CyberOps</a:t>
            </a:r>
          </a:p>
        </p:txBody>
      </p:sp>
      <p:sp>
        <p:nvSpPr>
          <p:cNvPr id="9" name="Rectangle 8"/>
          <p:cNvSpPr/>
          <p:nvPr/>
        </p:nvSpPr>
        <p:spPr>
          <a:xfrm>
            <a:off x="0" y="6446520"/>
            <a:ext cx="12191695" cy="411480"/>
          </a:xfrm>
          <a:prstGeom prst="rect">
            <a:avLst/>
          </a:prstGeom>
          <a:solidFill>
            <a:srgbClr val="0018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428232"/>
            <a:ext cx="12191695" cy="18288"/>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473952"/>
            <a:ext cx="8229600" cy="320040"/>
          </a:xfrm>
          <a:prstGeom prst="rect">
            <a:avLst/>
          </a:prstGeom>
          <a:noFill/>
        </p:spPr>
        <p:txBody>
          <a:bodyPr wrap="none">
            <a:spAutoFit/>
          </a:bodyPr>
          <a:lstStyle/>
          <a:p>
            <a:pPr>
              <a:defRPr sz="950">
                <a:solidFill>
                  <a:srgbClr val="FEF3C7"/>
                </a:solidFill>
                <a:latin typeface="Segoe UI"/>
              </a:defRPr>
            </a:pPr>
            <a:r>
              <a:t>University of Zululand • Faculty of Science, Agriculture &amp; Technology • Department of Computer Science</a:t>
            </a:r>
          </a:p>
        </p:txBody>
      </p:sp>
      <p:sp>
        <p:nvSpPr>
          <p:cNvPr id="12" name="TextBox 11"/>
          <p:cNvSpPr txBox="1"/>
          <p:nvPr/>
        </p:nvSpPr>
        <p:spPr>
          <a:xfrm>
            <a:off x="9601200" y="6473952"/>
            <a:ext cx="2103120" cy="320040"/>
          </a:xfrm>
          <a:prstGeom prst="rect">
            <a:avLst/>
          </a:prstGeom>
          <a:noFill/>
        </p:spPr>
        <p:txBody>
          <a:bodyPr wrap="none">
            <a:spAutoFit/>
          </a:bodyPr>
          <a:lstStyle/>
          <a:p>
            <a:pPr algn="r">
              <a:defRPr sz="1000" b="1">
                <a:solidFill>
                  <a:srgbClr val="FFFFFF"/>
                </a:solidFill>
                <a:latin typeface="Segoe UI"/>
              </a:defRPr>
            </a:pPr>
            <a:r>
              <a:t>Slide 6 of 26</a:t>
            </a:r>
          </a:p>
        </p:txBody>
      </p:sp>
      <p:sp>
        <p:nvSpPr>
          <p:cNvPr id="13" name="Rounded Rectangle 12"/>
          <p:cNvSpPr/>
          <p:nvPr/>
        </p:nvSpPr>
        <p:spPr>
          <a:xfrm>
            <a:off x="548640" y="1280160"/>
            <a:ext cx="5303520" cy="4846320"/>
          </a:xfrm>
          <a:prstGeom prst="roundRect">
            <a:avLst/>
          </a:prstGeom>
          <a:solidFill>
            <a:srgbClr val="F8FAFC"/>
          </a:solidFill>
          <a:ln w="19050">
            <a:solidFill>
              <a:srgbClr val="0028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 y="1417320"/>
            <a:ext cx="4974336" cy="4572000"/>
          </a:xfrm>
          <a:prstGeom prst="rect">
            <a:avLst/>
          </a:prstGeom>
          <a:noFill/>
        </p:spPr>
        <p:txBody>
          <a:bodyPr wrap="square">
            <a:spAutoFit/>
          </a:bodyPr>
          <a:lstStyle/>
          <a:p>
            <a:pPr>
              <a:defRPr sz="1400" b="1">
                <a:solidFill>
                  <a:srgbClr val="002855"/>
                </a:solidFill>
                <a:latin typeface="Segoe UI"/>
              </a:defRPr>
            </a:pPr>
            <a:r>
              <a:t>Primary Legal Classifications</a:t>
            </a:r>
          </a:p>
          <a:p>
            <a:pPr>
              <a:spcBef>
                <a:spcPts val="400"/>
              </a:spcBef>
              <a:defRPr sz="1050">
                <a:solidFill>
                  <a:srgbClr val="1E293B"/>
                </a:solidFill>
                <a:latin typeface="Segoe UI"/>
              </a:defRPr>
            </a:pPr>
            <a:r>
              <a:t>•  Direct Evidence: Evidence that was indisputably in possession of the accused, or eyewitness evidence from someone who directly observed criminal behavior.</a:t>
            </a:r>
          </a:p>
          <a:p>
            <a:pPr>
              <a:spcBef>
                <a:spcPts val="400"/>
              </a:spcBef>
              <a:defRPr sz="1050">
                <a:solidFill>
                  <a:srgbClr val="1E293B"/>
                </a:solidFill>
                <a:latin typeface="Segoe UI"/>
              </a:defRPr>
            </a:pPr>
            <a:r>
              <a:t>•  Example of Direct: Live network packet capture showing attacker keyboard input originating from the accused's authenticated account.</a:t>
            </a:r>
          </a:p>
          <a:p>
            <a:pPr>
              <a:spcBef>
                <a:spcPts val="400"/>
              </a:spcBef>
              <a:defRPr sz="1050">
                <a:solidFill>
                  <a:srgbClr val="1E293B"/>
                </a:solidFill>
                <a:latin typeface="Segoe UI"/>
              </a:defRPr>
            </a:pPr>
            <a:r>
              <a:t>•  Indirect Evidence (Circumstantial): Evidence that, in combination with other facts, establishes a hypothesis.</a:t>
            </a:r>
          </a:p>
          <a:p>
            <a:pPr>
              <a:spcBef>
                <a:spcPts val="400"/>
              </a:spcBef>
              <a:defRPr sz="1050">
                <a:solidFill>
                  <a:srgbClr val="1E293B"/>
                </a:solidFill>
                <a:latin typeface="Segoe UI"/>
              </a:defRPr>
            </a:pPr>
            <a:r>
              <a:t>•  Example of Indirect: Prior history of committing similar intrusions or owning malware compilation tools matching the attack payload.</a:t>
            </a:r>
          </a:p>
        </p:txBody>
      </p:sp>
      <p:sp>
        <p:nvSpPr>
          <p:cNvPr id="15" name="Rounded Rectangle 14"/>
          <p:cNvSpPr/>
          <p:nvPr/>
        </p:nvSpPr>
        <p:spPr>
          <a:xfrm>
            <a:off x="6217920" y="1280160"/>
            <a:ext cx="5303520" cy="4846320"/>
          </a:xfrm>
          <a:prstGeom prst="roundRect">
            <a:avLst/>
          </a:prstGeom>
          <a:solidFill>
            <a:srgbClr val="F8FAFC"/>
          </a:solidFill>
          <a:ln w="19050">
            <a:solidFill>
              <a:srgbClr val="0028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82512" y="1417320"/>
            <a:ext cx="4974336" cy="4572000"/>
          </a:xfrm>
          <a:prstGeom prst="rect">
            <a:avLst/>
          </a:prstGeom>
          <a:noFill/>
        </p:spPr>
        <p:txBody>
          <a:bodyPr wrap="square">
            <a:spAutoFit/>
          </a:bodyPr>
          <a:lstStyle/>
          <a:p>
            <a:pPr>
              <a:defRPr sz="1400" b="1">
                <a:solidFill>
                  <a:srgbClr val="002855"/>
                </a:solidFill>
                <a:latin typeface="Segoe UI"/>
              </a:defRPr>
            </a:pPr>
            <a:r>
              <a:t>Forensic Evidence Categories</a:t>
            </a:r>
          </a:p>
          <a:p>
            <a:pPr>
              <a:spcBef>
                <a:spcPts val="400"/>
              </a:spcBef>
              <a:defRPr sz="1050">
                <a:solidFill>
                  <a:srgbClr val="1E293B"/>
                </a:solidFill>
                <a:latin typeface="Segoe UI"/>
              </a:defRPr>
            </a:pPr>
            <a:r>
              <a:t>•  Best Evidence: Evidence that is preserved in its unaltered original state. Storage devices used by the accused or verified bit-stream disk images.</a:t>
            </a:r>
          </a:p>
          <a:p>
            <a:pPr>
              <a:spcBef>
                <a:spcPts val="400"/>
              </a:spcBef>
              <a:defRPr sz="1050">
                <a:solidFill>
                  <a:srgbClr val="1E293B"/>
                </a:solidFill>
                <a:latin typeface="Segoe UI"/>
              </a:defRPr>
            </a:pPr>
            <a:r>
              <a:t>•  Integrity Proof: Cryptographic hash comparison (SHA-256) proving the forensic clone is bit-for-bit identical to the suspect drive.</a:t>
            </a:r>
          </a:p>
          <a:p>
            <a:pPr>
              <a:spcBef>
                <a:spcPts val="400"/>
              </a:spcBef>
              <a:defRPr sz="1050">
                <a:solidFill>
                  <a:srgbClr val="1E293B"/>
                </a:solidFill>
                <a:latin typeface="Segoe UI"/>
              </a:defRPr>
            </a:pPr>
            <a:r>
              <a:t>•  Corroborating Evidence: Evidence that supports an assertion developed from best evidence.</a:t>
            </a:r>
          </a:p>
          <a:p>
            <a:pPr>
              <a:spcBef>
                <a:spcPts val="400"/>
              </a:spcBef>
              <a:defRPr sz="1050">
                <a:solidFill>
                  <a:srgbClr val="1E293B"/>
                </a:solidFill>
                <a:latin typeface="Segoe UI"/>
              </a:defRPr>
            </a:pPr>
            <a:r>
              <a:t>•  Example of Corroborating: Secondary proxy or firewall logs confirming an unauthorized outbound connection flagged on an endpoint disk.</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unizulu_watermark.png"/>
          <p:cNvPicPr>
            <a:picLocks noChangeAspect="1"/>
          </p:cNvPicPr>
          <p:nvPr/>
        </p:nvPicPr>
        <p:blipFill>
          <a:blip r:embed="rId2"/>
          <a:stretch>
            <a:fillRect/>
          </a:stretch>
        </p:blipFill>
        <p:spPr>
          <a:xfrm>
            <a:off x="4206240" y="1188720"/>
            <a:ext cx="3840480" cy="4800600"/>
          </a:xfrm>
          <a:prstGeom prst="rect">
            <a:avLst/>
          </a:prstGeom>
        </p:spPr>
      </p:pic>
      <p:sp>
        <p:nvSpPr>
          <p:cNvPr id="4" name="Rectangle 3"/>
          <p:cNvSpPr/>
          <p:nvPr/>
        </p:nvSpPr>
        <p:spPr>
          <a:xfrm>
            <a:off x="0" y="0"/>
            <a:ext cx="12191695" cy="1051560"/>
          </a:xfrm>
          <a:prstGeom prst="rect">
            <a:avLst/>
          </a:prstGeom>
          <a:solidFill>
            <a:srgbClr val="002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1051560"/>
            <a:ext cx="12191695"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unizulu_logo.png"/>
          <p:cNvPicPr>
            <a:picLocks noChangeAspect="1"/>
          </p:cNvPicPr>
          <p:nvPr/>
        </p:nvPicPr>
        <p:blipFill>
          <a:blip r:embed="rId3"/>
          <a:stretch>
            <a:fillRect/>
          </a:stretch>
        </p:blipFill>
        <p:spPr>
          <a:xfrm>
            <a:off x="457200" y="109728"/>
            <a:ext cx="658368" cy="822960"/>
          </a:xfrm>
          <a:prstGeom prst="rect">
            <a:avLst/>
          </a:prstGeom>
        </p:spPr>
      </p:pic>
      <p:sp>
        <p:nvSpPr>
          <p:cNvPr id="7" name="TextBox 6"/>
          <p:cNvSpPr txBox="1"/>
          <p:nvPr/>
        </p:nvSpPr>
        <p:spPr>
          <a:xfrm>
            <a:off x="1280160" y="109728"/>
            <a:ext cx="8961120" cy="822960"/>
          </a:xfrm>
          <a:prstGeom prst="rect">
            <a:avLst/>
          </a:prstGeom>
          <a:noFill/>
        </p:spPr>
        <p:txBody>
          <a:bodyPr wrap="square">
            <a:spAutoFit/>
          </a:bodyPr>
          <a:lstStyle/>
          <a:p>
            <a:pPr>
              <a:defRPr sz="1000" b="1">
                <a:solidFill>
                  <a:srgbClr val="F59E0B"/>
                </a:solidFill>
                <a:latin typeface="Segoe UI"/>
              </a:defRPr>
            </a:pPr>
            <a:r>
              <a:t>28.1 EVIDENCE HANDLING • 28.1.6 RFC 3227 VOLATILITY</a:t>
            </a:r>
          </a:p>
          <a:p>
            <a:pPr>
              <a:defRPr sz="1900" b="1">
                <a:solidFill>
                  <a:srgbClr val="FFFFFF"/>
                </a:solidFill>
                <a:latin typeface="Segoe UI"/>
              </a:defRPr>
            </a:pPr>
            <a:r>
              <a:t>RFC 3227: Order of Volatility</a:t>
            </a:r>
          </a:p>
        </p:txBody>
      </p:sp>
      <p:sp>
        <p:nvSpPr>
          <p:cNvPr id="8" name="TextBox 7"/>
          <p:cNvSpPr txBox="1"/>
          <p:nvPr/>
        </p:nvSpPr>
        <p:spPr>
          <a:xfrm>
            <a:off x="9601200" y="182880"/>
            <a:ext cx="2103120" cy="640080"/>
          </a:xfrm>
          <a:prstGeom prst="rect">
            <a:avLst/>
          </a:prstGeom>
          <a:noFill/>
        </p:spPr>
        <p:txBody>
          <a:bodyPr wrap="none">
            <a:spAutoFit/>
          </a:bodyPr>
          <a:lstStyle/>
          <a:p>
            <a:pPr algn="r">
              <a:defRPr sz="1200" b="1">
                <a:solidFill>
                  <a:srgbClr val="F59E0B"/>
                </a:solidFill>
                <a:latin typeface="Segoe UI"/>
              </a:defRPr>
            </a:pPr>
            <a:r>
              <a:t>UNIZULU CSIRT</a:t>
            </a:r>
          </a:p>
          <a:p>
            <a:pPr algn="r">
              <a:defRPr sz="1000">
                <a:solidFill>
                  <a:srgbClr val="FFFFFF"/>
                </a:solidFill>
                <a:latin typeface="Segoe UI"/>
              </a:defRPr>
            </a:pPr>
            <a:r>
              <a:t>Module 28 • CyberOps</a:t>
            </a:r>
          </a:p>
        </p:txBody>
      </p:sp>
      <p:sp>
        <p:nvSpPr>
          <p:cNvPr id="9" name="Rectangle 8"/>
          <p:cNvSpPr/>
          <p:nvPr/>
        </p:nvSpPr>
        <p:spPr>
          <a:xfrm>
            <a:off x="0" y="6446520"/>
            <a:ext cx="12191695" cy="411480"/>
          </a:xfrm>
          <a:prstGeom prst="rect">
            <a:avLst/>
          </a:prstGeom>
          <a:solidFill>
            <a:srgbClr val="0018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428232"/>
            <a:ext cx="12191695" cy="18288"/>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473952"/>
            <a:ext cx="8229600" cy="320040"/>
          </a:xfrm>
          <a:prstGeom prst="rect">
            <a:avLst/>
          </a:prstGeom>
          <a:noFill/>
        </p:spPr>
        <p:txBody>
          <a:bodyPr wrap="none">
            <a:spAutoFit/>
          </a:bodyPr>
          <a:lstStyle/>
          <a:p>
            <a:pPr>
              <a:defRPr sz="950">
                <a:solidFill>
                  <a:srgbClr val="FEF3C7"/>
                </a:solidFill>
                <a:latin typeface="Segoe UI"/>
              </a:defRPr>
            </a:pPr>
            <a:r>
              <a:t>University of Zululand • Faculty of Science, Agriculture &amp; Technology • Department of Computer Science</a:t>
            </a:r>
          </a:p>
        </p:txBody>
      </p:sp>
      <p:sp>
        <p:nvSpPr>
          <p:cNvPr id="12" name="TextBox 11"/>
          <p:cNvSpPr txBox="1"/>
          <p:nvPr/>
        </p:nvSpPr>
        <p:spPr>
          <a:xfrm>
            <a:off x="9601200" y="6473952"/>
            <a:ext cx="2103120" cy="320040"/>
          </a:xfrm>
          <a:prstGeom prst="rect">
            <a:avLst/>
          </a:prstGeom>
          <a:noFill/>
        </p:spPr>
        <p:txBody>
          <a:bodyPr wrap="none">
            <a:spAutoFit/>
          </a:bodyPr>
          <a:lstStyle/>
          <a:p>
            <a:pPr algn="r">
              <a:defRPr sz="1000" b="1">
                <a:solidFill>
                  <a:srgbClr val="FFFFFF"/>
                </a:solidFill>
                <a:latin typeface="Segoe UI"/>
              </a:defRPr>
            </a:pPr>
            <a:r>
              <a:t>Slide 7 of 26</a:t>
            </a:r>
          </a:p>
        </p:txBody>
      </p:sp>
      <p:sp>
        <p:nvSpPr>
          <p:cNvPr id="13" name="Rounded Rectangle 12"/>
          <p:cNvSpPr/>
          <p:nvPr/>
        </p:nvSpPr>
        <p:spPr>
          <a:xfrm>
            <a:off x="548640" y="1280160"/>
            <a:ext cx="4389120" cy="4846320"/>
          </a:xfrm>
          <a:prstGeom prst="roundRect">
            <a:avLst/>
          </a:prstGeom>
          <a:solidFill>
            <a:srgbClr val="F8FAFC"/>
          </a:solidFill>
          <a:ln w="19050">
            <a:solidFill>
              <a:srgbClr val="0028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 y="1417320"/>
            <a:ext cx="4059936" cy="4572000"/>
          </a:xfrm>
          <a:prstGeom prst="rect">
            <a:avLst/>
          </a:prstGeom>
          <a:noFill/>
        </p:spPr>
        <p:txBody>
          <a:bodyPr wrap="square">
            <a:spAutoFit/>
          </a:bodyPr>
          <a:lstStyle/>
          <a:p>
            <a:pPr>
              <a:defRPr sz="1400" b="1">
                <a:solidFill>
                  <a:srgbClr val="002855"/>
                </a:solidFill>
                <a:latin typeface="Segoe UI"/>
              </a:defRPr>
            </a:pPr>
            <a:r>
              <a:t>Why Volatility Dictates Collection</a:t>
            </a:r>
          </a:p>
          <a:p>
            <a:pPr>
              <a:spcBef>
                <a:spcPts val="400"/>
              </a:spcBef>
              <a:defRPr sz="1050">
                <a:solidFill>
                  <a:srgbClr val="1E293B"/>
                </a:solidFill>
                <a:latin typeface="Segoe UI"/>
              </a:defRPr>
            </a:pPr>
            <a:r>
              <a:t>•  Volatile Data Loss: Data in RAM, processor registers, and caches is wiped instantly when power is cut or the machine reboots.</a:t>
            </a:r>
          </a:p>
          <a:p>
            <a:pPr>
              <a:spcBef>
                <a:spcPts val="400"/>
              </a:spcBef>
              <a:defRPr sz="1050">
                <a:solidFill>
                  <a:srgbClr val="1E293B"/>
                </a:solidFill>
                <a:latin typeface="Segoe UI"/>
              </a:defRPr>
            </a:pPr>
            <a:r>
              <a:t>•  Routine Overwriting: Active machine processes continually overwrite memory buffers during normal operation.</a:t>
            </a:r>
          </a:p>
          <a:p>
            <a:pPr>
              <a:spcBef>
                <a:spcPts val="400"/>
              </a:spcBef>
              <a:defRPr sz="1050">
                <a:solidFill>
                  <a:srgbClr val="1E293B"/>
                </a:solidFill>
                <a:latin typeface="Segoe UI"/>
              </a:defRPr>
            </a:pPr>
            <a:r>
              <a:t>•  Golden Rule of Collection: Always acquire the most volatile data first before powering down or disconnecting hardware.</a:t>
            </a:r>
          </a:p>
          <a:p>
            <a:pPr>
              <a:spcBef>
                <a:spcPts val="400"/>
              </a:spcBef>
              <a:defRPr sz="1050">
                <a:solidFill>
                  <a:srgbClr val="1E293B"/>
                </a:solidFill>
                <a:latin typeface="Segoe UI"/>
              </a:defRPr>
            </a:pPr>
            <a:r>
              <a:t>•  Documentation Mandate: Record exact system time, timezone offsets, hardware model, OS version, logged-in users, and physical port connections.</a:t>
            </a:r>
          </a:p>
        </p:txBody>
      </p:sp>
      <p:sp>
        <p:nvSpPr>
          <p:cNvPr id="15" name="Rounded Rectangle 14"/>
          <p:cNvSpPr/>
          <p:nvPr/>
        </p:nvSpPr>
        <p:spPr>
          <a:xfrm>
            <a:off x="5303520" y="1280160"/>
            <a:ext cx="6217920" cy="594360"/>
          </a:xfrm>
          <a:prstGeom prst="roundRect">
            <a:avLst/>
          </a:prstGeom>
          <a:solidFill>
            <a:srgbClr val="FEF3C7"/>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40680" y="1325880"/>
            <a:ext cx="5943600" cy="502920"/>
          </a:xfrm>
          <a:prstGeom prst="rect">
            <a:avLst/>
          </a:prstGeom>
          <a:noFill/>
        </p:spPr>
        <p:txBody>
          <a:bodyPr wrap="none">
            <a:spAutoFit/>
          </a:bodyPr>
          <a:lstStyle/>
          <a:p>
            <a:pPr>
              <a:defRPr sz="1100" b="1">
                <a:solidFill>
                  <a:srgbClr val="B91C1C"/>
                </a:solidFill>
                <a:latin typeface="Segoe UI"/>
              </a:defRPr>
            </a:pPr>
            <a:r>
              <a:t>1. Memory registers, caches</a:t>
            </a:r>
          </a:p>
          <a:p>
            <a:pPr>
              <a:defRPr sz="900">
                <a:solidFill>
                  <a:srgbClr val="1E293B"/>
                </a:solidFill>
                <a:latin typeface="Segoe UI"/>
              </a:defRPr>
            </a:pPr>
            <a:r>
              <a:t>Disappears in nanoseconds; CPU registers and cache buffers</a:t>
            </a:r>
          </a:p>
        </p:txBody>
      </p:sp>
      <p:sp>
        <p:nvSpPr>
          <p:cNvPr id="17" name="Rounded Rectangle 16"/>
          <p:cNvSpPr/>
          <p:nvPr/>
        </p:nvSpPr>
        <p:spPr>
          <a:xfrm>
            <a:off x="5303520" y="1938528"/>
            <a:ext cx="6217920" cy="594360"/>
          </a:xfrm>
          <a:prstGeom prst="roundRect">
            <a:avLst/>
          </a:prstGeom>
          <a:solidFill>
            <a:srgbClr val="FEF3C7"/>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40680" y="1984248"/>
            <a:ext cx="5943600" cy="502920"/>
          </a:xfrm>
          <a:prstGeom prst="rect">
            <a:avLst/>
          </a:prstGeom>
          <a:noFill/>
        </p:spPr>
        <p:txBody>
          <a:bodyPr wrap="none">
            <a:spAutoFit/>
          </a:bodyPr>
          <a:lstStyle/>
          <a:p>
            <a:pPr>
              <a:defRPr sz="1100" b="1">
                <a:solidFill>
                  <a:srgbClr val="B91C1C"/>
                </a:solidFill>
                <a:latin typeface="Segoe UI"/>
              </a:defRPr>
            </a:pPr>
            <a:r>
              <a:t>2. Routing table, ARP cache, process table, RAM</a:t>
            </a:r>
          </a:p>
          <a:p>
            <a:pPr>
              <a:defRPr sz="900">
                <a:solidFill>
                  <a:srgbClr val="1E293B"/>
                </a:solidFill>
                <a:latin typeface="Segoe UI"/>
              </a:defRPr>
            </a:pPr>
            <a:r>
              <a:t>Disappears on reboot; active sockets, injected DLLs, decryption keys</a:t>
            </a:r>
          </a:p>
        </p:txBody>
      </p:sp>
      <p:sp>
        <p:nvSpPr>
          <p:cNvPr id="19" name="Rounded Rectangle 18"/>
          <p:cNvSpPr/>
          <p:nvPr/>
        </p:nvSpPr>
        <p:spPr>
          <a:xfrm>
            <a:off x="5303520" y="2596896"/>
            <a:ext cx="6217920" cy="594360"/>
          </a:xfrm>
          <a:prstGeom prst="roundRect">
            <a:avLst/>
          </a:prstGeom>
          <a:solidFill>
            <a:srgbClr val="F8FAFC"/>
          </a:solidFill>
          <a:ln w="19050">
            <a:solidFill>
              <a:srgbClr val="0028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40680" y="2642616"/>
            <a:ext cx="5943600" cy="502920"/>
          </a:xfrm>
          <a:prstGeom prst="rect">
            <a:avLst/>
          </a:prstGeom>
          <a:noFill/>
        </p:spPr>
        <p:txBody>
          <a:bodyPr wrap="none">
            <a:spAutoFit/>
          </a:bodyPr>
          <a:lstStyle/>
          <a:p>
            <a:pPr>
              <a:defRPr sz="1100" b="1">
                <a:solidFill>
                  <a:srgbClr val="002855"/>
                </a:solidFill>
                <a:latin typeface="Segoe UI"/>
              </a:defRPr>
            </a:pPr>
            <a:r>
              <a:t>3. Temporary file systems</a:t>
            </a:r>
          </a:p>
          <a:p>
            <a:pPr>
              <a:defRPr sz="900">
                <a:solidFill>
                  <a:srgbClr val="1E293B"/>
                </a:solidFill>
                <a:latin typeface="Segoe UI"/>
              </a:defRPr>
            </a:pPr>
            <a:r>
              <a:t>Disappears on reboot; /tmp, swap space, pagefile.sys</a:t>
            </a:r>
          </a:p>
        </p:txBody>
      </p:sp>
      <p:sp>
        <p:nvSpPr>
          <p:cNvPr id="21" name="Rounded Rectangle 20"/>
          <p:cNvSpPr/>
          <p:nvPr/>
        </p:nvSpPr>
        <p:spPr>
          <a:xfrm>
            <a:off x="5303520" y="3255264"/>
            <a:ext cx="6217920" cy="594360"/>
          </a:xfrm>
          <a:prstGeom prst="roundRect">
            <a:avLst/>
          </a:prstGeom>
          <a:solidFill>
            <a:srgbClr val="F8FAFC"/>
          </a:solidFill>
          <a:ln w="19050">
            <a:solidFill>
              <a:srgbClr val="0028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40680" y="3300984"/>
            <a:ext cx="5943600" cy="502920"/>
          </a:xfrm>
          <a:prstGeom prst="rect">
            <a:avLst/>
          </a:prstGeom>
          <a:noFill/>
        </p:spPr>
        <p:txBody>
          <a:bodyPr wrap="none">
            <a:spAutoFit/>
          </a:bodyPr>
          <a:lstStyle/>
          <a:p>
            <a:pPr>
              <a:defRPr sz="1100" b="1">
                <a:solidFill>
                  <a:srgbClr val="002855"/>
                </a:solidFill>
                <a:latin typeface="Segoe UI"/>
              </a:defRPr>
            </a:pPr>
            <a:r>
              <a:t>4. Non-volatile media (Disks, SSDs, USB)</a:t>
            </a:r>
          </a:p>
          <a:p>
            <a:pPr>
              <a:defRPr sz="900">
                <a:solidFill>
                  <a:srgbClr val="1E293B"/>
                </a:solidFill>
                <a:latin typeface="Segoe UI"/>
              </a:defRPr>
            </a:pPr>
            <a:r>
              <a:t>Fixed hard drives, solid-state drives, USB flash drives</a:t>
            </a:r>
          </a:p>
        </p:txBody>
      </p:sp>
      <p:sp>
        <p:nvSpPr>
          <p:cNvPr id="23" name="Rounded Rectangle 22"/>
          <p:cNvSpPr/>
          <p:nvPr/>
        </p:nvSpPr>
        <p:spPr>
          <a:xfrm>
            <a:off x="5303520" y="3913632"/>
            <a:ext cx="6217920" cy="594360"/>
          </a:xfrm>
          <a:prstGeom prst="roundRect">
            <a:avLst/>
          </a:prstGeom>
          <a:solidFill>
            <a:srgbClr val="F8FAFC"/>
          </a:solidFill>
          <a:ln w="19050">
            <a:solidFill>
              <a:srgbClr val="0028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40680" y="3959352"/>
            <a:ext cx="5943600" cy="502920"/>
          </a:xfrm>
          <a:prstGeom prst="rect">
            <a:avLst/>
          </a:prstGeom>
          <a:noFill/>
        </p:spPr>
        <p:txBody>
          <a:bodyPr wrap="none">
            <a:spAutoFit/>
          </a:bodyPr>
          <a:lstStyle/>
          <a:p>
            <a:pPr>
              <a:defRPr sz="1100" b="1">
                <a:solidFill>
                  <a:srgbClr val="002855"/>
                </a:solidFill>
                <a:latin typeface="Segoe UI"/>
              </a:defRPr>
            </a:pPr>
            <a:r>
              <a:t>5. Remote logging and monitoring data</a:t>
            </a:r>
          </a:p>
          <a:p>
            <a:pPr>
              <a:defRPr sz="900">
                <a:solidFill>
                  <a:srgbClr val="1E293B"/>
                </a:solidFill>
                <a:latin typeface="Segoe UI"/>
              </a:defRPr>
            </a:pPr>
            <a:r>
              <a:t>Syslog servers, SIEM data, NetFlow, firewall logs</a:t>
            </a:r>
          </a:p>
        </p:txBody>
      </p:sp>
      <p:sp>
        <p:nvSpPr>
          <p:cNvPr id="25" name="Rounded Rectangle 24"/>
          <p:cNvSpPr/>
          <p:nvPr/>
        </p:nvSpPr>
        <p:spPr>
          <a:xfrm>
            <a:off x="5303520" y="4572000"/>
            <a:ext cx="6217920" cy="594360"/>
          </a:xfrm>
          <a:prstGeom prst="roundRect">
            <a:avLst/>
          </a:prstGeom>
          <a:solidFill>
            <a:srgbClr val="F8FAFC"/>
          </a:solidFill>
          <a:ln w="19050">
            <a:solidFill>
              <a:srgbClr val="0028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40680" y="4617720"/>
            <a:ext cx="5943600" cy="502920"/>
          </a:xfrm>
          <a:prstGeom prst="rect">
            <a:avLst/>
          </a:prstGeom>
          <a:noFill/>
        </p:spPr>
        <p:txBody>
          <a:bodyPr wrap="none">
            <a:spAutoFit/>
          </a:bodyPr>
          <a:lstStyle/>
          <a:p>
            <a:pPr>
              <a:defRPr sz="1100" b="1">
                <a:solidFill>
                  <a:srgbClr val="002855"/>
                </a:solidFill>
                <a:latin typeface="Segoe UI"/>
              </a:defRPr>
            </a:pPr>
            <a:r>
              <a:t>6. Physical interconnections &amp; topology</a:t>
            </a:r>
          </a:p>
          <a:p>
            <a:pPr>
              <a:defRPr sz="900">
                <a:solidFill>
                  <a:srgbClr val="1E293B"/>
                </a:solidFill>
                <a:latin typeface="Segoe UI"/>
              </a:defRPr>
            </a:pPr>
            <a:r>
              <a:t>Cable layout, switch port maps, physical network topology</a:t>
            </a:r>
          </a:p>
        </p:txBody>
      </p:sp>
      <p:sp>
        <p:nvSpPr>
          <p:cNvPr id="27" name="Rounded Rectangle 26"/>
          <p:cNvSpPr/>
          <p:nvPr/>
        </p:nvSpPr>
        <p:spPr>
          <a:xfrm>
            <a:off x="5303520" y="5230368"/>
            <a:ext cx="6217920" cy="594360"/>
          </a:xfrm>
          <a:prstGeom prst="roundRect">
            <a:avLst/>
          </a:prstGeom>
          <a:solidFill>
            <a:srgbClr val="F8FAFC"/>
          </a:solidFill>
          <a:ln w="19050">
            <a:solidFill>
              <a:srgbClr val="0028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440680" y="5276088"/>
            <a:ext cx="5943600" cy="502920"/>
          </a:xfrm>
          <a:prstGeom prst="rect">
            <a:avLst/>
          </a:prstGeom>
          <a:noFill/>
        </p:spPr>
        <p:txBody>
          <a:bodyPr wrap="none">
            <a:spAutoFit/>
          </a:bodyPr>
          <a:lstStyle/>
          <a:p>
            <a:pPr>
              <a:defRPr sz="1100" b="1">
                <a:solidFill>
                  <a:srgbClr val="002855"/>
                </a:solidFill>
                <a:latin typeface="Segoe UI"/>
              </a:defRPr>
            </a:pPr>
            <a:r>
              <a:t>7. Archival media and backup tapes</a:t>
            </a:r>
          </a:p>
          <a:p>
            <a:pPr>
              <a:defRPr sz="900">
                <a:solidFill>
                  <a:srgbClr val="1E293B"/>
                </a:solidFill>
                <a:latin typeface="Segoe UI"/>
              </a:defRPr>
            </a:pPr>
            <a:r>
              <a:t>Least volatile; optical discs, tape backups, offsite archives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unizulu_watermark.png"/>
          <p:cNvPicPr>
            <a:picLocks noChangeAspect="1"/>
          </p:cNvPicPr>
          <p:nvPr/>
        </p:nvPicPr>
        <p:blipFill>
          <a:blip r:embed="rId2"/>
          <a:stretch>
            <a:fillRect/>
          </a:stretch>
        </p:blipFill>
        <p:spPr>
          <a:xfrm>
            <a:off x="4206240" y="1188720"/>
            <a:ext cx="3840480" cy="4800600"/>
          </a:xfrm>
          <a:prstGeom prst="rect">
            <a:avLst/>
          </a:prstGeom>
        </p:spPr>
      </p:pic>
      <p:sp>
        <p:nvSpPr>
          <p:cNvPr id="4" name="Rectangle 3"/>
          <p:cNvSpPr/>
          <p:nvPr/>
        </p:nvSpPr>
        <p:spPr>
          <a:xfrm>
            <a:off x="0" y="0"/>
            <a:ext cx="12191695" cy="1051560"/>
          </a:xfrm>
          <a:prstGeom prst="rect">
            <a:avLst/>
          </a:prstGeom>
          <a:solidFill>
            <a:srgbClr val="002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1051560"/>
            <a:ext cx="12191695"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unizulu_logo.png"/>
          <p:cNvPicPr>
            <a:picLocks noChangeAspect="1"/>
          </p:cNvPicPr>
          <p:nvPr/>
        </p:nvPicPr>
        <p:blipFill>
          <a:blip r:embed="rId3"/>
          <a:stretch>
            <a:fillRect/>
          </a:stretch>
        </p:blipFill>
        <p:spPr>
          <a:xfrm>
            <a:off x="457200" y="109728"/>
            <a:ext cx="658368" cy="822960"/>
          </a:xfrm>
          <a:prstGeom prst="rect">
            <a:avLst/>
          </a:prstGeom>
        </p:spPr>
      </p:pic>
      <p:sp>
        <p:nvSpPr>
          <p:cNvPr id="7" name="TextBox 6"/>
          <p:cNvSpPr txBox="1"/>
          <p:nvPr/>
        </p:nvSpPr>
        <p:spPr>
          <a:xfrm>
            <a:off x="1280160" y="109728"/>
            <a:ext cx="8961120" cy="822960"/>
          </a:xfrm>
          <a:prstGeom prst="rect">
            <a:avLst/>
          </a:prstGeom>
          <a:noFill/>
        </p:spPr>
        <p:txBody>
          <a:bodyPr wrap="square">
            <a:spAutoFit/>
          </a:bodyPr>
          <a:lstStyle/>
          <a:p>
            <a:pPr>
              <a:defRPr sz="1000" b="1">
                <a:solidFill>
                  <a:srgbClr val="F59E0B"/>
                </a:solidFill>
                <a:latin typeface="Segoe UI"/>
              </a:defRPr>
            </a:pPr>
            <a:r>
              <a:t>28.1 EVIDENCE HANDLING • 28.1.7 &amp; 28.1.8 INTEGRITY</a:t>
            </a:r>
          </a:p>
          <a:p>
            <a:pPr>
              <a:defRPr sz="1900" b="1">
                <a:solidFill>
                  <a:srgbClr val="FFFFFF"/>
                </a:solidFill>
                <a:latin typeface="Segoe UI"/>
              </a:defRPr>
            </a:pPr>
            <a:r>
              <a:t>Chain of Custody &amp; Data Preservation</a:t>
            </a:r>
          </a:p>
        </p:txBody>
      </p:sp>
      <p:sp>
        <p:nvSpPr>
          <p:cNvPr id="8" name="TextBox 7"/>
          <p:cNvSpPr txBox="1"/>
          <p:nvPr/>
        </p:nvSpPr>
        <p:spPr>
          <a:xfrm>
            <a:off x="9601200" y="182880"/>
            <a:ext cx="2103120" cy="640080"/>
          </a:xfrm>
          <a:prstGeom prst="rect">
            <a:avLst/>
          </a:prstGeom>
          <a:noFill/>
        </p:spPr>
        <p:txBody>
          <a:bodyPr wrap="none">
            <a:spAutoFit/>
          </a:bodyPr>
          <a:lstStyle/>
          <a:p>
            <a:pPr algn="r">
              <a:defRPr sz="1200" b="1">
                <a:solidFill>
                  <a:srgbClr val="F59E0B"/>
                </a:solidFill>
                <a:latin typeface="Segoe UI"/>
              </a:defRPr>
            </a:pPr>
            <a:r>
              <a:t>UNIZULU CSIRT</a:t>
            </a:r>
          </a:p>
          <a:p>
            <a:pPr algn="r">
              <a:defRPr sz="1000">
                <a:solidFill>
                  <a:srgbClr val="FFFFFF"/>
                </a:solidFill>
                <a:latin typeface="Segoe UI"/>
              </a:defRPr>
            </a:pPr>
            <a:r>
              <a:t>Module 28 • CyberOps</a:t>
            </a:r>
          </a:p>
        </p:txBody>
      </p:sp>
      <p:sp>
        <p:nvSpPr>
          <p:cNvPr id="9" name="Rectangle 8"/>
          <p:cNvSpPr/>
          <p:nvPr/>
        </p:nvSpPr>
        <p:spPr>
          <a:xfrm>
            <a:off x="0" y="6446520"/>
            <a:ext cx="12191695" cy="411480"/>
          </a:xfrm>
          <a:prstGeom prst="rect">
            <a:avLst/>
          </a:prstGeom>
          <a:solidFill>
            <a:srgbClr val="0018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428232"/>
            <a:ext cx="12191695" cy="18288"/>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473952"/>
            <a:ext cx="8229600" cy="320040"/>
          </a:xfrm>
          <a:prstGeom prst="rect">
            <a:avLst/>
          </a:prstGeom>
          <a:noFill/>
        </p:spPr>
        <p:txBody>
          <a:bodyPr wrap="none">
            <a:spAutoFit/>
          </a:bodyPr>
          <a:lstStyle/>
          <a:p>
            <a:pPr>
              <a:defRPr sz="950">
                <a:solidFill>
                  <a:srgbClr val="FEF3C7"/>
                </a:solidFill>
                <a:latin typeface="Segoe UI"/>
              </a:defRPr>
            </a:pPr>
            <a:r>
              <a:t>University of Zululand • Faculty of Science, Agriculture &amp; Technology • Department of Computer Science</a:t>
            </a:r>
          </a:p>
        </p:txBody>
      </p:sp>
      <p:sp>
        <p:nvSpPr>
          <p:cNvPr id="12" name="TextBox 11"/>
          <p:cNvSpPr txBox="1"/>
          <p:nvPr/>
        </p:nvSpPr>
        <p:spPr>
          <a:xfrm>
            <a:off x="9601200" y="6473952"/>
            <a:ext cx="2103120" cy="320040"/>
          </a:xfrm>
          <a:prstGeom prst="rect">
            <a:avLst/>
          </a:prstGeom>
          <a:noFill/>
        </p:spPr>
        <p:txBody>
          <a:bodyPr wrap="none">
            <a:spAutoFit/>
          </a:bodyPr>
          <a:lstStyle/>
          <a:p>
            <a:pPr algn="r">
              <a:defRPr sz="1000" b="1">
                <a:solidFill>
                  <a:srgbClr val="FFFFFF"/>
                </a:solidFill>
                <a:latin typeface="Segoe UI"/>
              </a:defRPr>
            </a:pPr>
            <a:r>
              <a:t>Slide 8 of 26</a:t>
            </a:r>
          </a:p>
        </p:txBody>
      </p:sp>
      <p:sp>
        <p:nvSpPr>
          <p:cNvPr id="13" name="Rounded Rectangle 12"/>
          <p:cNvSpPr/>
          <p:nvPr/>
        </p:nvSpPr>
        <p:spPr>
          <a:xfrm>
            <a:off x="548640" y="1280160"/>
            <a:ext cx="5303520" cy="4846320"/>
          </a:xfrm>
          <a:prstGeom prst="roundRect">
            <a:avLst/>
          </a:prstGeom>
          <a:solidFill>
            <a:srgbClr val="F8FAFC"/>
          </a:solidFill>
          <a:ln w="19050">
            <a:solidFill>
              <a:srgbClr val="0028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 y="1417320"/>
            <a:ext cx="4974336" cy="4572000"/>
          </a:xfrm>
          <a:prstGeom prst="rect">
            <a:avLst/>
          </a:prstGeom>
          <a:noFill/>
        </p:spPr>
        <p:txBody>
          <a:bodyPr wrap="square">
            <a:spAutoFit/>
          </a:bodyPr>
          <a:lstStyle/>
          <a:p>
            <a:pPr>
              <a:defRPr sz="1400" b="1">
                <a:solidFill>
                  <a:srgbClr val="002855"/>
                </a:solidFill>
                <a:latin typeface="Segoe UI"/>
              </a:defRPr>
            </a:pPr>
            <a:r>
              <a:t>Chain of Custody Requirements</a:t>
            </a:r>
          </a:p>
          <a:p>
            <a:pPr>
              <a:spcBef>
                <a:spcPts val="400"/>
              </a:spcBef>
              <a:defRPr sz="1050">
                <a:solidFill>
                  <a:srgbClr val="1E293B"/>
                </a:solidFill>
                <a:latin typeface="Segoe UI"/>
              </a:defRPr>
            </a:pPr>
            <a:r>
              <a:t>•  Definition: Detailed, unbroken legal record documenting collection, transfer, and storage of evidence.</a:t>
            </a:r>
          </a:p>
          <a:p>
            <a:pPr>
              <a:spcBef>
                <a:spcPts val="400"/>
              </a:spcBef>
              <a:defRPr sz="1050">
                <a:solidFill>
                  <a:srgbClr val="1E293B"/>
                </a:solidFill>
                <a:latin typeface="Segoe UI"/>
              </a:defRPr>
            </a:pPr>
            <a:r>
              <a:t>•  Discovery Record: Who found the evidence, where, and under what circumstances.</a:t>
            </a:r>
          </a:p>
          <a:p>
            <a:pPr>
              <a:spcBef>
                <a:spcPts val="400"/>
              </a:spcBef>
              <a:defRPr sz="1050">
                <a:solidFill>
                  <a:srgbClr val="1E293B"/>
                </a:solidFill>
                <a:latin typeface="Segoe UI"/>
              </a:defRPr>
            </a:pPr>
            <a:r>
              <a:t>•  Detailed Handling: Dates, exact timestamps, and names of all personnel involved.</a:t>
            </a:r>
          </a:p>
          <a:p>
            <a:pPr>
              <a:spcBef>
                <a:spcPts val="400"/>
              </a:spcBef>
              <a:defRPr sz="1050">
                <a:solidFill>
                  <a:srgbClr val="1E293B"/>
                </a:solidFill>
                <a:latin typeface="Segoe UI"/>
              </a:defRPr>
            </a:pPr>
            <a:r>
              <a:t>•  Custody Transitions: Formal receipt logs whenever responsibility changes hands.</a:t>
            </a:r>
          </a:p>
          <a:p>
            <a:pPr>
              <a:spcBef>
                <a:spcPts val="400"/>
              </a:spcBef>
              <a:defRPr sz="1050">
                <a:solidFill>
                  <a:srgbClr val="1E293B"/>
                </a:solidFill>
                <a:latin typeface="Segoe UI"/>
              </a:defRPr>
            </a:pPr>
            <a:r>
              <a:t>•  Physical Security: Access restricted exclusively to essential personnel; stored in tamper-evident forensic safes.</a:t>
            </a:r>
          </a:p>
          <a:p>
            <a:pPr>
              <a:spcBef>
                <a:spcPts val="400"/>
              </a:spcBef>
              <a:defRPr sz="1050">
                <a:solidFill>
                  <a:srgbClr val="1E293B"/>
                </a:solidFill>
                <a:latin typeface="Segoe UI"/>
              </a:defRPr>
            </a:pPr>
            <a:r>
              <a:t>•  Legal Impact: A broken chain of custody invalidates evidence in court, allowing guilty actors to walk free.</a:t>
            </a:r>
          </a:p>
        </p:txBody>
      </p:sp>
      <p:sp>
        <p:nvSpPr>
          <p:cNvPr id="15" name="Rounded Rectangle 14"/>
          <p:cNvSpPr/>
          <p:nvPr/>
        </p:nvSpPr>
        <p:spPr>
          <a:xfrm>
            <a:off x="6217920" y="1280160"/>
            <a:ext cx="5303520" cy="4846320"/>
          </a:xfrm>
          <a:prstGeom prst="roundRect">
            <a:avLst/>
          </a:prstGeom>
          <a:solidFill>
            <a:srgbClr val="F8FAFC"/>
          </a:solidFill>
          <a:ln w="19050">
            <a:solidFill>
              <a:srgbClr val="0028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82512" y="1417320"/>
            <a:ext cx="4974336" cy="4572000"/>
          </a:xfrm>
          <a:prstGeom prst="rect">
            <a:avLst/>
          </a:prstGeom>
          <a:noFill/>
        </p:spPr>
        <p:txBody>
          <a:bodyPr wrap="square">
            <a:spAutoFit/>
          </a:bodyPr>
          <a:lstStyle/>
          <a:p>
            <a:pPr>
              <a:defRPr sz="1400" b="1">
                <a:solidFill>
                  <a:srgbClr val="002855"/>
                </a:solidFill>
                <a:latin typeface="Segoe UI"/>
              </a:defRPr>
            </a:pPr>
            <a:r>
              <a:t>Data Preservation Best Practices</a:t>
            </a:r>
          </a:p>
          <a:p>
            <a:pPr>
              <a:spcBef>
                <a:spcPts val="400"/>
              </a:spcBef>
              <a:defRPr sz="1050">
                <a:solidFill>
                  <a:srgbClr val="1E293B"/>
                </a:solidFill>
                <a:latin typeface="Segoe UI"/>
              </a:defRPr>
            </a:pPr>
            <a:r>
              <a:t>•  Golden Rule of Forensics: NEVER examine, analyze, or boot original master evidence drives.</a:t>
            </a:r>
          </a:p>
          <a:p>
            <a:pPr>
              <a:spcBef>
                <a:spcPts val="400"/>
              </a:spcBef>
              <a:defRPr sz="1050">
                <a:solidFill>
                  <a:srgbClr val="1E293B"/>
                </a:solidFill>
                <a:latin typeface="Segoe UI"/>
              </a:defRPr>
            </a:pPr>
            <a:r>
              <a:t>•  Hardware Write-Blockers: Physical devices that prevent OS write commands from altering suspect drive timestamps or sectors.</a:t>
            </a:r>
          </a:p>
          <a:p>
            <a:pPr>
              <a:spcBef>
                <a:spcPts val="400"/>
              </a:spcBef>
              <a:defRPr sz="1050">
                <a:solidFill>
                  <a:srgbClr val="1E293B"/>
                </a:solidFill>
                <a:latin typeface="Segoe UI"/>
              </a:defRPr>
            </a:pPr>
            <a:r>
              <a:t>•  Bit-Stream Disk Images: Create a bit-for-bit clone (including deleted space and slack space), not a standard logical file copy.</a:t>
            </a:r>
          </a:p>
          <a:p>
            <a:pPr>
              <a:spcBef>
                <a:spcPts val="400"/>
              </a:spcBef>
              <a:defRPr sz="1050">
                <a:solidFill>
                  <a:srgbClr val="1E293B"/>
                </a:solidFill>
                <a:latin typeface="Segoe UI"/>
              </a:defRPr>
            </a:pPr>
            <a:r>
              <a:t>•  Cryptographic Hashing: Calculate SHA-256 / SHA-512 hashes of the original drive BEFORE copying and of the image AFTER copying.</a:t>
            </a:r>
          </a:p>
          <a:p>
            <a:pPr>
              <a:spcBef>
                <a:spcPts val="400"/>
              </a:spcBef>
              <a:defRPr sz="1050">
                <a:solidFill>
                  <a:srgbClr val="1E293B"/>
                </a:solidFill>
                <a:latin typeface="Segoe UI"/>
              </a:defRPr>
            </a:pPr>
            <a:r>
              <a:t>•  Hash Verification: Identical hashes prove mathematically that zero bytes were altered during the acquisition process.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unizulu_watermark.png"/>
          <p:cNvPicPr>
            <a:picLocks noChangeAspect="1"/>
          </p:cNvPicPr>
          <p:nvPr/>
        </p:nvPicPr>
        <p:blipFill>
          <a:blip r:embed="rId2"/>
          <a:stretch>
            <a:fillRect/>
          </a:stretch>
        </p:blipFill>
        <p:spPr>
          <a:xfrm>
            <a:off x="4206240" y="1188720"/>
            <a:ext cx="3840480" cy="4800600"/>
          </a:xfrm>
          <a:prstGeom prst="rect">
            <a:avLst/>
          </a:prstGeom>
        </p:spPr>
      </p:pic>
      <p:sp>
        <p:nvSpPr>
          <p:cNvPr id="4" name="Rectangle 3"/>
          <p:cNvSpPr/>
          <p:nvPr/>
        </p:nvSpPr>
        <p:spPr>
          <a:xfrm>
            <a:off x="0" y="0"/>
            <a:ext cx="12191695" cy="1051560"/>
          </a:xfrm>
          <a:prstGeom prst="rect">
            <a:avLst/>
          </a:prstGeom>
          <a:solidFill>
            <a:srgbClr val="002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1051560"/>
            <a:ext cx="12191695"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unizulu_logo.png"/>
          <p:cNvPicPr>
            <a:picLocks noChangeAspect="1"/>
          </p:cNvPicPr>
          <p:nvPr/>
        </p:nvPicPr>
        <p:blipFill>
          <a:blip r:embed="rId3"/>
          <a:stretch>
            <a:fillRect/>
          </a:stretch>
        </p:blipFill>
        <p:spPr>
          <a:xfrm>
            <a:off x="457200" y="109728"/>
            <a:ext cx="658368" cy="822960"/>
          </a:xfrm>
          <a:prstGeom prst="rect">
            <a:avLst/>
          </a:prstGeom>
        </p:spPr>
      </p:pic>
      <p:sp>
        <p:nvSpPr>
          <p:cNvPr id="7" name="TextBox 6"/>
          <p:cNvSpPr txBox="1"/>
          <p:nvPr/>
        </p:nvSpPr>
        <p:spPr>
          <a:xfrm>
            <a:off x="1280160" y="109728"/>
            <a:ext cx="8961120" cy="822960"/>
          </a:xfrm>
          <a:prstGeom prst="rect">
            <a:avLst/>
          </a:prstGeom>
          <a:noFill/>
        </p:spPr>
        <p:txBody>
          <a:bodyPr wrap="square">
            <a:spAutoFit/>
          </a:bodyPr>
          <a:lstStyle/>
          <a:p>
            <a:pPr>
              <a:defRPr sz="1000" b="1">
                <a:solidFill>
                  <a:srgbClr val="F59E0B"/>
                </a:solidFill>
                <a:latin typeface="Segoe UI"/>
              </a:defRPr>
            </a:pPr>
            <a:r>
              <a:t>28.1 ATTACK ATTRIBUTION • 28.1.9 &amp; 28.1.10 MITRE ATT&amp;CK</a:t>
            </a:r>
          </a:p>
          <a:p>
            <a:pPr>
              <a:defRPr sz="1900" b="1">
                <a:solidFill>
                  <a:srgbClr val="FFFFFF"/>
                </a:solidFill>
                <a:latin typeface="Segoe UI"/>
              </a:defRPr>
            </a:pPr>
            <a:r>
              <a:t>Attack Attribution &amp; MITRE ATT&amp;CK</a:t>
            </a:r>
          </a:p>
        </p:txBody>
      </p:sp>
      <p:sp>
        <p:nvSpPr>
          <p:cNvPr id="8" name="TextBox 7"/>
          <p:cNvSpPr txBox="1"/>
          <p:nvPr/>
        </p:nvSpPr>
        <p:spPr>
          <a:xfrm>
            <a:off x="9601200" y="182880"/>
            <a:ext cx="2103120" cy="640080"/>
          </a:xfrm>
          <a:prstGeom prst="rect">
            <a:avLst/>
          </a:prstGeom>
          <a:noFill/>
        </p:spPr>
        <p:txBody>
          <a:bodyPr wrap="none">
            <a:spAutoFit/>
          </a:bodyPr>
          <a:lstStyle/>
          <a:p>
            <a:pPr algn="r">
              <a:defRPr sz="1200" b="1">
                <a:solidFill>
                  <a:srgbClr val="F59E0B"/>
                </a:solidFill>
                <a:latin typeface="Segoe UI"/>
              </a:defRPr>
            </a:pPr>
            <a:r>
              <a:t>UNIZULU CSIRT</a:t>
            </a:r>
          </a:p>
          <a:p>
            <a:pPr algn="r">
              <a:defRPr sz="1000">
                <a:solidFill>
                  <a:srgbClr val="FFFFFF"/>
                </a:solidFill>
                <a:latin typeface="Segoe UI"/>
              </a:defRPr>
            </a:pPr>
            <a:r>
              <a:t>Module 28 • CyberOps</a:t>
            </a:r>
          </a:p>
        </p:txBody>
      </p:sp>
      <p:sp>
        <p:nvSpPr>
          <p:cNvPr id="9" name="Rectangle 8"/>
          <p:cNvSpPr/>
          <p:nvPr/>
        </p:nvSpPr>
        <p:spPr>
          <a:xfrm>
            <a:off x="0" y="6446520"/>
            <a:ext cx="12191695" cy="411480"/>
          </a:xfrm>
          <a:prstGeom prst="rect">
            <a:avLst/>
          </a:prstGeom>
          <a:solidFill>
            <a:srgbClr val="0018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428232"/>
            <a:ext cx="12191695" cy="18288"/>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473952"/>
            <a:ext cx="8229600" cy="320040"/>
          </a:xfrm>
          <a:prstGeom prst="rect">
            <a:avLst/>
          </a:prstGeom>
          <a:noFill/>
        </p:spPr>
        <p:txBody>
          <a:bodyPr wrap="none">
            <a:spAutoFit/>
          </a:bodyPr>
          <a:lstStyle/>
          <a:p>
            <a:pPr>
              <a:defRPr sz="950">
                <a:solidFill>
                  <a:srgbClr val="FEF3C7"/>
                </a:solidFill>
                <a:latin typeface="Segoe UI"/>
              </a:defRPr>
            </a:pPr>
            <a:r>
              <a:t>University of Zululand • Faculty of Science, Agriculture &amp; Technology • Department of Computer Science</a:t>
            </a:r>
          </a:p>
        </p:txBody>
      </p:sp>
      <p:sp>
        <p:nvSpPr>
          <p:cNvPr id="12" name="TextBox 11"/>
          <p:cNvSpPr txBox="1"/>
          <p:nvPr/>
        </p:nvSpPr>
        <p:spPr>
          <a:xfrm>
            <a:off x="9601200" y="6473952"/>
            <a:ext cx="2103120" cy="320040"/>
          </a:xfrm>
          <a:prstGeom prst="rect">
            <a:avLst/>
          </a:prstGeom>
          <a:noFill/>
        </p:spPr>
        <p:txBody>
          <a:bodyPr wrap="none">
            <a:spAutoFit/>
          </a:bodyPr>
          <a:lstStyle/>
          <a:p>
            <a:pPr algn="r">
              <a:defRPr sz="1000" b="1">
                <a:solidFill>
                  <a:srgbClr val="FFFFFF"/>
                </a:solidFill>
                <a:latin typeface="Segoe UI"/>
              </a:defRPr>
            </a:pPr>
            <a:r>
              <a:t>Slide 9 of 26</a:t>
            </a:r>
          </a:p>
        </p:txBody>
      </p:sp>
      <p:sp>
        <p:nvSpPr>
          <p:cNvPr id="13" name="Rounded Rectangle 12"/>
          <p:cNvSpPr/>
          <p:nvPr/>
        </p:nvSpPr>
        <p:spPr>
          <a:xfrm>
            <a:off x="548640" y="1280160"/>
            <a:ext cx="5303520" cy="4846320"/>
          </a:xfrm>
          <a:prstGeom prst="roundRect">
            <a:avLst/>
          </a:prstGeom>
          <a:solidFill>
            <a:srgbClr val="F8FAFC"/>
          </a:solidFill>
          <a:ln w="19050">
            <a:solidFill>
              <a:srgbClr val="0028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 y="1417320"/>
            <a:ext cx="4974336" cy="4572000"/>
          </a:xfrm>
          <a:prstGeom prst="rect">
            <a:avLst/>
          </a:prstGeom>
          <a:noFill/>
        </p:spPr>
        <p:txBody>
          <a:bodyPr wrap="square">
            <a:spAutoFit/>
          </a:bodyPr>
          <a:lstStyle/>
          <a:p>
            <a:pPr>
              <a:defRPr sz="1400" b="1">
                <a:solidFill>
                  <a:srgbClr val="002855"/>
                </a:solidFill>
                <a:latin typeface="Segoe UI"/>
              </a:defRPr>
            </a:pPr>
            <a:r>
              <a:t>Attack Attribution Elements</a:t>
            </a:r>
          </a:p>
          <a:p>
            <a:pPr>
              <a:spcBef>
                <a:spcPts val="400"/>
              </a:spcBef>
              <a:defRPr sz="1050">
                <a:solidFill>
                  <a:srgbClr val="1E293B"/>
                </a:solidFill>
                <a:latin typeface="Segoe UI"/>
              </a:defRPr>
            </a:pPr>
            <a:r>
              <a:t>•  Definition: The process of identifying the threat actor, organization, or nation-state responsible for an intrusion.</a:t>
            </a:r>
          </a:p>
          <a:p>
            <a:pPr>
              <a:spcBef>
                <a:spcPts val="400"/>
              </a:spcBef>
              <a:defRPr sz="1050">
                <a:solidFill>
                  <a:srgbClr val="1E293B"/>
                </a:solidFill>
                <a:latin typeface="Segoe UI"/>
              </a:defRPr>
            </a:pPr>
            <a:r>
              <a:t>•  Source Geolocation: Tracing IP and MAC addresses, VPN exit nodes, and Autonomous System Numbers (ASNs).</a:t>
            </a:r>
          </a:p>
          <a:p>
            <a:pPr>
              <a:spcBef>
                <a:spcPts val="400"/>
              </a:spcBef>
              <a:defRPr sz="1050">
                <a:solidFill>
                  <a:srgbClr val="1E293B"/>
                </a:solidFill>
                <a:latin typeface="Segoe UI"/>
              </a:defRPr>
            </a:pPr>
            <a:r>
              <a:t>•  Malware Code Features: Unique compiler signatures, embedded language strings, encryption routines, and debugging artifacts.</a:t>
            </a:r>
          </a:p>
          <a:p>
            <a:pPr>
              <a:spcBef>
                <a:spcPts val="400"/>
              </a:spcBef>
              <a:defRPr sz="1050">
                <a:solidFill>
                  <a:srgbClr val="1E293B"/>
                </a:solidFill>
                <a:latin typeface="Segoe UI"/>
              </a:defRPr>
            </a:pPr>
            <a:r>
              <a:t>•  TTP Behavioral Matching: Tactics, Techniques, and Procedures consistent with known Advanced Persistent Threat (APT) groups.</a:t>
            </a:r>
          </a:p>
          <a:p>
            <a:pPr>
              <a:spcBef>
                <a:spcPts val="400"/>
              </a:spcBef>
              <a:defRPr sz="1050">
                <a:solidFill>
                  <a:srgbClr val="1E293B"/>
                </a:solidFill>
                <a:latin typeface="Segoe UI"/>
              </a:defRPr>
            </a:pPr>
            <a:r>
              <a:t>•  Attribution Challenges: Attackers use compromised third-party servers, Tor, fast-flux DNS, and false-flag artifacts to misdirect analysts.</a:t>
            </a:r>
          </a:p>
        </p:txBody>
      </p:sp>
      <p:sp>
        <p:nvSpPr>
          <p:cNvPr id="15" name="Rounded Rectangle 14"/>
          <p:cNvSpPr/>
          <p:nvPr/>
        </p:nvSpPr>
        <p:spPr>
          <a:xfrm>
            <a:off x="6217920" y="1280160"/>
            <a:ext cx="5303520" cy="4846320"/>
          </a:xfrm>
          <a:prstGeom prst="roundRect">
            <a:avLst/>
          </a:prstGeom>
          <a:solidFill>
            <a:srgbClr val="F8FAFC"/>
          </a:solidFill>
          <a:ln w="19050">
            <a:solidFill>
              <a:srgbClr val="0028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82512" y="1417320"/>
            <a:ext cx="4974336" cy="4572000"/>
          </a:xfrm>
          <a:prstGeom prst="rect">
            <a:avLst/>
          </a:prstGeom>
          <a:noFill/>
        </p:spPr>
        <p:txBody>
          <a:bodyPr wrap="square">
            <a:spAutoFit/>
          </a:bodyPr>
          <a:lstStyle/>
          <a:p>
            <a:pPr>
              <a:defRPr sz="1400" b="1">
                <a:solidFill>
                  <a:srgbClr val="002855"/>
                </a:solidFill>
                <a:latin typeface="Segoe UI"/>
              </a:defRPr>
            </a:pPr>
            <a:r>
              <a:t>MITRE ATT&amp;CK Framework</a:t>
            </a:r>
          </a:p>
          <a:p>
            <a:pPr>
              <a:spcBef>
                <a:spcPts val="400"/>
              </a:spcBef>
              <a:defRPr sz="1050">
                <a:solidFill>
                  <a:srgbClr val="1E293B"/>
                </a:solidFill>
                <a:latin typeface="Segoe UI"/>
              </a:defRPr>
            </a:pPr>
            <a:r>
              <a:t>•  Globally-Accessible Knowledge Base: Comprehensive matrix of adversary tactics and techniques based on real-world observations.</a:t>
            </a:r>
          </a:p>
          <a:p>
            <a:pPr>
              <a:spcBef>
                <a:spcPts val="400"/>
              </a:spcBef>
              <a:defRPr sz="1050">
                <a:solidFill>
                  <a:srgbClr val="1E293B"/>
                </a:solidFill>
                <a:latin typeface="Segoe UI"/>
              </a:defRPr>
            </a:pPr>
            <a:r>
              <a:t>•  Tactics ('Why'): The adversary's tactical goal (e.g., Initial Access, Execution, Persistence, Privilege Escalation, Exfiltration).</a:t>
            </a:r>
          </a:p>
          <a:p>
            <a:pPr>
              <a:spcBef>
                <a:spcPts val="400"/>
              </a:spcBef>
              <a:defRPr sz="1050">
                <a:solidFill>
                  <a:srgbClr val="1E293B"/>
                </a:solidFill>
                <a:latin typeface="Segoe UI"/>
              </a:defRPr>
            </a:pPr>
            <a:r>
              <a:t>•  Techniques ('How'): The specific method used to achieve the tactical goal (e.g., Spearphishing Attachment, DLL Sideloading, Pass-the-Hash).</a:t>
            </a:r>
          </a:p>
          <a:p>
            <a:pPr>
              <a:spcBef>
                <a:spcPts val="400"/>
              </a:spcBef>
              <a:defRPr sz="1050">
                <a:solidFill>
                  <a:srgbClr val="1E293B"/>
                </a:solidFill>
                <a:latin typeface="Segoe UI"/>
              </a:defRPr>
            </a:pPr>
            <a:r>
              <a:t>•  Procedures ('What'): The exact implementation code, script, or command sequence used by a specific threat group.</a:t>
            </a:r>
          </a:p>
          <a:p>
            <a:pPr>
              <a:spcBef>
                <a:spcPts val="400"/>
              </a:spcBef>
              <a:defRPr sz="1050">
                <a:solidFill>
                  <a:srgbClr val="1E293B"/>
                </a:solidFill>
                <a:latin typeface="Segoe UI"/>
              </a:defRPr>
            </a:pPr>
            <a:r>
              <a:t>•  SOC Benefit: Enables SOC teams to map telemetry, identify detection gaps, and prioritize high-risk threat actor profiles.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unizulu_watermark.png"/>
          <p:cNvPicPr>
            <a:picLocks noChangeAspect="1"/>
          </p:cNvPicPr>
          <p:nvPr/>
        </p:nvPicPr>
        <p:blipFill>
          <a:blip r:embed="rId2"/>
          <a:stretch>
            <a:fillRect/>
          </a:stretch>
        </p:blipFill>
        <p:spPr>
          <a:xfrm>
            <a:off x="4206240" y="1188720"/>
            <a:ext cx="3840480" cy="4800600"/>
          </a:xfrm>
          <a:prstGeom prst="rect">
            <a:avLst/>
          </a:prstGeom>
        </p:spPr>
      </p:pic>
      <p:sp>
        <p:nvSpPr>
          <p:cNvPr id="4" name="Rectangle 3"/>
          <p:cNvSpPr/>
          <p:nvPr/>
        </p:nvSpPr>
        <p:spPr>
          <a:xfrm>
            <a:off x="0" y="0"/>
            <a:ext cx="12191695" cy="1051560"/>
          </a:xfrm>
          <a:prstGeom prst="rect">
            <a:avLst/>
          </a:prstGeom>
          <a:solidFill>
            <a:srgbClr val="002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1051560"/>
            <a:ext cx="12191695"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unizulu_logo.png"/>
          <p:cNvPicPr>
            <a:picLocks noChangeAspect="1"/>
          </p:cNvPicPr>
          <p:nvPr/>
        </p:nvPicPr>
        <p:blipFill>
          <a:blip r:embed="rId3"/>
          <a:stretch>
            <a:fillRect/>
          </a:stretch>
        </p:blipFill>
        <p:spPr>
          <a:xfrm>
            <a:off x="457200" y="109728"/>
            <a:ext cx="658368" cy="822960"/>
          </a:xfrm>
          <a:prstGeom prst="rect">
            <a:avLst/>
          </a:prstGeom>
        </p:spPr>
      </p:pic>
      <p:sp>
        <p:nvSpPr>
          <p:cNvPr id="7" name="TextBox 6"/>
          <p:cNvSpPr txBox="1"/>
          <p:nvPr/>
        </p:nvSpPr>
        <p:spPr>
          <a:xfrm>
            <a:off x="1280160" y="109728"/>
            <a:ext cx="8961120" cy="822960"/>
          </a:xfrm>
          <a:prstGeom prst="rect">
            <a:avLst/>
          </a:prstGeom>
          <a:noFill/>
        </p:spPr>
        <p:txBody>
          <a:bodyPr wrap="square">
            <a:spAutoFit/>
          </a:bodyPr>
          <a:lstStyle/>
          <a:p>
            <a:pPr>
              <a:defRPr sz="1000" b="1">
                <a:solidFill>
                  <a:srgbClr val="F59E0B"/>
                </a:solidFill>
                <a:latin typeface="Segoe UI"/>
              </a:defRPr>
            </a:pPr>
            <a:r>
              <a:t>28.2 THE CYBER KILL CHAIN • STAGES 1 - 3</a:t>
            </a:r>
          </a:p>
          <a:p>
            <a:pPr>
              <a:defRPr sz="1900" b="1">
                <a:solidFill>
                  <a:srgbClr val="FFFFFF"/>
                </a:solidFill>
                <a:latin typeface="Segoe UI"/>
              </a:defRPr>
            </a:pPr>
            <a:r>
              <a:t>The Cyber Kill Chain: Stages 1 to 3</a:t>
            </a:r>
          </a:p>
        </p:txBody>
      </p:sp>
      <p:sp>
        <p:nvSpPr>
          <p:cNvPr id="8" name="TextBox 7"/>
          <p:cNvSpPr txBox="1"/>
          <p:nvPr/>
        </p:nvSpPr>
        <p:spPr>
          <a:xfrm>
            <a:off x="9601200" y="182880"/>
            <a:ext cx="2103120" cy="640080"/>
          </a:xfrm>
          <a:prstGeom prst="rect">
            <a:avLst/>
          </a:prstGeom>
          <a:noFill/>
        </p:spPr>
        <p:txBody>
          <a:bodyPr wrap="none">
            <a:spAutoFit/>
          </a:bodyPr>
          <a:lstStyle/>
          <a:p>
            <a:pPr algn="r">
              <a:defRPr sz="1200" b="1">
                <a:solidFill>
                  <a:srgbClr val="F59E0B"/>
                </a:solidFill>
                <a:latin typeface="Segoe UI"/>
              </a:defRPr>
            </a:pPr>
            <a:r>
              <a:t>UNIZULU CSIRT</a:t>
            </a:r>
          </a:p>
          <a:p>
            <a:pPr algn="r">
              <a:defRPr sz="1000">
                <a:solidFill>
                  <a:srgbClr val="FFFFFF"/>
                </a:solidFill>
                <a:latin typeface="Segoe UI"/>
              </a:defRPr>
            </a:pPr>
            <a:r>
              <a:t>Module 28 • CyberOps</a:t>
            </a:r>
          </a:p>
        </p:txBody>
      </p:sp>
      <p:sp>
        <p:nvSpPr>
          <p:cNvPr id="9" name="Rectangle 8"/>
          <p:cNvSpPr/>
          <p:nvPr/>
        </p:nvSpPr>
        <p:spPr>
          <a:xfrm>
            <a:off x="0" y="6446520"/>
            <a:ext cx="12191695" cy="411480"/>
          </a:xfrm>
          <a:prstGeom prst="rect">
            <a:avLst/>
          </a:prstGeom>
          <a:solidFill>
            <a:srgbClr val="0018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428232"/>
            <a:ext cx="12191695" cy="18288"/>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473952"/>
            <a:ext cx="8229600" cy="320040"/>
          </a:xfrm>
          <a:prstGeom prst="rect">
            <a:avLst/>
          </a:prstGeom>
          <a:noFill/>
        </p:spPr>
        <p:txBody>
          <a:bodyPr wrap="none">
            <a:spAutoFit/>
          </a:bodyPr>
          <a:lstStyle/>
          <a:p>
            <a:pPr>
              <a:defRPr sz="950">
                <a:solidFill>
                  <a:srgbClr val="FEF3C7"/>
                </a:solidFill>
                <a:latin typeface="Segoe UI"/>
              </a:defRPr>
            </a:pPr>
            <a:r>
              <a:t>University of Zululand • Faculty of Science, Agriculture &amp; Technology • Department of Computer Science</a:t>
            </a:r>
          </a:p>
        </p:txBody>
      </p:sp>
      <p:sp>
        <p:nvSpPr>
          <p:cNvPr id="12" name="TextBox 11"/>
          <p:cNvSpPr txBox="1"/>
          <p:nvPr/>
        </p:nvSpPr>
        <p:spPr>
          <a:xfrm>
            <a:off x="9601200" y="6473952"/>
            <a:ext cx="2103120" cy="320040"/>
          </a:xfrm>
          <a:prstGeom prst="rect">
            <a:avLst/>
          </a:prstGeom>
          <a:noFill/>
        </p:spPr>
        <p:txBody>
          <a:bodyPr wrap="none">
            <a:spAutoFit/>
          </a:bodyPr>
          <a:lstStyle/>
          <a:p>
            <a:pPr algn="r">
              <a:defRPr sz="1000" b="1">
                <a:solidFill>
                  <a:srgbClr val="FFFFFF"/>
                </a:solidFill>
                <a:latin typeface="Segoe UI"/>
              </a:defRPr>
            </a:pPr>
            <a:r>
              <a:t>Slide 10 of 26</a:t>
            </a:r>
          </a:p>
        </p:txBody>
      </p:sp>
      <p:sp>
        <p:nvSpPr>
          <p:cNvPr id="13" name="Rounded Rectangle 12"/>
          <p:cNvSpPr/>
          <p:nvPr/>
        </p:nvSpPr>
        <p:spPr>
          <a:xfrm>
            <a:off x="548640" y="1325880"/>
            <a:ext cx="3520440" cy="4754880"/>
          </a:xfrm>
          <a:prstGeom prst="roundRect">
            <a:avLst/>
          </a:prstGeom>
          <a:solidFill>
            <a:srgbClr val="F8FAFC"/>
          </a:solidFill>
          <a:ln w="19050">
            <a:solidFill>
              <a:srgbClr val="0028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 y="1463040"/>
            <a:ext cx="3191256" cy="4480560"/>
          </a:xfrm>
          <a:prstGeom prst="rect">
            <a:avLst/>
          </a:prstGeom>
          <a:noFill/>
        </p:spPr>
        <p:txBody>
          <a:bodyPr wrap="square">
            <a:spAutoFit/>
          </a:bodyPr>
          <a:lstStyle/>
          <a:p>
            <a:pPr>
              <a:defRPr sz="1400" b="1">
                <a:solidFill>
                  <a:srgbClr val="002855"/>
                </a:solidFill>
                <a:latin typeface="Segoe UI"/>
              </a:defRPr>
            </a:pPr>
            <a:r>
              <a:t>1. Reconnaissance</a:t>
            </a:r>
          </a:p>
          <a:p>
            <a:pPr>
              <a:spcBef>
                <a:spcPts val="400"/>
              </a:spcBef>
              <a:defRPr sz="1050">
                <a:solidFill>
                  <a:srgbClr val="1E293B"/>
                </a:solidFill>
                <a:latin typeface="Segoe UI"/>
              </a:defRPr>
            </a:pPr>
            <a:r>
              <a:t>•  Adversary: Harvests emails, scans open ports, searches social media (LinkedIn, Twitter), and queries WHOIS databases.</a:t>
            </a:r>
          </a:p>
          <a:p>
            <a:pPr>
              <a:spcBef>
                <a:spcPts val="400"/>
              </a:spcBef>
              <a:defRPr sz="1050">
                <a:solidFill>
                  <a:srgbClr val="1E293B"/>
                </a:solidFill>
                <a:latin typeface="Segoe UI"/>
              </a:defRPr>
            </a:pPr>
            <a:r>
              <a:t>•  Objective: Identify vulnerable systems and high-value employee targets.</a:t>
            </a:r>
          </a:p>
          <a:p>
            <a:pPr>
              <a:spcBef>
                <a:spcPts val="400"/>
              </a:spcBef>
              <a:defRPr sz="1050">
                <a:solidFill>
                  <a:srgbClr val="1E293B"/>
                </a:solidFill>
                <a:latin typeface="Segoe UI"/>
              </a:defRPr>
            </a:pPr>
            <a:r>
              <a:t>•  SOC Defenses: Monitor web server and firewall logs; analyze border router traffic; minimize publicly exposed employee directory information.</a:t>
            </a:r>
          </a:p>
        </p:txBody>
      </p:sp>
      <p:sp>
        <p:nvSpPr>
          <p:cNvPr id="15" name="Rounded Rectangle 14"/>
          <p:cNvSpPr/>
          <p:nvPr/>
        </p:nvSpPr>
        <p:spPr>
          <a:xfrm>
            <a:off x="4343400" y="1325880"/>
            <a:ext cx="3520440" cy="4754880"/>
          </a:xfrm>
          <a:prstGeom prst="roundRect">
            <a:avLst/>
          </a:prstGeom>
          <a:solidFill>
            <a:srgbClr val="F8FAFC"/>
          </a:solidFill>
          <a:ln w="19050">
            <a:solidFill>
              <a:srgbClr val="0028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07992" y="1463040"/>
            <a:ext cx="3191256" cy="4480560"/>
          </a:xfrm>
          <a:prstGeom prst="rect">
            <a:avLst/>
          </a:prstGeom>
          <a:noFill/>
        </p:spPr>
        <p:txBody>
          <a:bodyPr wrap="square">
            <a:spAutoFit/>
          </a:bodyPr>
          <a:lstStyle/>
          <a:p>
            <a:pPr>
              <a:defRPr sz="1400" b="1">
                <a:solidFill>
                  <a:srgbClr val="002855"/>
                </a:solidFill>
                <a:latin typeface="Segoe UI"/>
              </a:defRPr>
            </a:pPr>
            <a:r>
              <a:t>2. Weaponization</a:t>
            </a:r>
          </a:p>
          <a:p>
            <a:pPr>
              <a:spcBef>
                <a:spcPts val="400"/>
              </a:spcBef>
              <a:defRPr sz="1050">
                <a:solidFill>
                  <a:srgbClr val="1E293B"/>
                </a:solidFill>
                <a:latin typeface="Segoe UI"/>
              </a:defRPr>
            </a:pPr>
            <a:r>
              <a:t>•  Adversary: Couples a backdoor payload with an exploit designed for an identified target vulnerability (e.g., PDF or Office macro).</a:t>
            </a:r>
          </a:p>
          <a:p>
            <a:pPr>
              <a:spcBef>
                <a:spcPts val="400"/>
              </a:spcBef>
              <a:defRPr sz="1050">
                <a:solidFill>
                  <a:srgbClr val="1E293B"/>
                </a:solidFill>
                <a:latin typeface="Segoe UI"/>
              </a:defRPr>
            </a:pPr>
            <a:r>
              <a:t>•  Objective: Create an automated weaponizer package ready for transmission.</a:t>
            </a:r>
          </a:p>
          <a:p>
            <a:pPr>
              <a:spcBef>
                <a:spcPts val="400"/>
              </a:spcBef>
              <a:defRPr sz="1050">
                <a:solidFill>
                  <a:srgbClr val="1E293B"/>
                </a:solidFill>
                <a:latin typeface="Segoe UI"/>
              </a:defRPr>
            </a:pPr>
            <a:r>
              <a:t>•  SOC Defenses: Threat intelligence feeds; updating IDS/IPS detection rules; analyzing malware artifacts in an isolated sandbox.</a:t>
            </a:r>
          </a:p>
        </p:txBody>
      </p:sp>
      <p:sp>
        <p:nvSpPr>
          <p:cNvPr id="17" name="Rounded Rectangle 16"/>
          <p:cNvSpPr/>
          <p:nvPr/>
        </p:nvSpPr>
        <p:spPr>
          <a:xfrm>
            <a:off x="8138160" y="1325880"/>
            <a:ext cx="3520440" cy="4754880"/>
          </a:xfrm>
          <a:prstGeom prst="roundRect">
            <a:avLst/>
          </a:prstGeom>
          <a:solidFill>
            <a:srgbClr val="F8FAFC"/>
          </a:solidFill>
          <a:ln w="19050">
            <a:solidFill>
              <a:srgbClr val="0028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2752" y="1463040"/>
            <a:ext cx="3191256" cy="4480560"/>
          </a:xfrm>
          <a:prstGeom prst="rect">
            <a:avLst/>
          </a:prstGeom>
          <a:noFill/>
        </p:spPr>
        <p:txBody>
          <a:bodyPr wrap="square">
            <a:spAutoFit/>
          </a:bodyPr>
          <a:lstStyle/>
          <a:p>
            <a:pPr>
              <a:defRPr sz="1400" b="1">
                <a:solidFill>
                  <a:srgbClr val="002855"/>
                </a:solidFill>
                <a:latin typeface="Segoe UI"/>
              </a:defRPr>
            </a:pPr>
            <a:r>
              <a:t>3. Delivery</a:t>
            </a:r>
          </a:p>
          <a:p>
            <a:pPr>
              <a:spcBef>
                <a:spcPts val="400"/>
              </a:spcBef>
              <a:defRPr sz="1050">
                <a:solidFill>
                  <a:srgbClr val="1E293B"/>
                </a:solidFill>
                <a:latin typeface="Segoe UI"/>
              </a:defRPr>
            </a:pPr>
            <a:r>
              <a:t>•  Adversary: Transmits the weaponized payload to the victim via spearphishing email attachment, compromised web link, or infected USB drive.</a:t>
            </a:r>
          </a:p>
          <a:p>
            <a:pPr>
              <a:spcBef>
                <a:spcPts val="400"/>
              </a:spcBef>
              <a:defRPr sz="1050">
                <a:solidFill>
                  <a:srgbClr val="1E293B"/>
                </a:solidFill>
                <a:latin typeface="Segoe UI"/>
              </a:defRPr>
            </a:pPr>
            <a:r>
              <a:t>•  Objective: Place the weaponized file into the target organization's boundary.</a:t>
            </a:r>
          </a:p>
          <a:p>
            <a:pPr>
              <a:spcBef>
                <a:spcPts val="400"/>
              </a:spcBef>
              <a:defRPr sz="1050">
                <a:solidFill>
                  <a:srgbClr val="1E293B"/>
                </a:solidFill>
                <a:latin typeface="Segoe UI"/>
              </a:defRPr>
            </a:pPr>
            <a:r>
              <a:t>•  SOC Defenses: Email attachment filtering &amp; sandboxing; proxy log inspection; endpoint USB port control policies.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unizulu_watermark.png"/>
          <p:cNvPicPr>
            <a:picLocks noChangeAspect="1"/>
          </p:cNvPicPr>
          <p:nvPr/>
        </p:nvPicPr>
        <p:blipFill>
          <a:blip r:embed="rId2"/>
          <a:stretch>
            <a:fillRect/>
          </a:stretch>
        </p:blipFill>
        <p:spPr>
          <a:xfrm>
            <a:off x="4206240" y="1188720"/>
            <a:ext cx="3840480" cy="4800600"/>
          </a:xfrm>
          <a:prstGeom prst="rect">
            <a:avLst/>
          </a:prstGeom>
        </p:spPr>
      </p:pic>
      <p:sp>
        <p:nvSpPr>
          <p:cNvPr id="4" name="Rectangle 3"/>
          <p:cNvSpPr/>
          <p:nvPr/>
        </p:nvSpPr>
        <p:spPr>
          <a:xfrm>
            <a:off x="0" y="0"/>
            <a:ext cx="12191695" cy="1051560"/>
          </a:xfrm>
          <a:prstGeom prst="rect">
            <a:avLst/>
          </a:prstGeom>
          <a:solidFill>
            <a:srgbClr val="002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1051560"/>
            <a:ext cx="12191695"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unizulu_logo.png"/>
          <p:cNvPicPr>
            <a:picLocks noChangeAspect="1"/>
          </p:cNvPicPr>
          <p:nvPr/>
        </p:nvPicPr>
        <p:blipFill>
          <a:blip r:embed="rId3"/>
          <a:stretch>
            <a:fillRect/>
          </a:stretch>
        </p:blipFill>
        <p:spPr>
          <a:xfrm>
            <a:off x="457200" y="109728"/>
            <a:ext cx="658368" cy="822960"/>
          </a:xfrm>
          <a:prstGeom prst="rect">
            <a:avLst/>
          </a:prstGeom>
        </p:spPr>
      </p:pic>
      <p:sp>
        <p:nvSpPr>
          <p:cNvPr id="7" name="TextBox 6"/>
          <p:cNvSpPr txBox="1"/>
          <p:nvPr/>
        </p:nvSpPr>
        <p:spPr>
          <a:xfrm>
            <a:off x="1280160" y="109728"/>
            <a:ext cx="8961120" cy="822960"/>
          </a:xfrm>
          <a:prstGeom prst="rect">
            <a:avLst/>
          </a:prstGeom>
          <a:noFill/>
        </p:spPr>
        <p:txBody>
          <a:bodyPr wrap="square">
            <a:spAutoFit/>
          </a:bodyPr>
          <a:lstStyle/>
          <a:p>
            <a:pPr>
              <a:defRPr sz="1000" b="1">
                <a:solidFill>
                  <a:srgbClr val="F59E0B"/>
                </a:solidFill>
                <a:latin typeface="Segoe UI"/>
              </a:defRPr>
            </a:pPr>
            <a:r>
              <a:t>28.2 CYBER KILL CHAIN • MASTER TACTICAL DIAGRAM</a:t>
            </a:r>
          </a:p>
          <a:p>
            <a:pPr>
              <a:defRPr sz="1900" b="1">
                <a:solidFill>
                  <a:srgbClr val="FFFFFF"/>
                </a:solidFill>
                <a:latin typeface="Segoe UI"/>
              </a:defRPr>
            </a:pPr>
            <a:r>
              <a:t>Lockheed Martin Kill Chain: Adversary vs. SOC Defenses</a:t>
            </a:r>
          </a:p>
        </p:txBody>
      </p:sp>
      <p:sp>
        <p:nvSpPr>
          <p:cNvPr id="8" name="TextBox 7"/>
          <p:cNvSpPr txBox="1"/>
          <p:nvPr/>
        </p:nvSpPr>
        <p:spPr>
          <a:xfrm>
            <a:off x="9601200" y="182880"/>
            <a:ext cx="2103120" cy="640080"/>
          </a:xfrm>
          <a:prstGeom prst="rect">
            <a:avLst/>
          </a:prstGeom>
          <a:noFill/>
        </p:spPr>
        <p:txBody>
          <a:bodyPr wrap="none">
            <a:spAutoFit/>
          </a:bodyPr>
          <a:lstStyle/>
          <a:p>
            <a:pPr algn="r">
              <a:defRPr sz="1200" b="1">
                <a:solidFill>
                  <a:srgbClr val="F59E0B"/>
                </a:solidFill>
                <a:latin typeface="Segoe UI"/>
              </a:defRPr>
            </a:pPr>
            <a:r>
              <a:t>UNIZULU CSIRT</a:t>
            </a:r>
          </a:p>
          <a:p>
            <a:pPr algn="r">
              <a:defRPr sz="1000">
                <a:solidFill>
                  <a:srgbClr val="FFFFFF"/>
                </a:solidFill>
                <a:latin typeface="Segoe UI"/>
              </a:defRPr>
            </a:pPr>
            <a:r>
              <a:t>Module 28 • CyberOps</a:t>
            </a:r>
          </a:p>
        </p:txBody>
      </p:sp>
      <p:sp>
        <p:nvSpPr>
          <p:cNvPr id="9" name="Rectangle 8"/>
          <p:cNvSpPr/>
          <p:nvPr/>
        </p:nvSpPr>
        <p:spPr>
          <a:xfrm>
            <a:off x="0" y="6446520"/>
            <a:ext cx="12191695" cy="411480"/>
          </a:xfrm>
          <a:prstGeom prst="rect">
            <a:avLst/>
          </a:prstGeom>
          <a:solidFill>
            <a:srgbClr val="0018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428232"/>
            <a:ext cx="12191695" cy="18288"/>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473952"/>
            <a:ext cx="8229600" cy="320040"/>
          </a:xfrm>
          <a:prstGeom prst="rect">
            <a:avLst/>
          </a:prstGeom>
          <a:noFill/>
        </p:spPr>
        <p:txBody>
          <a:bodyPr wrap="none">
            <a:spAutoFit/>
          </a:bodyPr>
          <a:lstStyle/>
          <a:p>
            <a:pPr>
              <a:defRPr sz="950">
                <a:solidFill>
                  <a:srgbClr val="FEF3C7"/>
                </a:solidFill>
                <a:latin typeface="Segoe UI"/>
              </a:defRPr>
            </a:pPr>
            <a:r>
              <a:t>University of Zululand • Faculty of Science, Agriculture &amp; Technology • Department of Computer Science</a:t>
            </a:r>
          </a:p>
        </p:txBody>
      </p:sp>
      <p:sp>
        <p:nvSpPr>
          <p:cNvPr id="12" name="TextBox 11"/>
          <p:cNvSpPr txBox="1"/>
          <p:nvPr/>
        </p:nvSpPr>
        <p:spPr>
          <a:xfrm>
            <a:off x="9601200" y="6473952"/>
            <a:ext cx="2103120" cy="320040"/>
          </a:xfrm>
          <a:prstGeom prst="rect">
            <a:avLst/>
          </a:prstGeom>
          <a:noFill/>
        </p:spPr>
        <p:txBody>
          <a:bodyPr wrap="none">
            <a:spAutoFit/>
          </a:bodyPr>
          <a:lstStyle/>
          <a:p>
            <a:pPr algn="r">
              <a:defRPr sz="1000" b="1">
                <a:solidFill>
                  <a:srgbClr val="FFFFFF"/>
                </a:solidFill>
                <a:latin typeface="Segoe UI"/>
              </a:defRPr>
            </a:pPr>
            <a:r>
              <a:t>Slide 11 of 26</a:t>
            </a:r>
          </a:p>
        </p:txBody>
      </p:sp>
      <p:sp>
        <p:nvSpPr>
          <p:cNvPr id="13" name="Rounded Rectangle 12"/>
          <p:cNvSpPr/>
          <p:nvPr/>
        </p:nvSpPr>
        <p:spPr>
          <a:xfrm>
            <a:off x="502920" y="1234440"/>
            <a:ext cx="6858000" cy="4937760"/>
          </a:xfrm>
          <a:prstGeom prst="roundRect">
            <a:avLst/>
          </a:prstGeom>
          <a:solidFill>
            <a:srgbClr val="FFFFFF"/>
          </a:solidFill>
          <a:ln w="25400">
            <a:solidFill>
              <a:srgbClr val="0028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01daa9c8-a4d3-43bc-832f-f1098f6cd5df.jfif"/>
          <p:cNvPicPr>
            <a:picLocks noChangeAspect="1"/>
          </p:cNvPicPr>
          <p:nvPr/>
        </p:nvPicPr>
        <p:blipFill>
          <a:blip r:embed="rId5"/>
          <a:stretch>
            <a:fillRect/>
          </a:stretch>
        </p:blipFill>
        <p:spPr>
          <a:xfrm>
            <a:off x="640080" y="1371600"/>
            <a:ext cx="6583680" cy="3594021"/>
          </a:xfrm>
          <a:prstGeom prst="rect">
            <a:avLst/>
          </a:prstGeom>
        </p:spPr>
      </p:pic>
      <p:sp>
        <p:nvSpPr>
          <p:cNvPr id="15" name="Rectangle 14"/>
          <p:cNvSpPr/>
          <p:nvPr/>
        </p:nvSpPr>
        <p:spPr>
          <a:xfrm>
            <a:off x="502920" y="5806440"/>
            <a:ext cx="6858000" cy="365760"/>
          </a:xfrm>
          <a:prstGeom prst="rect">
            <a:avLst/>
          </a:prstGeom>
          <a:solidFill>
            <a:srgbClr val="002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59E0B"/>
                </a:solidFill>
                <a:latin typeface="Segoe UI"/>
              </a:defRPr>
            </a:pPr>
            <a:r>
              <a:t>Cisco CyberOps Associate • Module 28 Master Architecture Diagram</a:t>
            </a:r>
          </a:p>
        </p:txBody>
      </p:sp>
      <p:sp>
        <p:nvSpPr>
          <p:cNvPr id="16" name="Rounded Rectangle 15"/>
          <p:cNvSpPr/>
          <p:nvPr/>
        </p:nvSpPr>
        <p:spPr>
          <a:xfrm>
            <a:off x="7543800" y="1234440"/>
            <a:ext cx="4160520" cy="1536192"/>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80960" y="1307592"/>
            <a:ext cx="3886200" cy="1389888"/>
          </a:xfrm>
          <a:prstGeom prst="rect">
            <a:avLst/>
          </a:prstGeom>
          <a:noFill/>
        </p:spPr>
        <p:txBody>
          <a:bodyPr wrap="square">
            <a:spAutoFit/>
          </a:bodyPr>
          <a:lstStyle/>
          <a:p>
            <a:pPr>
              <a:defRPr sz="1200" b="1">
                <a:solidFill>
                  <a:srgbClr val="002855"/>
                </a:solidFill>
                <a:latin typeface="Segoe UI"/>
              </a:defRPr>
            </a:pPr>
            <a:r>
              <a:t>Sequential Attack Traversal</a:t>
            </a:r>
          </a:p>
          <a:p>
            <a:pPr>
              <a:spcBef>
                <a:spcPts val="300"/>
              </a:spcBef>
              <a:defRPr sz="1000">
                <a:solidFill>
                  <a:srgbClr val="1E293B"/>
                </a:solidFill>
                <a:latin typeface="Segoe UI"/>
              </a:defRPr>
            </a:pPr>
            <a:r>
              <a:t>Adversary traverses 7 linear phases from Reconnaissance to Actions on Objectives. Breaking any single link halts the campaign and prevents adversary objective completion.</a:t>
            </a:r>
          </a:p>
        </p:txBody>
      </p:sp>
      <p:sp>
        <p:nvSpPr>
          <p:cNvPr id="18" name="Rounded Rectangle 17"/>
          <p:cNvSpPr/>
          <p:nvPr/>
        </p:nvSpPr>
        <p:spPr>
          <a:xfrm>
            <a:off x="7543800" y="2935224"/>
            <a:ext cx="4160520" cy="1536192"/>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680960" y="3008376"/>
            <a:ext cx="3886200" cy="1389888"/>
          </a:xfrm>
          <a:prstGeom prst="rect">
            <a:avLst/>
          </a:prstGeom>
          <a:noFill/>
        </p:spPr>
        <p:txBody>
          <a:bodyPr wrap="square">
            <a:spAutoFit/>
          </a:bodyPr>
          <a:lstStyle/>
          <a:p>
            <a:pPr>
              <a:defRPr sz="1200" b="1">
                <a:solidFill>
                  <a:srgbClr val="002855"/>
                </a:solidFill>
                <a:latin typeface="Segoe UI"/>
              </a:defRPr>
            </a:pPr>
            <a:r>
              <a:t>The Defensive Breakpoint</a:t>
            </a:r>
          </a:p>
          <a:p>
            <a:pPr>
              <a:spcBef>
                <a:spcPts val="300"/>
              </a:spcBef>
              <a:defRPr sz="1000">
                <a:solidFill>
                  <a:srgbClr val="1E293B"/>
                </a:solidFill>
                <a:latin typeface="Segoe UI"/>
              </a:defRPr>
            </a:pPr>
            <a:r>
              <a:t>The window between Delivery, Exploit Execution, and Persistence represents the SOC's highest leverage point to neutralize threats before lateral movement occurs.</a:t>
            </a:r>
          </a:p>
        </p:txBody>
      </p:sp>
      <p:sp>
        <p:nvSpPr>
          <p:cNvPr id="20" name="Rounded Rectangle 19"/>
          <p:cNvSpPr/>
          <p:nvPr/>
        </p:nvSpPr>
        <p:spPr>
          <a:xfrm>
            <a:off x="7543800" y="4636008"/>
            <a:ext cx="4160520" cy="1536192"/>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680960" y="4709160"/>
            <a:ext cx="3886200" cy="1389888"/>
          </a:xfrm>
          <a:prstGeom prst="rect">
            <a:avLst/>
          </a:prstGeom>
          <a:noFill/>
        </p:spPr>
        <p:txBody>
          <a:bodyPr wrap="square">
            <a:spAutoFit/>
          </a:bodyPr>
          <a:lstStyle/>
          <a:p>
            <a:pPr>
              <a:defRPr sz="1200" b="1">
                <a:solidFill>
                  <a:srgbClr val="002855"/>
                </a:solidFill>
                <a:latin typeface="Segoe UI"/>
              </a:defRPr>
            </a:pPr>
            <a:r>
              <a:t>Defense-in-Depth Layering</a:t>
            </a:r>
          </a:p>
          <a:p>
            <a:pPr>
              <a:spcBef>
                <a:spcPts val="300"/>
              </a:spcBef>
              <a:defRPr sz="1000">
                <a:solidFill>
                  <a:srgbClr val="1E293B"/>
                </a:solidFill>
                <a:latin typeface="Segoe UI"/>
              </a:defRPr>
            </a:pPr>
            <a:r>
              <a:t>Aligns network sensors, endpoint HIPS, DNS sinkholing, email sandboxing, and rapid containment playbooks directly against corresponding attack phases.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unizulu_watermark.png"/>
          <p:cNvPicPr>
            <a:picLocks noChangeAspect="1"/>
          </p:cNvPicPr>
          <p:nvPr/>
        </p:nvPicPr>
        <p:blipFill>
          <a:blip r:embed="rId2"/>
          <a:stretch>
            <a:fillRect/>
          </a:stretch>
        </p:blipFill>
        <p:spPr>
          <a:xfrm>
            <a:off x="4206240" y="1188720"/>
            <a:ext cx="3840480" cy="4800600"/>
          </a:xfrm>
          <a:prstGeom prst="rect">
            <a:avLst/>
          </a:prstGeom>
        </p:spPr>
      </p:pic>
      <p:sp>
        <p:nvSpPr>
          <p:cNvPr id="4" name="Rectangle 3"/>
          <p:cNvSpPr/>
          <p:nvPr/>
        </p:nvSpPr>
        <p:spPr>
          <a:xfrm>
            <a:off x="0" y="0"/>
            <a:ext cx="12191695" cy="1051560"/>
          </a:xfrm>
          <a:prstGeom prst="rect">
            <a:avLst/>
          </a:prstGeom>
          <a:solidFill>
            <a:srgbClr val="002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1051560"/>
            <a:ext cx="12191695"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unizulu_logo.png"/>
          <p:cNvPicPr>
            <a:picLocks noChangeAspect="1"/>
          </p:cNvPicPr>
          <p:nvPr/>
        </p:nvPicPr>
        <p:blipFill>
          <a:blip r:embed="rId3"/>
          <a:stretch>
            <a:fillRect/>
          </a:stretch>
        </p:blipFill>
        <p:spPr>
          <a:xfrm>
            <a:off x="457200" y="109728"/>
            <a:ext cx="658368" cy="822960"/>
          </a:xfrm>
          <a:prstGeom prst="rect">
            <a:avLst/>
          </a:prstGeom>
        </p:spPr>
      </p:pic>
      <p:sp>
        <p:nvSpPr>
          <p:cNvPr id="7" name="TextBox 6"/>
          <p:cNvSpPr txBox="1"/>
          <p:nvPr/>
        </p:nvSpPr>
        <p:spPr>
          <a:xfrm>
            <a:off x="1280160" y="109728"/>
            <a:ext cx="8961120" cy="822960"/>
          </a:xfrm>
          <a:prstGeom prst="rect">
            <a:avLst/>
          </a:prstGeom>
          <a:noFill/>
        </p:spPr>
        <p:txBody>
          <a:bodyPr wrap="square">
            <a:spAutoFit/>
          </a:bodyPr>
          <a:lstStyle/>
          <a:p>
            <a:pPr>
              <a:defRPr sz="1000" b="1">
                <a:solidFill>
                  <a:srgbClr val="F59E0B"/>
                </a:solidFill>
                <a:latin typeface="Segoe UI"/>
              </a:defRPr>
            </a:pPr>
            <a:r>
              <a:t>28.2 THE CYBER KILL CHAIN • STAGES 4 - 7</a:t>
            </a:r>
          </a:p>
          <a:p>
            <a:pPr>
              <a:defRPr sz="1900" b="1">
                <a:solidFill>
                  <a:srgbClr val="FFFFFF"/>
                </a:solidFill>
                <a:latin typeface="Segoe UI"/>
              </a:defRPr>
            </a:pPr>
            <a:r>
              <a:t>The Cyber Kill Chain: Stages 4 to 7</a:t>
            </a:r>
          </a:p>
        </p:txBody>
      </p:sp>
      <p:sp>
        <p:nvSpPr>
          <p:cNvPr id="8" name="TextBox 7"/>
          <p:cNvSpPr txBox="1"/>
          <p:nvPr/>
        </p:nvSpPr>
        <p:spPr>
          <a:xfrm>
            <a:off x="9601200" y="182880"/>
            <a:ext cx="2103120" cy="640080"/>
          </a:xfrm>
          <a:prstGeom prst="rect">
            <a:avLst/>
          </a:prstGeom>
          <a:noFill/>
        </p:spPr>
        <p:txBody>
          <a:bodyPr wrap="none">
            <a:spAutoFit/>
          </a:bodyPr>
          <a:lstStyle/>
          <a:p>
            <a:pPr algn="r">
              <a:defRPr sz="1200" b="1">
                <a:solidFill>
                  <a:srgbClr val="F59E0B"/>
                </a:solidFill>
                <a:latin typeface="Segoe UI"/>
              </a:defRPr>
            </a:pPr>
            <a:r>
              <a:t>UNIZULU CSIRT</a:t>
            </a:r>
          </a:p>
          <a:p>
            <a:pPr algn="r">
              <a:defRPr sz="1000">
                <a:solidFill>
                  <a:srgbClr val="FFFFFF"/>
                </a:solidFill>
                <a:latin typeface="Segoe UI"/>
              </a:defRPr>
            </a:pPr>
            <a:r>
              <a:t>Module 28 • CyberOps</a:t>
            </a:r>
          </a:p>
        </p:txBody>
      </p:sp>
      <p:sp>
        <p:nvSpPr>
          <p:cNvPr id="9" name="Rectangle 8"/>
          <p:cNvSpPr/>
          <p:nvPr/>
        </p:nvSpPr>
        <p:spPr>
          <a:xfrm>
            <a:off x="0" y="6446520"/>
            <a:ext cx="12191695" cy="411480"/>
          </a:xfrm>
          <a:prstGeom prst="rect">
            <a:avLst/>
          </a:prstGeom>
          <a:solidFill>
            <a:srgbClr val="0018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428232"/>
            <a:ext cx="12191695" cy="18288"/>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473952"/>
            <a:ext cx="8229600" cy="320040"/>
          </a:xfrm>
          <a:prstGeom prst="rect">
            <a:avLst/>
          </a:prstGeom>
          <a:noFill/>
        </p:spPr>
        <p:txBody>
          <a:bodyPr wrap="none">
            <a:spAutoFit/>
          </a:bodyPr>
          <a:lstStyle/>
          <a:p>
            <a:pPr>
              <a:defRPr sz="950">
                <a:solidFill>
                  <a:srgbClr val="FEF3C7"/>
                </a:solidFill>
                <a:latin typeface="Segoe UI"/>
              </a:defRPr>
            </a:pPr>
            <a:r>
              <a:t>University of Zululand • Faculty of Science, Agriculture &amp; Technology • Department of Computer Science</a:t>
            </a:r>
          </a:p>
        </p:txBody>
      </p:sp>
      <p:sp>
        <p:nvSpPr>
          <p:cNvPr id="12" name="TextBox 11"/>
          <p:cNvSpPr txBox="1"/>
          <p:nvPr/>
        </p:nvSpPr>
        <p:spPr>
          <a:xfrm>
            <a:off x="9601200" y="6473952"/>
            <a:ext cx="2103120" cy="320040"/>
          </a:xfrm>
          <a:prstGeom prst="rect">
            <a:avLst/>
          </a:prstGeom>
          <a:noFill/>
        </p:spPr>
        <p:txBody>
          <a:bodyPr wrap="none">
            <a:spAutoFit/>
          </a:bodyPr>
          <a:lstStyle/>
          <a:p>
            <a:pPr algn="r">
              <a:defRPr sz="1000" b="1">
                <a:solidFill>
                  <a:srgbClr val="FFFFFF"/>
                </a:solidFill>
                <a:latin typeface="Segoe UI"/>
              </a:defRPr>
            </a:pPr>
            <a:r>
              <a:t>Slide 12 of 26</a:t>
            </a:r>
          </a:p>
        </p:txBody>
      </p:sp>
      <p:sp>
        <p:nvSpPr>
          <p:cNvPr id="13" name="Rounded Rectangle 12"/>
          <p:cNvSpPr/>
          <p:nvPr/>
        </p:nvSpPr>
        <p:spPr>
          <a:xfrm>
            <a:off x="548640" y="1325880"/>
            <a:ext cx="2606040" cy="4754880"/>
          </a:xfrm>
          <a:prstGeom prst="roundRect">
            <a:avLst/>
          </a:prstGeom>
          <a:solidFill>
            <a:srgbClr val="F8FAFC"/>
          </a:solidFill>
          <a:ln w="19050">
            <a:solidFill>
              <a:srgbClr val="0028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 y="1463040"/>
            <a:ext cx="2276856" cy="4480560"/>
          </a:xfrm>
          <a:prstGeom prst="rect">
            <a:avLst/>
          </a:prstGeom>
          <a:noFill/>
        </p:spPr>
        <p:txBody>
          <a:bodyPr wrap="square">
            <a:spAutoFit/>
          </a:bodyPr>
          <a:lstStyle/>
          <a:p>
            <a:pPr>
              <a:defRPr sz="1400" b="1">
                <a:solidFill>
                  <a:srgbClr val="002855"/>
                </a:solidFill>
                <a:latin typeface="Segoe UI"/>
              </a:defRPr>
            </a:pPr>
            <a:r>
              <a:t>4. Exploitation</a:t>
            </a:r>
          </a:p>
          <a:p>
            <a:pPr>
              <a:spcBef>
                <a:spcPts val="400"/>
              </a:spcBef>
              <a:defRPr sz="1050">
                <a:solidFill>
                  <a:srgbClr val="1E293B"/>
                </a:solidFill>
                <a:latin typeface="Segoe UI"/>
              </a:defRPr>
            </a:pPr>
            <a:r>
              <a:t>•  Adversary: Malicious code triggers software vulnerability to gain code execution.</a:t>
            </a:r>
          </a:p>
          <a:p>
            <a:pPr>
              <a:spcBef>
                <a:spcPts val="400"/>
              </a:spcBef>
              <a:defRPr sz="1050">
                <a:solidFill>
                  <a:srgbClr val="1E293B"/>
                </a:solidFill>
                <a:latin typeface="Segoe UI"/>
              </a:defRPr>
            </a:pPr>
            <a:r>
              <a:t>•  Defense Breakpoint: Software patching, DEP/ASLR, endpoint hardening, user awareness training.</a:t>
            </a:r>
          </a:p>
        </p:txBody>
      </p:sp>
      <p:sp>
        <p:nvSpPr>
          <p:cNvPr id="15" name="Rounded Rectangle 14"/>
          <p:cNvSpPr/>
          <p:nvPr/>
        </p:nvSpPr>
        <p:spPr>
          <a:xfrm>
            <a:off x="3364992" y="1325880"/>
            <a:ext cx="2606040" cy="4754880"/>
          </a:xfrm>
          <a:prstGeom prst="roundRect">
            <a:avLst/>
          </a:prstGeom>
          <a:solidFill>
            <a:srgbClr val="F8FAFC"/>
          </a:solidFill>
          <a:ln w="19050">
            <a:solidFill>
              <a:srgbClr val="0028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29584" y="1463040"/>
            <a:ext cx="2276856" cy="4480560"/>
          </a:xfrm>
          <a:prstGeom prst="rect">
            <a:avLst/>
          </a:prstGeom>
          <a:noFill/>
        </p:spPr>
        <p:txBody>
          <a:bodyPr wrap="square">
            <a:spAutoFit/>
          </a:bodyPr>
          <a:lstStyle/>
          <a:p>
            <a:pPr>
              <a:defRPr sz="1400" b="1">
                <a:solidFill>
                  <a:srgbClr val="002855"/>
                </a:solidFill>
                <a:latin typeface="Segoe UI"/>
              </a:defRPr>
            </a:pPr>
            <a:r>
              <a:t>5. Installation</a:t>
            </a:r>
          </a:p>
          <a:p>
            <a:pPr>
              <a:spcBef>
                <a:spcPts val="400"/>
              </a:spcBef>
              <a:defRPr sz="1050">
                <a:solidFill>
                  <a:srgbClr val="1E293B"/>
                </a:solidFill>
                <a:latin typeface="Segoe UI"/>
              </a:defRPr>
            </a:pPr>
            <a:r>
              <a:t>•  Adversary: Installs persistent backdoor service, modifies registry Run keys or scheduled tasks.</a:t>
            </a:r>
          </a:p>
          <a:p>
            <a:pPr>
              <a:spcBef>
                <a:spcPts val="400"/>
              </a:spcBef>
              <a:defRPr sz="1050">
                <a:solidFill>
                  <a:srgbClr val="1E293B"/>
                </a:solidFill>
                <a:latin typeface="Segoe UI"/>
              </a:defRPr>
            </a:pPr>
            <a:r>
              <a:t>•  SOC Defenses: Host-based IPS (HIPS), endpoint detection &amp; response (EDR), file integrity monitoring.</a:t>
            </a:r>
          </a:p>
        </p:txBody>
      </p:sp>
      <p:sp>
        <p:nvSpPr>
          <p:cNvPr id="17" name="Rounded Rectangle 16"/>
          <p:cNvSpPr/>
          <p:nvPr/>
        </p:nvSpPr>
        <p:spPr>
          <a:xfrm>
            <a:off x="6181344" y="1325880"/>
            <a:ext cx="2606040" cy="4754880"/>
          </a:xfrm>
          <a:prstGeom prst="roundRect">
            <a:avLst/>
          </a:prstGeom>
          <a:solidFill>
            <a:srgbClr val="F8FAFC"/>
          </a:solidFill>
          <a:ln w="19050">
            <a:solidFill>
              <a:srgbClr val="0028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45936" y="1463040"/>
            <a:ext cx="2276856" cy="4480560"/>
          </a:xfrm>
          <a:prstGeom prst="rect">
            <a:avLst/>
          </a:prstGeom>
          <a:noFill/>
        </p:spPr>
        <p:txBody>
          <a:bodyPr wrap="square">
            <a:spAutoFit/>
          </a:bodyPr>
          <a:lstStyle/>
          <a:p>
            <a:pPr>
              <a:defRPr sz="1400" b="1">
                <a:solidFill>
                  <a:srgbClr val="002855"/>
                </a:solidFill>
                <a:latin typeface="Segoe UI"/>
              </a:defRPr>
            </a:pPr>
            <a:r>
              <a:t>6. Command &amp; Control (C2)</a:t>
            </a:r>
          </a:p>
          <a:p>
            <a:pPr>
              <a:spcBef>
                <a:spcPts val="400"/>
              </a:spcBef>
              <a:defRPr sz="1050">
                <a:solidFill>
                  <a:srgbClr val="1E293B"/>
                </a:solidFill>
                <a:latin typeface="Segoe UI"/>
              </a:defRPr>
            </a:pPr>
            <a:r>
              <a:t>•  Adversary: Opens bi-directional communication beacon (HTTPS/DNS) to external remote server.</a:t>
            </a:r>
          </a:p>
          <a:p>
            <a:pPr>
              <a:spcBef>
                <a:spcPts val="400"/>
              </a:spcBef>
              <a:defRPr sz="1050">
                <a:solidFill>
                  <a:srgbClr val="1E293B"/>
                </a:solidFill>
                <a:latin typeface="Segoe UI"/>
              </a:defRPr>
            </a:pPr>
            <a:r>
              <a:t>•  SOC Defenses: Outbound traffic anomaly detection, DNS sinkholing, SSL/TLS proxy inspection.</a:t>
            </a:r>
          </a:p>
        </p:txBody>
      </p:sp>
      <p:sp>
        <p:nvSpPr>
          <p:cNvPr id="19" name="Rounded Rectangle 18"/>
          <p:cNvSpPr/>
          <p:nvPr/>
        </p:nvSpPr>
        <p:spPr>
          <a:xfrm>
            <a:off x="8997696" y="1325880"/>
            <a:ext cx="2606040" cy="4754880"/>
          </a:xfrm>
          <a:prstGeom prst="roundRect">
            <a:avLst/>
          </a:prstGeom>
          <a:solidFill>
            <a:srgbClr val="F8FAFC"/>
          </a:solidFill>
          <a:ln w="19050">
            <a:solidFill>
              <a:srgbClr val="0028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62288" y="1463040"/>
            <a:ext cx="2276856" cy="4480560"/>
          </a:xfrm>
          <a:prstGeom prst="rect">
            <a:avLst/>
          </a:prstGeom>
          <a:noFill/>
        </p:spPr>
        <p:txBody>
          <a:bodyPr wrap="square">
            <a:spAutoFit/>
          </a:bodyPr>
          <a:lstStyle/>
          <a:p>
            <a:pPr>
              <a:defRPr sz="1400" b="1">
                <a:solidFill>
                  <a:srgbClr val="002855"/>
                </a:solidFill>
                <a:latin typeface="Segoe UI"/>
              </a:defRPr>
            </a:pPr>
            <a:r>
              <a:t>7. Actions on Objectives</a:t>
            </a:r>
          </a:p>
          <a:p>
            <a:pPr>
              <a:spcBef>
                <a:spcPts val="400"/>
              </a:spcBef>
              <a:defRPr sz="1050">
                <a:solidFill>
                  <a:srgbClr val="1E293B"/>
                </a:solidFill>
                <a:latin typeface="Segoe UI"/>
              </a:defRPr>
            </a:pPr>
            <a:r>
              <a:t>•  Adversary: Performs lateral movement, credentials dumping, data exfiltration, or ransomware extortion.</a:t>
            </a:r>
          </a:p>
          <a:p>
            <a:pPr>
              <a:spcBef>
                <a:spcPts val="400"/>
              </a:spcBef>
              <a:defRPr sz="1050">
                <a:solidFill>
                  <a:srgbClr val="1E293B"/>
                </a:solidFill>
                <a:latin typeface="Segoe UI"/>
              </a:defRPr>
            </a:pPr>
            <a:r>
              <a:t>•  SOC Defenses: Rapid triage, packet capture analysis, account revocation, network segmentation.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unizulu_watermark.png"/>
          <p:cNvPicPr>
            <a:picLocks noChangeAspect="1"/>
          </p:cNvPicPr>
          <p:nvPr/>
        </p:nvPicPr>
        <p:blipFill>
          <a:blip r:embed="rId2"/>
          <a:stretch>
            <a:fillRect/>
          </a:stretch>
        </p:blipFill>
        <p:spPr>
          <a:xfrm>
            <a:off x="4206240" y="1188720"/>
            <a:ext cx="3840480" cy="4800600"/>
          </a:xfrm>
          <a:prstGeom prst="rect">
            <a:avLst/>
          </a:prstGeom>
        </p:spPr>
      </p:pic>
      <p:sp>
        <p:nvSpPr>
          <p:cNvPr id="4" name="Rectangle 3"/>
          <p:cNvSpPr/>
          <p:nvPr/>
        </p:nvSpPr>
        <p:spPr>
          <a:xfrm>
            <a:off x="0" y="0"/>
            <a:ext cx="12191695" cy="1051560"/>
          </a:xfrm>
          <a:prstGeom prst="rect">
            <a:avLst/>
          </a:prstGeom>
          <a:solidFill>
            <a:srgbClr val="002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1051560"/>
            <a:ext cx="12191695"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unizulu_logo.png"/>
          <p:cNvPicPr>
            <a:picLocks noChangeAspect="1"/>
          </p:cNvPicPr>
          <p:nvPr/>
        </p:nvPicPr>
        <p:blipFill>
          <a:blip r:embed="rId3"/>
          <a:stretch>
            <a:fillRect/>
          </a:stretch>
        </p:blipFill>
        <p:spPr>
          <a:xfrm>
            <a:off x="457200" y="109728"/>
            <a:ext cx="658368" cy="822960"/>
          </a:xfrm>
          <a:prstGeom prst="rect">
            <a:avLst/>
          </a:prstGeom>
        </p:spPr>
      </p:pic>
      <p:sp>
        <p:nvSpPr>
          <p:cNvPr id="7" name="TextBox 6"/>
          <p:cNvSpPr txBox="1"/>
          <p:nvPr/>
        </p:nvSpPr>
        <p:spPr>
          <a:xfrm>
            <a:off x="1280160" y="109728"/>
            <a:ext cx="8961120" cy="822960"/>
          </a:xfrm>
          <a:prstGeom prst="rect">
            <a:avLst/>
          </a:prstGeom>
          <a:noFill/>
        </p:spPr>
        <p:txBody>
          <a:bodyPr wrap="square">
            <a:spAutoFit/>
          </a:bodyPr>
          <a:lstStyle/>
          <a:p>
            <a:pPr>
              <a:defRPr sz="1000" b="1">
                <a:solidFill>
                  <a:srgbClr val="F59E0B"/>
                </a:solidFill>
                <a:latin typeface="Segoe UI"/>
              </a:defRPr>
            </a:pPr>
            <a:r>
              <a:t>28.3 DIAMOND MODEL • 28.3.1 OVERVIEW</a:t>
            </a:r>
          </a:p>
          <a:p>
            <a:pPr>
              <a:defRPr sz="1900" b="1">
                <a:solidFill>
                  <a:srgbClr val="FFFFFF"/>
                </a:solidFill>
                <a:latin typeface="Segoe UI"/>
              </a:defRPr>
            </a:pPr>
            <a:r>
              <a:t>The Diamond Model: Core &amp; Meta-Features</a:t>
            </a:r>
          </a:p>
        </p:txBody>
      </p:sp>
      <p:sp>
        <p:nvSpPr>
          <p:cNvPr id="8" name="TextBox 7"/>
          <p:cNvSpPr txBox="1"/>
          <p:nvPr/>
        </p:nvSpPr>
        <p:spPr>
          <a:xfrm>
            <a:off x="9601200" y="182880"/>
            <a:ext cx="2103120" cy="640080"/>
          </a:xfrm>
          <a:prstGeom prst="rect">
            <a:avLst/>
          </a:prstGeom>
          <a:noFill/>
        </p:spPr>
        <p:txBody>
          <a:bodyPr wrap="none">
            <a:spAutoFit/>
          </a:bodyPr>
          <a:lstStyle/>
          <a:p>
            <a:pPr algn="r">
              <a:defRPr sz="1200" b="1">
                <a:solidFill>
                  <a:srgbClr val="F59E0B"/>
                </a:solidFill>
                <a:latin typeface="Segoe UI"/>
              </a:defRPr>
            </a:pPr>
            <a:r>
              <a:t>UNIZULU CSIRT</a:t>
            </a:r>
          </a:p>
          <a:p>
            <a:pPr algn="r">
              <a:defRPr sz="1000">
                <a:solidFill>
                  <a:srgbClr val="FFFFFF"/>
                </a:solidFill>
                <a:latin typeface="Segoe UI"/>
              </a:defRPr>
            </a:pPr>
            <a:r>
              <a:t>Module 28 • CyberOps</a:t>
            </a:r>
          </a:p>
        </p:txBody>
      </p:sp>
      <p:sp>
        <p:nvSpPr>
          <p:cNvPr id="9" name="Rectangle 8"/>
          <p:cNvSpPr/>
          <p:nvPr/>
        </p:nvSpPr>
        <p:spPr>
          <a:xfrm>
            <a:off x="0" y="6446520"/>
            <a:ext cx="12191695" cy="411480"/>
          </a:xfrm>
          <a:prstGeom prst="rect">
            <a:avLst/>
          </a:prstGeom>
          <a:solidFill>
            <a:srgbClr val="0018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428232"/>
            <a:ext cx="12191695" cy="18288"/>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473952"/>
            <a:ext cx="8229600" cy="320040"/>
          </a:xfrm>
          <a:prstGeom prst="rect">
            <a:avLst/>
          </a:prstGeom>
          <a:noFill/>
        </p:spPr>
        <p:txBody>
          <a:bodyPr wrap="none">
            <a:spAutoFit/>
          </a:bodyPr>
          <a:lstStyle/>
          <a:p>
            <a:pPr>
              <a:defRPr sz="950">
                <a:solidFill>
                  <a:srgbClr val="FEF3C7"/>
                </a:solidFill>
                <a:latin typeface="Segoe UI"/>
              </a:defRPr>
            </a:pPr>
            <a:r>
              <a:t>University of Zululand • Faculty of Science, Agriculture &amp; Technology • Department of Computer Science</a:t>
            </a:r>
          </a:p>
        </p:txBody>
      </p:sp>
      <p:sp>
        <p:nvSpPr>
          <p:cNvPr id="12" name="TextBox 11"/>
          <p:cNvSpPr txBox="1"/>
          <p:nvPr/>
        </p:nvSpPr>
        <p:spPr>
          <a:xfrm>
            <a:off x="9601200" y="6473952"/>
            <a:ext cx="2103120" cy="320040"/>
          </a:xfrm>
          <a:prstGeom prst="rect">
            <a:avLst/>
          </a:prstGeom>
          <a:noFill/>
        </p:spPr>
        <p:txBody>
          <a:bodyPr wrap="none">
            <a:spAutoFit/>
          </a:bodyPr>
          <a:lstStyle/>
          <a:p>
            <a:pPr algn="r">
              <a:defRPr sz="1000" b="1">
                <a:solidFill>
                  <a:srgbClr val="FFFFFF"/>
                </a:solidFill>
                <a:latin typeface="Segoe UI"/>
              </a:defRPr>
            </a:pPr>
            <a:r>
              <a:t>Slide 13 of 26</a:t>
            </a:r>
          </a:p>
        </p:txBody>
      </p:sp>
      <p:sp>
        <p:nvSpPr>
          <p:cNvPr id="13" name="Rounded Rectangle 12"/>
          <p:cNvSpPr/>
          <p:nvPr/>
        </p:nvSpPr>
        <p:spPr>
          <a:xfrm>
            <a:off x="548640" y="1280160"/>
            <a:ext cx="5303520" cy="4846320"/>
          </a:xfrm>
          <a:prstGeom prst="roundRect">
            <a:avLst/>
          </a:prstGeom>
          <a:solidFill>
            <a:srgbClr val="F8FAFC"/>
          </a:solidFill>
          <a:ln w="19050">
            <a:solidFill>
              <a:srgbClr val="0028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 y="1417320"/>
            <a:ext cx="4974336" cy="4572000"/>
          </a:xfrm>
          <a:prstGeom prst="rect">
            <a:avLst/>
          </a:prstGeom>
          <a:noFill/>
        </p:spPr>
        <p:txBody>
          <a:bodyPr wrap="square">
            <a:spAutoFit/>
          </a:bodyPr>
          <a:lstStyle/>
          <a:p>
            <a:pPr>
              <a:defRPr sz="1400" b="1">
                <a:solidFill>
                  <a:srgbClr val="002855"/>
                </a:solidFill>
                <a:latin typeface="Segoe UI"/>
              </a:defRPr>
            </a:pPr>
            <a:r>
              <a:t>4 Core Features of an Event</a:t>
            </a:r>
          </a:p>
          <a:p>
            <a:pPr>
              <a:spcBef>
                <a:spcPts val="400"/>
              </a:spcBef>
              <a:defRPr sz="1050">
                <a:solidFill>
                  <a:srgbClr val="1E293B"/>
                </a:solidFill>
                <a:latin typeface="Segoe UI"/>
              </a:defRPr>
            </a:pPr>
            <a:r>
              <a:t>•  Adversary: The threat actor or organization responsible for the malicious activity.</a:t>
            </a:r>
          </a:p>
          <a:p>
            <a:pPr>
              <a:spcBef>
                <a:spcPts val="400"/>
              </a:spcBef>
              <a:defRPr sz="1050">
                <a:solidFill>
                  <a:srgbClr val="1E293B"/>
                </a:solidFill>
                <a:latin typeface="Segoe UI"/>
              </a:defRPr>
            </a:pPr>
            <a:r>
              <a:t>•  Capability: The specific malware tools, exploits, or techniques utilized by the adversary.</a:t>
            </a:r>
          </a:p>
          <a:p>
            <a:pPr>
              <a:spcBef>
                <a:spcPts val="400"/>
              </a:spcBef>
              <a:defRPr sz="1050">
                <a:solidFill>
                  <a:srgbClr val="1E293B"/>
                </a:solidFill>
                <a:latin typeface="Segoe UI"/>
              </a:defRPr>
            </a:pPr>
            <a:r>
              <a:t>•  Infrastructure: The physical and logical communication paths used to establish contact (C2 IPs, domains, botnets).</a:t>
            </a:r>
          </a:p>
          <a:p>
            <a:pPr>
              <a:spcBef>
                <a:spcPts val="400"/>
              </a:spcBef>
              <a:defRPr sz="1050">
                <a:solidFill>
                  <a:srgbClr val="1E293B"/>
                </a:solidFill>
                <a:latin typeface="Segoe UI"/>
              </a:defRPr>
            </a:pPr>
            <a:r>
              <a:t>•  Victim: The target host, user account, IP address, or organization being exploited.</a:t>
            </a:r>
          </a:p>
          <a:p>
            <a:pPr>
              <a:spcBef>
                <a:spcPts val="400"/>
              </a:spcBef>
              <a:defRPr sz="1050">
                <a:solidFill>
                  <a:srgbClr val="1E293B"/>
                </a:solidFill>
                <a:latin typeface="Segoe UI"/>
              </a:defRPr>
            </a:pPr>
            <a:r>
              <a:t>•  Fundamental Axiom: An Adversary develops Capabilities, uses Infrastructure to connect to the Victim, and deploys Capability against the Victim.</a:t>
            </a:r>
          </a:p>
        </p:txBody>
      </p:sp>
      <p:sp>
        <p:nvSpPr>
          <p:cNvPr id="15" name="Rounded Rectangle 14"/>
          <p:cNvSpPr/>
          <p:nvPr/>
        </p:nvSpPr>
        <p:spPr>
          <a:xfrm>
            <a:off x="6217920" y="1280160"/>
            <a:ext cx="5303520" cy="4846320"/>
          </a:xfrm>
          <a:prstGeom prst="roundRect">
            <a:avLst/>
          </a:prstGeom>
          <a:solidFill>
            <a:srgbClr val="F8FAFC"/>
          </a:solidFill>
          <a:ln w="19050">
            <a:solidFill>
              <a:srgbClr val="0028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82512" y="1417320"/>
            <a:ext cx="4974336" cy="4572000"/>
          </a:xfrm>
          <a:prstGeom prst="rect">
            <a:avLst/>
          </a:prstGeom>
          <a:noFill/>
        </p:spPr>
        <p:txBody>
          <a:bodyPr wrap="square">
            <a:spAutoFit/>
          </a:bodyPr>
          <a:lstStyle/>
          <a:p>
            <a:pPr>
              <a:defRPr sz="1400" b="1">
                <a:solidFill>
                  <a:srgbClr val="002855"/>
                </a:solidFill>
                <a:latin typeface="Segoe UI"/>
              </a:defRPr>
            </a:pPr>
            <a:r>
              <a:t>6 Meta-Features for Enrichment</a:t>
            </a:r>
          </a:p>
          <a:p>
            <a:pPr>
              <a:spcBef>
                <a:spcPts val="400"/>
              </a:spcBef>
              <a:defRPr sz="1050">
                <a:solidFill>
                  <a:srgbClr val="1E293B"/>
                </a:solidFill>
                <a:latin typeface="Segoe UI"/>
              </a:defRPr>
            </a:pPr>
            <a:r>
              <a:t>•  1. Timestamp: Date and exact start/end time of the malicious event.</a:t>
            </a:r>
          </a:p>
          <a:p>
            <a:pPr>
              <a:spcBef>
                <a:spcPts val="400"/>
              </a:spcBef>
              <a:defRPr sz="1050">
                <a:solidFill>
                  <a:srgbClr val="1E293B"/>
                </a:solidFill>
                <a:latin typeface="Segoe UI"/>
              </a:defRPr>
            </a:pPr>
            <a:r>
              <a:t>•  2. Phase: The corresponding stage within the Cyber Kill Chain.</a:t>
            </a:r>
          </a:p>
          <a:p>
            <a:pPr>
              <a:spcBef>
                <a:spcPts val="400"/>
              </a:spcBef>
              <a:defRPr sz="1050">
                <a:solidFill>
                  <a:srgbClr val="1E293B"/>
                </a:solidFill>
                <a:latin typeface="Segoe UI"/>
              </a:defRPr>
            </a:pPr>
            <a:r>
              <a:t>•  3. Result: Outcome of the attempt (Success, Partial, or Failed).</a:t>
            </a:r>
          </a:p>
          <a:p>
            <a:pPr>
              <a:spcBef>
                <a:spcPts val="400"/>
              </a:spcBef>
              <a:defRPr sz="1050">
                <a:solidFill>
                  <a:srgbClr val="1E293B"/>
                </a:solidFill>
                <a:latin typeface="Segoe UI"/>
              </a:defRPr>
            </a:pPr>
            <a:r>
              <a:t>•  4. Direction: Traffic flow orientation (Adversary-to-Victim, Victim-to-Infrastructure, Bidirectional).</a:t>
            </a:r>
          </a:p>
          <a:p>
            <a:pPr>
              <a:spcBef>
                <a:spcPts val="400"/>
              </a:spcBef>
              <a:defRPr sz="1050">
                <a:solidFill>
                  <a:srgbClr val="1E293B"/>
                </a:solidFill>
                <a:latin typeface="Segoe UI"/>
              </a:defRPr>
            </a:pPr>
            <a:r>
              <a:t>•  5. Methodology: Broad attack category (e.g., Spearphishing, Port Scan, Content Delivery, SYN Flood).</a:t>
            </a:r>
          </a:p>
          <a:p>
            <a:pPr>
              <a:spcBef>
                <a:spcPts val="400"/>
              </a:spcBef>
              <a:defRPr sz="1050">
                <a:solidFill>
                  <a:srgbClr val="1E293B"/>
                </a:solidFill>
                <a:latin typeface="Segoe UI"/>
              </a:defRPr>
            </a:pPr>
            <a:r>
              <a:t>•  6. Resources: Software and hardware elements consumed (compromised servers, tools, libraries).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unizulu_watermark.png"/>
          <p:cNvPicPr>
            <a:picLocks noChangeAspect="1"/>
          </p:cNvPicPr>
          <p:nvPr/>
        </p:nvPicPr>
        <p:blipFill>
          <a:blip r:embed="rId2"/>
          <a:stretch>
            <a:fillRect/>
          </a:stretch>
        </p:blipFill>
        <p:spPr>
          <a:xfrm>
            <a:off x="4206240" y="1188720"/>
            <a:ext cx="3840480" cy="4800600"/>
          </a:xfrm>
          <a:prstGeom prst="rect">
            <a:avLst/>
          </a:prstGeom>
        </p:spPr>
      </p:pic>
      <p:sp>
        <p:nvSpPr>
          <p:cNvPr id="4" name="Rectangle 3"/>
          <p:cNvSpPr/>
          <p:nvPr/>
        </p:nvSpPr>
        <p:spPr>
          <a:xfrm>
            <a:off x="0" y="0"/>
            <a:ext cx="12191695" cy="1051560"/>
          </a:xfrm>
          <a:prstGeom prst="rect">
            <a:avLst/>
          </a:prstGeom>
          <a:solidFill>
            <a:srgbClr val="002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1051560"/>
            <a:ext cx="12191695"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unizulu_logo.png"/>
          <p:cNvPicPr>
            <a:picLocks noChangeAspect="1"/>
          </p:cNvPicPr>
          <p:nvPr/>
        </p:nvPicPr>
        <p:blipFill>
          <a:blip r:embed="rId3"/>
          <a:stretch>
            <a:fillRect/>
          </a:stretch>
        </p:blipFill>
        <p:spPr>
          <a:xfrm>
            <a:off x="457200" y="109728"/>
            <a:ext cx="658368" cy="822960"/>
          </a:xfrm>
          <a:prstGeom prst="rect">
            <a:avLst/>
          </a:prstGeom>
        </p:spPr>
      </p:pic>
      <p:sp>
        <p:nvSpPr>
          <p:cNvPr id="7" name="TextBox 6"/>
          <p:cNvSpPr txBox="1"/>
          <p:nvPr/>
        </p:nvSpPr>
        <p:spPr>
          <a:xfrm>
            <a:off x="1280160" y="109728"/>
            <a:ext cx="8961120" cy="822960"/>
          </a:xfrm>
          <a:prstGeom prst="rect">
            <a:avLst/>
          </a:prstGeom>
          <a:noFill/>
        </p:spPr>
        <p:txBody>
          <a:bodyPr wrap="square">
            <a:spAutoFit/>
          </a:bodyPr>
          <a:lstStyle/>
          <a:p>
            <a:pPr>
              <a:defRPr sz="1000" b="1">
                <a:solidFill>
                  <a:srgbClr val="F59E0B"/>
                </a:solidFill>
                <a:latin typeface="Segoe UI"/>
              </a:defRPr>
            </a:pPr>
            <a:r>
              <a:t>28.3 DIAMOND MODEL • MASTER ANALYTICAL INFOGRAPHIC</a:t>
            </a:r>
          </a:p>
          <a:p>
            <a:pPr>
              <a:defRPr sz="1900" b="1">
                <a:solidFill>
                  <a:srgbClr val="FFFFFF"/>
                </a:solidFill>
                <a:latin typeface="Segoe UI"/>
              </a:defRPr>
            </a:pPr>
            <a:r>
              <a:t>The Diamond Model &amp; Attack Pivoting Architecture</a:t>
            </a:r>
          </a:p>
        </p:txBody>
      </p:sp>
      <p:sp>
        <p:nvSpPr>
          <p:cNvPr id="8" name="TextBox 7"/>
          <p:cNvSpPr txBox="1"/>
          <p:nvPr/>
        </p:nvSpPr>
        <p:spPr>
          <a:xfrm>
            <a:off x="9601200" y="182880"/>
            <a:ext cx="2103120" cy="640080"/>
          </a:xfrm>
          <a:prstGeom prst="rect">
            <a:avLst/>
          </a:prstGeom>
          <a:noFill/>
        </p:spPr>
        <p:txBody>
          <a:bodyPr wrap="none">
            <a:spAutoFit/>
          </a:bodyPr>
          <a:lstStyle/>
          <a:p>
            <a:pPr algn="r">
              <a:defRPr sz="1200" b="1">
                <a:solidFill>
                  <a:srgbClr val="F59E0B"/>
                </a:solidFill>
                <a:latin typeface="Segoe UI"/>
              </a:defRPr>
            </a:pPr>
            <a:r>
              <a:t>UNIZULU CSIRT</a:t>
            </a:r>
          </a:p>
          <a:p>
            <a:pPr algn="r">
              <a:defRPr sz="1000">
                <a:solidFill>
                  <a:srgbClr val="FFFFFF"/>
                </a:solidFill>
                <a:latin typeface="Segoe UI"/>
              </a:defRPr>
            </a:pPr>
            <a:r>
              <a:t>Module 28 • CyberOps</a:t>
            </a:r>
          </a:p>
        </p:txBody>
      </p:sp>
      <p:sp>
        <p:nvSpPr>
          <p:cNvPr id="9" name="Rectangle 8"/>
          <p:cNvSpPr/>
          <p:nvPr/>
        </p:nvSpPr>
        <p:spPr>
          <a:xfrm>
            <a:off x="0" y="6446520"/>
            <a:ext cx="12191695" cy="411480"/>
          </a:xfrm>
          <a:prstGeom prst="rect">
            <a:avLst/>
          </a:prstGeom>
          <a:solidFill>
            <a:srgbClr val="0018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428232"/>
            <a:ext cx="12191695" cy="18288"/>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473952"/>
            <a:ext cx="8229600" cy="320040"/>
          </a:xfrm>
          <a:prstGeom prst="rect">
            <a:avLst/>
          </a:prstGeom>
          <a:noFill/>
        </p:spPr>
        <p:txBody>
          <a:bodyPr wrap="none">
            <a:spAutoFit/>
          </a:bodyPr>
          <a:lstStyle/>
          <a:p>
            <a:pPr>
              <a:defRPr sz="950">
                <a:solidFill>
                  <a:srgbClr val="FEF3C7"/>
                </a:solidFill>
                <a:latin typeface="Segoe UI"/>
              </a:defRPr>
            </a:pPr>
            <a:r>
              <a:t>University of Zululand • Faculty of Science, Agriculture &amp; Technology • Department of Computer Science</a:t>
            </a:r>
          </a:p>
        </p:txBody>
      </p:sp>
      <p:sp>
        <p:nvSpPr>
          <p:cNvPr id="12" name="TextBox 11"/>
          <p:cNvSpPr txBox="1"/>
          <p:nvPr/>
        </p:nvSpPr>
        <p:spPr>
          <a:xfrm>
            <a:off x="9601200" y="6473952"/>
            <a:ext cx="2103120" cy="320040"/>
          </a:xfrm>
          <a:prstGeom prst="rect">
            <a:avLst/>
          </a:prstGeom>
          <a:noFill/>
        </p:spPr>
        <p:txBody>
          <a:bodyPr wrap="none">
            <a:spAutoFit/>
          </a:bodyPr>
          <a:lstStyle/>
          <a:p>
            <a:pPr algn="r">
              <a:defRPr sz="1000" b="1">
                <a:solidFill>
                  <a:srgbClr val="FFFFFF"/>
                </a:solidFill>
                <a:latin typeface="Segoe UI"/>
              </a:defRPr>
            </a:pPr>
            <a:r>
              <a:t>Slide 14 of 26</a:t>
            </a:r>
          </a:p>
        </p:txBody>
      </p:sp>
      <p:sp>
        <p:nvSpPr>
          <p:cNvPr id="13" name="Rounded Rectangle 12"/>
          <p:cNvSpPr/>
          <p:nvPr/>
        </p:nvSpPr>
        <p:spPr>
          <a:xfrm>
            <a:off x="502920" y="1234440"/>
            <a:ext cx="6858000" cy="4937760"/>
          </a:xfrm>
          <a:prstGeom prst="roundRect">
            <a:avLst/>
          </a:prstGeom>
          <a:solidFill>
            <a:srgbClr val="FFFFFF"/>
          </a:solidFill>
          <a:ln w="25400">
            <a:solidFill>
              <a:srgbClr val="0028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c535d161-11cb-455b-8625-1b1a1d999ff3.jfif"/>
          <p:cNvPicPr>
            <a:picLocks noChangeAspect="1"/>
          </p:cNvPicPr>
          <p:nvPr/>
        </p:nvPicPr>
        <p:blipFill>
          <a:blip r:embed="rId5"/>
          <a:stretch>
            <a:fillRect/>
          </a:stretch>
        </p:blipFill>
        <p:spPr>
          <a:xfrm>
            <a:off x="640080" y="1371600"/>
            <a:ext cx="6583680" cy="3594021"/>
          </a:xfrm>
          <a:prstGeom prst="rect">
            <a:avLst/>
          </a:prstGeom>
        </p:spPr>
      </p:pic>
      <p:sp>
        <p:nvSpPr>
          <p:cNvPr id="15" name="Rectangle 14"/>
          <p:cNvSpPr/>
          <p:nvPr/>
        </p:nvSpPr>
        <p:spPr>
          <a:xfrm>
            <a:off x="502920" y="5806440"/>
            <a:ext cx="6858000" cy="365760"/>
          </a:xfrm>
          <a:prstGeom prst="rect">
            <a:avLst/>
          </a:prstGeom>
          <a:solidFill>
            <a:srgbClr val="002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59E0B"/>
                </a:solidFill>
                <a:latin typeface="Segoe UI"/>
              </a:defRPr>
            </a:pPr>
            <a:r>
              <a:t>Cisco CyberOps Associate • Module 28 Master Architecture Diagram</a:t>
            </a:r>
          </a:p>
        </p:txBody>
      </p:sp>
      <p:sp>
        <p:nvSpPr>
          <p:cNvPr id="16" name="Rounded Rectangle 15"/>
          <p:cNvSpPr/>
          <p:nvPr/>
        </p:nvSpPr>
        <p:spPr>
          <a:xfrm>
            <a:off x="7543800" y="1234440"/>
            <a:ext cx="4160520" cy="1536192"/>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80960" y="1307592"/>
            <a:ext cx="3886200" cy="1389888"/>
          </a:xfrm>
          <a:prstGeom prst="rect">
            <a:avLst/>
          </a:prstGeom>
          <a:noFill/>
        </p:spPr>
        <p:txBody>
          <a:bodyPr wrap="square">
            <a:spAutoFit/>
          </a:bodyPr>
          <a:lstStyle/>
          <a:p>
            <a:pPr>
              <a:defRPr sz="1200" b="1">
                <a:solidFill>
                  <a:srgbClr val="002855"/>
                </a:solidFill>
                <a:latin typeface="Segoe UI"/>
              </a:defRPr>
            </a:pPr>
            <a:r>
              <a:t>1. Core &amp; Meta-Features (28.3.1)</a:t>
            </a:r>
          </a:p>
          <a:p>
            <a:pPr>
              <a:spcBef>
                <a:spcPts val="300"/>
              </a:spcBef>
              <a:defRPr sz="1000">
                <a:solidFill>
                  <a:srgbClr val="1E293B"/>
                </a:solidFill>
                <a:latin typeface="Segoe UI"/>
              </a:defRPr>
            </a:pPr>
            <a:r>
              <a:t>Four vertex nodes: Adversary, Capability, Infrastructure, Victim. Enriched by 6 meta-features: Timestamp, Phase, Result, Direction, Methodology, Resources.</a:t>
            </a:r>
          </a:p>
        </p:txBody>
      </p:sp>
      <p:sp>
        <p:nvSpPr>
          <p:cNvPr id="18" name="Rounded Rectangle 17"/>
          <p:cNvSpPr/>
          <p:nvPr/>
        </p:nvSpPr>
        <p:spPr>
          <a:xfrm>
            <a:off x="7543800" y="2935224"/>
            <a:ext cx="4160520" cy="1536192"/>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680960" y="3008376"/>
            <a:ext cx="3886200" cy="1389888"/>
          </a:xfrm>
          <a:prstGeom prst="rect">
            <a:avLst/>
          </a:prstGeom>
          <a:noFill/>
        </p:spPr>
        <p:txBody>
          <a:bodyPr wrap="square">
            <a:spAutoFit/>
          </a:bodyPr>
          <a:lstStyle/>
          <a:p>
            <a:pPr>
              <a:defRPr sz="1200" b="1">
                <a:solidFill>
                  <a:srgbClr val="002855"/>
                </a:solidFill>
                <a:latin typeface="Segoe UI"/>
              </a:defRPr>
            </a:pPr>
            <a:r>
              <a:t>2. Analytical Pivoting (28.3.2)</a:t>
            </a:r>
          </a:p>
          <a:p>
            <a:pPr>
              <a:spcBef>
                <a:spcPts val="300"/>
              </a:spcBef>
              <a:defRPr sz="1000">
                <a:solidFill>
                  <a:srgbClr val="1E293B"/>
                </a:solidFill>
                <a:latin typeface="Segoe UI"/>
              </a:defRPr>
            </a:pPr>
            <a:r>
              <a:t>Pivoting leverages discovered artifacts in one node (e.g., malware hash or C2 IP) to uncover connected victims or identify the adversary.</a:t>
            </a:r>
          </a:p>
        </p:txBody>
      </p:sp>
      <p:sp>
        <p:nvSpPr>
          <p:cNvPr id="20" name="Rounded Rectangle 19"/>
          <p:cNvSpPr/>
          <p:nvPr/>
        </p:nvSpPr>
        <p:spPr>
          <a:xfrm>
            <a:off x="7543800" y="4636008"/>
            <a:ext cx="4160520" cy="1536192"/>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680960" y="4709160"/>
            <a:ext cx="3886200" cy="1389888"/>
          </a:xfrm>
          <a:prstGeom prst="rect">
            <a:avLst/>
          </a:prstGeom>
          <a:noFill/>
        </p:spPr>
        <p:txBody>
          <a:bodyPr wrap="square">
            <a:spAutoFit/>
          </a:bodyPr>
          <a:lstStyle/>
          <a:p>
            <a:pPr>
              <a:defRPr sz="1200" b="1">
                <a:solidFill>
                  <a:srgbClr val="002855"/>
                </a:solidFill>
                <a:latin typeface="Segoe UI"/>
              </a:defRPr>
            </a:pPr>
            <a:r>
              <a:t>3. Kill Chain Threading (28.3.3)</a:t>
            </a:r>
          </a:p>
          <a:p>
            <a:pPr>
              <a:spcBef>
                <a:spcPts val="300"/>
              </a:spcBef>
              <a:defRPr sz="1000">
                <a:solidFill>
                  <a:srgbClr val="1E293B"/>
                </a:solidFill>
                <a:latin typeface="Segoe UI"/>
              </a:defRPr>
            </a:pPr>
            <a:r>
              <a:t>Combines vertical Kill Chain execution with horizontal pivoting across organizations (Gadgets Inc. NA1 to Victim 2 CRO).</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unizulu_watermark.png"/>
          <p:cNvPicPr>
            <a:picLocks noChangeAspect="1"/>
          </p:cNvPicPr>
          <p:nvPr/>
        </p:nvPicPr>
        <p:blipFill>
          <a:blip r:embed="rId2"/>
          <a:stretch>
            <a:fillRect/>
          </a:stretch>
        </p:blipFill>
        <p:spPr>
          <a:xfrm>
            <a:off x="4206240" y="1188720"/>
            <a:ext cx="3840480" cy="4800600"/>
          </a:xfrm>
          <a:prstGeom prst="rect">
            <a:avLst/>
          </a:prstGeom>
        </p:spPr>
      </p:pic>
      <p:sp>
        <p:nvSpPr>
          <p:cNvPr id="4" name="Rectangle 3"/>
          <p:cNvSpPr/>
          <p:nvPr/>
        </p:nvSpPr>
        <p:spPr>
          <a:xfrm>
            <a:off x="0" y="0"/>
            <a:ext cx="12191695" cy="1051560"/>
          </a:xfrm>
          <a:prstGeom prst="rect">
            <a:avLst/>
          </a:prstGeom>
          <a:solidFill>
            <a:srgbClr val="002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1051560"/>
            <a:ext cx="12191695"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unizulu_logo.png"/>
          <p:cNvPicPr>
            <a:picLocks noChangeAspect="1"/>
          </p:cNvPicPr>
          <p:nvPr/>
        </p:nvPicPr>
        <p:blipFill>
          <a:blip r:embed="rId3"/>
          <a:stretch>
            <a:fillRect/>
          </a:stretch>
        </p:blipFill>
        <p:spPr>
          <a:xfrm>
            <a:off x="457200" y="109728"/>
            <a:ext cx="658368" cy="822960"/>
          </a:xfrm>
          <a:prstGeom prst="rect">
            <a:avLst/>
          </a:prstGeom>
        </p:spPr>
      </p:pic>
      <p:sp>
        <p:nvSpPr>
          <p:cNvPr id="7" name="TextBox 6"/>
          <p:cNvSpPr txBox="1"/>
          <p:nvPr/>
        </p:nvSpPr>
        <p:spPr>
          <a:xfrm>
            <a:off x="1280160" y="109728"/>
            <a:ext cx="8961120" cy="822960"/>
          </a:xfrm>
          <a:prstGeom prst="rect">
            <a:avLst/>
          </a:prstGeom>
          <a:noFill/>
        </p:spPr>
        <p:txBody>
          <a:bodyPr wrap="square">
            <a:spAutoFit/>
          </a:bodyPr>
          <a:lstStyle/>
          <a:p>
            <a:pPr>
              <a:defRPr sz="1000" b="1">
                <a:solidFill>
                  <a:srgbClr val="F59E0B"/>
                </a:solidFill>
                <a:latin typeface="Segoe UI"/>
              </a:defRPr>
            </a:pPr>
            <a:r>
              <a:t>28.3 DIAMOND MODEL • 28.3.2 PIVOTING</a:t>
            </a:r>
          </a:p>
          <a:p>
            <a:pPr>
              <a:defRPr sz="1900" b="1">
                <a:solidFill>
                  <a:srgbClr val="FFFFFF"/>
                </a:solidFill>
                <a:latin typeface="Segoe UI"/>
              </a:defRPr>
            </a:pPr>
            <a:r>
              <a:t>Pivoting Across the Diamond Model</a:t>
            </a:r>
          </a:p>
        </p:txBody>
      </p:sp>
      <p:sp>
        <p:nvSpPr>
          <p:cNvPr id="8" name="TextBox 7"/>
          <p:cNvSpPr txBox="1"/>
          <p:nvPr/>
        </p:nvSpPr>
        <p:spPr>
          <a:xfrm>
            <a:off x="9601200" y="182880"/>
            <a:ext cx="2103120" cy="640080"/>
          </a:xfrm>
          <a:prstGeom prst="rect">
            <a:avLst/>
          </a:prstGeom>
          <a:noFill/>
        </p:spPr>
        <p:txBody>
          <a:bodyPr wrap="none">
            <a:spAutoFit/>
          </a:bodyPr>
          <a:lstStyle/>
          <a:p>
            <a:pPr algn="r">
              <a:defRPr sz="1200" b="1">
                <a:solidFill>
                  <a:srgbClr val="F59E0B"/>
                </a:solidFill>
                <a:latin typeface="Segoe UI"/>
              </a:defRPr>
            </a:pPr>
            <a:r>
              <a:t>UNIZULU CSIRT</a:t>
            </a:r>
          </a:p>
          <a:p>
            <a:pPr algn="r">
              <a:defRPr sz="1000">
                <a:solidFill>
                  <a:srgbClr val="FFFFFF"/>
                </a:solidFill>
                <a:latin typeface="Segoe UI"/>
              </a:defRPr>
            </a:pPr>
            <a:r>
              <a:t>Module 28 • CyberOps</a:t>
            </a:r>
          </a:p>
        </p:txBody>
      </p:sp>
      <p:sp>
        <p:nvSpPr>
          <p:cNvPr id="9" name="Rectangle 8"/>
          <p:cNvSpPr/>
          <p:nvPr/>
        </p:nvSpPr>
        <p:spPr>
          <a:xfrm>
            <a:off x="0" y="6446520"/>
            <a:ext cx="12191695" cy="411480"/>
          </a:xfrm>
          <a:prstGeom prst="rect">
            <a:avLst/>
          </a:prstGeom>
          <a:solidFill>
            <a:srgbClr val="0018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428232"/>
            <a:ext cx="12191695" cy="18288"/>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473952"/>
            <a:ext cx="8229600" cy="320040"/>
          </a:xfrm>
          <a:prstGeom prst="rect">
            <a:avLst/>
          </a:prstGeom>
          <a:noFill/>
        </p:spPr>
        <p:txBody>
          <a:bodyPr wrap="none">
            <a:spAutoFit/>
          </a:bodyPr>
          <a:lstStyle/>
          <a:p>
            <a:pPr>
              <a:defRPr sz="950">
                <a:solidFill>
                  <a:srgbClr val="FEF3C7"/>
                </a:solidFill>
                <a:latin typeface="Segoe UI"/>
              </a:defRPr>
            </a:pPr>
            <a:r>
              <a:t>University of Zululand • Faculty of Science, Agriculture &amp; Technology • Department of Computer Science</a:t>
            </a:r>
          </a:p>
        </p:txBody>
      </p:sp>
      <p:sp>
        <p:nvSpPr>
          <p:cNvPr id="12" name="TextBox 11"/>
          <p:cNvSpPr txBox="1"/>
          <p:nvPr/>
        </p:nvSpPr>
        <p:spPr>
          <a:xfrm>
            <a:off x="9601200" y="6473952"/>
            <a:ext cx="2103120" cy="320040"/>
          </a:xfrm>
          <a:prstGeom prst="rect">
            <a:avLst/>
          </a:prstGeom>
          <a:noFill/>
        </p:spPr>
        <p:txBody>
          <a:bodyPr wrap="none">
            <a:spAutoFit/>
          </a:bodyPr>
          <a:lstStyle/>
          <a:p>
            <a:pPr algn="r">
              <a:defRPr sz="1000" b="1">
                <a:solidFill>
                  <a:srgbClr val="FFFFFF"/>
                </a:solidFill>
                <a:latin typeface="Segoe UI"/>
              </a:defRPr>
            </a:pPr>
            <a:r>
              <a:t>Slide 15 of 26</a:t>
            </a:r>
          </a:p>
        </p:txBody>
      </p:sp>
      <p:sp>
        <p:nvSpPr>
          <p:cNvPr id="13" name="Rounded Rectangle 12"/>
          <p:cNvSpPr/>
          <p:nvPr/>
        </p:nvSpPr>
        <p:spPr>
          <a:xfrm>
            <a:off x="548640" y="1280160"/>
            <a:ext cx="5303520" cy="4846320"/>
          </a:xfrm>
          <a:prstGeom prst="roundRect">
            <a:avLst/>
          </a:prstGeom>
          <a:solidFill>
            <a:srgbClr val="F8FAFC"/>
          </a:solidFill>
          <a:ln w="19050">
            <a:solidFill>
              <a:srgbClr val="0028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 y="1417320"/>
            <a:ext cx="4974336" cy="4572000"/>
          </a:xfrm>
          <a:prstGeom prst="rect">
            <a:avLst/>
          </a:prstGeom>
          <a:noFill/>
        </p:spPr>
        <p:txBody>
          <a:bodyPr wrap="square">
            <a:spAutoFit/>
          </a:bodyPr>
          <a:lstStyle/>
          <a:p>
            <a:pPr>
              <a:defRPr sz="1400" b="1">
                <a:solidFill>
                  <a:srgbClr val="002855"/>
                </a:solidFill>
                <a:latin typeface="Segoe UI"/>
              </a:defRPr>
            </a:pPr>
            <a:r>
              <a:t>The Concept of Analytical Pivoting</a:t>
            </a:r>
          </a:p>
          <a:p>
            <a:pPr>
              <a:spcBef>
                <a:spcPts val="400"/>
              </a:spcBef>
              <a:defRPr sz="1050">
                <a:solidFill>
                  <a:srgbClr val="1E293B"/>
                </a:solidFill>
                <a:latin typeface="Segoe UI"/>
              </a:defRPr>
            </a:pPr>
            <a:r>
              <a:t>•  Definition: Leveraging known information from one node to discover previously unknown nodes in the attack graph.</a:t>
            </a:r>
          </a:p>
          <a:p>
            <a:pPr>
              <a:spcBef>
                <a:spcPts val="400"/>
              </a:spcBef>
              <a:defRPr sz="1050">
                <a:solidFill>
                  <a:srgbClr val="1E293B"/>
                </a:solidFill>
                <a:latin typeface="Segoe UI"/>
              </a:defRPr>
            </a:pPr>
            <a:r>
              <a:t>•  Expanding Scope: Transforms an isolated alert on a single workstation into a complete view of the adversary's broader campaign.</a:t>
            </a:r>
          </a:p>
          <a:p>
            <a:pPr>
              <a:spcBef>
                <a:spcPts val="400"/>
              </a:spcBef>
              <a:defRPr sz="1050">
                <a:solidFill>
                  <a:srgbClr val="1E293B"/>
                </a:solidFill>
                <a:latin typeface="Segoe UI"/>
              </a:defRPr>
            </a:pPr>
            <a:r>
              <a:t>•  Connecting Disparate Data: Connects network traffic, host file artifacts, threat intelligence hashes, and adversary identities.</a:t>
            </a:r>
          </a:p>
          <a:p>
            <a:pPr>
              <a:spcBef>
                <a:spcPts val="400"/>
              </a:spcBef>
              <a:defRPr sz="1050">
                <a:solidFill>
                  <a:srgbClr val="1E293B"/>
                </a:solidFill>
                <a:latin typeface="Segoe UI"/>
              </a:defRPr>
            </a:pPr>
            <a:r>
              <a:t>•  Proactive Threat Hunting: Once a C2 IP or malware signature is discovered, the SOC hunts across historical logs to find all other affected internal systems.</a:t>
            </a:r>
          </a:p>
        </p:txBody>
      </p:sp>
      <p:sp>
        <p:nvSpPr>
          <p:cNvPr id="15" name="Rounded Rectangle 14"/>
          <p:cNvSpPr/>
          <p:nvPr/>
        </p:nvSpPr>
        <p:spPr>
          <a:xfrm>
            <a:off x="6217920" y="1280160"/>
            <a:ext cx="5303520" cy="4846320"/>
          </a:xfrm>
          <a:prstGeom prst="roundRect">
            <a:avLst/>
          </a:prstGeom>
          <a:solidFill>
            <a:srgbClr val="F8FAFC"/>
          </a:solidFill>
          <a:ln w="19050">
            <a:solidFill>
              <a:srgbClr val="0028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82512" y="1417320"/>
            <a:ext cx="4974336" cy="4572000"/>
          </a:xfrm>
          <a:prstGeom prst="rect">
            <a:avLst/>
          </a:prstGeom>
          <a:noFill/>
        </p:spPr>
        <p:txBody>
          <a:bodyPr wrap="square">
            <a:spAutoFit/>
          </a:bodyPr>
          <a:lstStyle/>
          <a:p>
            <a:pPr>
              <a:defRPr sz="1400" b="1">
                <a:solidFill>
                  <a:srgbClr val="002855"/>
                </a:solidFill>
                <a:latin typeface="Segoe UI"/>
              </a:defRPr>
            </a:pPr>
            <a:r>
              <a:t>Step-by-Step Pivoting Pathway</a:t>
            </a:r>
          </a:p>
          <a:p>
            <a:pPr>
              <a:spcBef>
                <a:spcPts val="400"/>
              </a:spcBef>
              <a:defRPr sz="1050">
                <a:solidFill>
                  <a:srgbClr val="1E293B"/>
                </a:solidFill>
                <a:latin typeface="Segoe UI"/>
              </a:defRPr>
            </a:pPr>
            <a:r>
              <a:t>•  Step 1 (Victim ➔ Capability): Victim alerts SOC to anomalous host crash; forensic analysis uncovers novel malware sample.</a:t>
            </a:r>
          </a:p>
          <a:p>
            <a:pPr>
              <a:spcBef>
                <a:spcPts val="400"/>
              </a:spcBef>
              <a:defRPr sz="1050">
                <a:solidFill>
                  <a:srgbClr val="1E293B"/>
                </a:solidFill>
                <a:latin typeface="Segoe UI"/>
              </a:defRPr>
            </a:pPr>
            <a:r>
              <a:t>•  Step 2 (Capability ➔ Infrastructure): Reverse engineering the malware extracts hardcoded C2 IP addresses and backup DNS domains.</a:t>
            </a:r>
          </a:p>
          <a:p>
            <a:pPr>
              <a:spcBef>
                <a:spcPts val="400"/>
              </a:spcBef>
              <a:defRPr sz="1050">
                <a:solidFill>
                  <a:srgbClr val="1E293B"/>
                </a:solidFill>
                <a:latin typeface="Segoe UI"/>
              </a:defRPr>
            </a:pPr>
            <a:r>
              <a:t>•  Step 3 (Infrastructure ➔ Victim 2): Querying enterprise firewall and NetFlow logs for the C2 IP discovers connections from a second host.</a:t>
            </a:r>
          </a:p>
          <a:p>
            <a:pPr>
              <a:spcBef>
                <a:spcPts val="400"/>
              </a:spcBef>
              <a:defRPr sz="1050">
                <a:solidFill>
                  <a:srgbClr val="1E293B"/>
                </a:solidFill>
                <a:latin typeface="Segoe UI"/>
              </a:defRPr>
            </a:pPr>
            <a:r>
              <a:t>•  Step 4 (Infrastructure ➔ Adversary): WHOIS registrant details and SSL certificate fingerprints link the C2 domain to a known APT adversary.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unizulu_watermark.png"/>
          <p:cNvPicPr>
            <a:picLocks noChangeAspect="1"/>
          </p:cNvPicPr>
          <p:nvPr/>
        </p:nvPicPr>
        <p:blipFill>
          <a:blip r:embed="rId2"/>
          <a:stretch>
            <a:fillRect/>
          </a:stretch>
        </p:blipFill>
        <p:spPr>
          <a:xfrm>
            <a:off x="4206240" y="1188720"/>
            <a:ext cx="3840480" cy="4800600"/>
          </a:xfrm>
          <a:prstGeom prst="rect">
            <a:avLst/>
          </a:prstGeom>
        </p:spPr>
      </p:pic>
      <p:sp>
        <p:nvSpPr>
          <p:cNvPr id="4" name="Rectangle 3"/>
          <p:cNvSpPr/>
          <p:nvPr/>
        </p:nvSpPr>
        <p:spPr>
          <a:xfrm>
            <a:off x="0" y="0"/>
            <a:ext cx="12191695" cy="1051560"/>
          </a:xfrm>
          <a:prstGeom prst="rect">
            <a:avLst/>
          </a:prstGeom>
          <a:solidFill>
            <a:srgbClr val="002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1051560"/>
            <a:ext cx="12191695"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unizulu_logo.png"/>
          <p:cNvPicPr>
            <a:picLocks noChangeAspect="1"/>
          </p:cNvPicPr>
          <p:nvPr/>
        </p:nvPicPr>
        <p:blipFill>
          <a:blip r:embed="rId3"/>
          <a:stretch>
            <a:fillRect/>
          </a:stretch>
        </p:blipFill>
        <p:spPr>
          <a:xfrm>
            <a:off x="457200" y="109728"/>
            <a:ext cx="658368" cy="822960"/>
          </a:xfrm>
          <a:prstGeom prst="rect">
            <a:avLst/>
          </a:prstGeom>
        </p:spPr>
      </p:pic>
      <p:sp>
        <p:nvSpPr>
          <p:cNvPr id="7" name="TextBox 6"/>
          <p:cNvSpPr txBox="1"/>
          <p:nvPr/>
        </p:nvSpPr>
        <p:spPr>
          <a:xfrm>
            <a:off x="1280160" y="109728"/>
            <a:ext cx="8961120" cy="822960"/>
          </a:xfrm>
          <a:prstGeom prst="rect">
            <a:avLst/>
          </a:prstGeom>
          <a:noFill/>
        </p:spPr>
        <p:txBody>
          <a:bodyPr wrap="square">
            <a:spAutoFit/>
          </a:bodyPr>
          <a:lstStyle/>
          <a:p>
            <a:pPr>
              <a:defRPr sz="1000" b="1">
                <a:solidFill>
                  <a:srgbClr val="F59E0B"/>
                </a:solidFill>
                <a:latin typeface="Segoe UI"/>
              </a:defRPr>
            </a:pPr>
            <a:r>
              <a:t>28.3 DIAMOND MODEL &amp; KILL CHAIN • 28.3.3 THREADING</a:t>
            </a:r>
          </a:p>
          <a:p>
            <a:pPr>
              <a:defRPr sz="1900" b="1">
                <a:solidFill>
                  <a:srgbClr val="FFFFFF"/>
                </a:solidFill>
                <a:latin typeface="Segoe UI"/>
              </a:defRPr>
            </a:pPr>
            <a:r>
              <a:t>Attack Threading: Gadgets Inc. to Victim 2</a:t>
            </a:r>
          </a:p>
        </p:txBody>
      </p:sp>
      <p:sp>
        <p:nvSpPr>
          <p:cNvPr id="8" name="TextBox 7"/>
          <p:cNvSpPr txBox="1"/>
          <p:nvPr/>
        </p:nvSpPr>
        <p:spPr>
          <a:xfrm>
            <a:off x="9601200" y="182880"/>
            <a:ext cx="2103120" cy="640080"/>
          </a:xfrm>
          <a:prstGeom prst="rect">
            <a:avLst/>
          </a:prstGeom>
          <a:noFill/>
        </p:spPr>
        <p:txBody>
          <a:bodyPr wrap="none">
            <a:spAutoFit/>
          </a:bodyPr>
          <a:lstStyle/>
          <a:p>
            <a:pPr algn="r">
              <a:defRPr sz="1200" b="1">
                <a:solidFill>
                  <a:srgbClr val="F59E0B"/>
                </a:solidFill>
                <a:latin typeface="Segoe UI"/>
              </a:defRPr>
            </a:pPr>
            <a:r>
              <a:t>UNIZULU CSIRT</a:t>
            </a:r>
          </a:p>
          <a:p>
            <a:pPr algn="r">
              <a:defRPr sz="1000">
                <a:solidFill>
                  <a:srgbClr val="FFFFFF"/>
                </a:solidFill>
                <a:latin typeface="Segoe UI"/>
              </a:defRPr>
            </a:pPr>
            <a:r>
              <a:t>Module 28 • CyberOps</a:t>
            </a:r>
          </a:p>
        </p:txBody>
      </p:sp>
      <p:sp>
        <p:nvSpPr>
          <p:cNvPr id="9" name="Rectangle 8"/>
          <p:cNvSpPr/>
          <p:nvPr/>
        </p:nvSpPr>
        <p:spPr>
          <a:xfrm>
            <a:off x="0" y="6446520"/>
            <a:ext cx="12191695" cy="411480"/>
          </a:xfrm>
          <a:prstGeom prst="rect">
            <a:avLst/>
          </a:prstGeom>
          <a:solidFill>
            <a:srgbClr val="0018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428232"/>
            <a:ext cx="12191695" cy="18288"/>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473952"/>
            <a:ext cx="8229600" cy="320040"/>
          </a:xfrm>
          <a:prstGeom prst="rect">
            <a:avLst/>
          </a:prstGeom>
          <a:noFill/>
        </p:spPr>
        <p:txBody>
          <a:bodyPr wrap="none">
            <a:spAutoFit/>
          </a:bodyPr>
          <a:lstStyle/>
          <a:p>
            <a:pPr>
              <a:defRPr sz="950">
                <a:solidFill>
                  <a:srgbClr val="FEF3C7"/>
                </a:solidFill>
                <a:latin typeface="Segoe UI"/>
              </a:defRPr>
            </a:pPr>
            <a:r>
              <a:t>University of Zululand • Faculty of Science, Agriculture &amp; Technology • Department of Computer Science</a:t>
            </a:r>
          </a:p>
        </p:txBody>
      </p:sp>
      <p:sp>
        <p:nvSpPr>
          <p:cNvPr id="12" name="TextBox 11"/>
          <p:cNvSpPr txBox="1"/>
          <p:nvPr/>
        </p:nvSpPr>
        <p:spPr>
          <a:xfrm>
            <a:off x="9601200" y="6473952"/>
            <a:ext cx="2103120" cy="320040"/>
          </a:xfrm>
          <a:prstGeom prst="rect">
            <a:avLst/>
          </a:prstGeom>
          <a:noFill/>
        </p:spPr>
        <p:txBody>
          <a:bodyPr wrap="none">
            <a:spAutoFit/>
          </a:bodyPr>
          <a:lstStyle/>
          <a:p>
            <a:pPr algn="r">
              <a:defRPr sz="1000" b="1">
                <a:solidFill>
                  <a:srgbClr val="FFFFFF"/>
                </a:solidFill>
                <a:latin typeface="Segoe UI"/>
              </a:defRPr>
            </a:pPr>
            <a:r>
              <a:t>Slide 16 of 26</a:t>
            </a:r>
          </a:p>
        </p:txBody>
      </p:sp>
      <p:sp>
        <p:nvSpPr>
          <p:cNvPr id="13" name="Rounded Rectangle 12"/>
          <p:cNvSpPr/>
          <p:nvPr/>
        </p:nvSpPr>
        <p:spPr>
          <a:xfrm>
            <a:off x="548640" y="1280160"/>
            <a:ext cx="5303520" cy="4846320"/>
          </a:xfrm>
          <a:prstGeom prst="roundRect">
            <a:avLst/>
          </a:prstGeom>
          <a:solidFill>
            <a:srgbClr val="F8FAFC"/>
          </a:solidFill>
          <a:ln w="19050">
            <a:solidFill>
              <a:srgbClr val="0028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 y="1417320"/>
            <a:ext cx="4974336" cy="4572000"/>
          </a:xfrm>
          <a:prstGeom prst="rect">
            <a:avLst/>
          </a:prstGeom>
          <a:noFill/>
        </p:spPr>
        <p:txBody>
          <a:bodyPr wrap="square">
            <a:spAutoFit/>
          </a:bodyPr>
          <a:lstStyle/>
          <a:p>
            <a:pPr>
              <a:defRPr sz="1400" b="1">
                <a:solidFill>
                  <a:srgbClr val="002855"/>
                </a:solidFill>
                <a:latin typeface="Segoe UI"/>
              </a:defRPr>
            </a:pPr>
            <a:r>
              <a:t>Vertical Kill Chain Traversal (Gadgets Inc.)</a:t>
            </a:r>
          </a:p>
          <a:p>
            <a:pPr>
              <a:spcBef>
                <a:spcPts val="400"/>
              </a:spcBef>
              <a:defRPr sz="1050">
                <a:solidFill>
                  <a:srgbClr val="1E293B"/>
                </a:solidFill>
                <a:latin typeface="Segoe UI"/>
              </a:defRPr>
            </a:pPr>
            <a:r>
              <a:t>•  Phase 1: Adversary searches web for Gadgets Inc., discovering administrator email addresses from technical forums.</a:t>
            </a:r>
          </a:p>
          <a:p>
            <a:pPr>
              <a:spcBef>
                <a:spcPts val="400"/>
              </a:spcBef>
              <a:defRPr sz="1050">
                <a:solidFill>
                  <a:srgbClr val="1E293B"/>
                </a:solidFill>
                <a:latin typeface="Segoe UI"/>
              </a:defRPr>
            </a:pPr>
            <a:r>
              <a:t>•  Phase 2: Sends spearphishing email with malicious attachment to administrator NA1.</a:t>
            </a:r>
          </a:p>
          <a:p>
            <a:pPr>
              <a:spcBef>
                <a:spcPts val="400"/>
              </a:spcBef>
              <a:defRPr sz="1050">
                <a:solidFill>
                  <a:srgbClr val="1E293B"/>
                </a:solidFill>
                <a:latin typeface="Segoe UI"/>
              </a:defRPr>
            </a:pPr>
            <a:r>
              <a:t>•  Phase 3: NA1 opens the attachment, triggering exploit execution and backdoor installation.</a:t>
            </a:r>
          </a:p>
          <a:p>
            <a:pPr>
              <a:spcBef>
                <a:spcPts val="400"/>
              </a:spcBef>
              <a:defRPr sz="1050">
                <a:solidFill>
                  <a:srgbClr val="1E293B"/>
                </a:solidFill>
                <a:latin typeface="Segoe UI"/>
              </a:defRPr>
            </a:pPr>
            <a:r>
              <a:t>•  Phase 4: Compromised host sends outbound HTTP registration beacon to remote C2 server.</a:t>
            </a:r>
          </a:p>
          <a:p>
            <a:pPr>
              <a:spcBef>
                <a:spcPts val="400"/>
              </a:spcBef>
              <a:defRPr sz="1050">
                <a:solidFill>
                  <a:srgbClr val="1E293B"/>
                </a:solidFill>
                <a:latin typeface="Segoe UI"/>
              </a:defRPr>
            </a:pPr>
            <a:r>
              <a:t>•  Phase 5: Adversary establishes hands-on-keyboard persistence and access.</a:t>
            </a:r>
          </a:p>
        </p:txBody>
      </p:sp>
      <p:sp>
        <p:nvSpPr>
          <p:cNvPr id="15" name="Rounded Rectangle 14"/>
          <p:cNvSpPr/>
          <p:nvPr/>
        </p:nvSpPr>
        <p:spPr>
          <a:xfrm>
            <a:off x="6217920" y="1280160"/>
            <a:ext cx="5303520" cy="4846320"/>
          </a:xfrm>
          <a:prstGeom prst="roundRect">
            <a:avLst/>
          </a:prstGeom>
          <a:solidFill>
            <a:srgbClr val="F8FAFC"/>
          </a:solidFill>
          <a:ln w="19050">
            <a:solidFill>
              <a:srgbClr val="0028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82512" y="1417320"/>
            <a:ext cx="4974336" cy="4572000"/>
          </a:xfrm>
          <a:prstGeom prst="rect">
            <a:avLst/>
          </a:prstGeom>
          <a:noFill/>
        </p:spPr>
        <p:txBody>
          <a:bodyPr wrap="square">
            <a:spAutoFit/>
          </a:bodyPr>
          <a:lstStyle/>
          <a:p>
            <a:pPr>
              <a:defRPr sz="1400" b="1">
                <a:solidFill>
                  <a:srgbClr val="002855"/>
                </a:solidFill>
                <a:latin typeface="Segoe UI"/>
              </a:defRPr>
            </a:pPr>
            <a:r>
              <a:t>Horizontal Pivoting to Victim 2</a:t>
            </a:r>
          </a:p>
          <a:p>
            <a:pPr>
              <a:spcBef>
                <a:spcPts val="400"/>
              </a:spcBef>
              <a:defRPr sz="1050">
                <a:solidFill>
                  <a:srgbClr val="1E293B"/>
                </a:solidFill>
                <a:latin typeface="Segoe UI"/>
              </a:defRPr>
            </a:pPr>
            <a:r>
              <a:t>•  Contact Mining: Adversary mines NA1's Outlook contact list, discovering executive contacts at Interesting Research Inc.</a:t>
            </a:r>
          </a:p>
          <a:p>
            <a:pPr>
              <a:spcBef>
                <a:spcPts val="400"/>
              </a:spcBef>
              <a:defRPr sz="1050">
                <a:solidFill>
                  <a:srgbClr val="1E293B"/>
                </a:solidFill>
                <a:latin typeface="Segoe UI"/>
              </a:defRPr>
            </a:pPr>
            <a:r>
              <a:t>•  Secondary Campaign: Adversary sends spearphishing emails from NA1's trusted account to the Chief Risk Officer (CRO) of Victim 2.</a:t>
            </a:r>
          </a:p>
          <a:p>
            <a:pPr>
              <a:spcBef>
                <a:spcPts val="400"/>
              </a:spcBef>
              <a:defRPr sz="1050">
                <a:solidFill>
                  <a:srgbClr val="1E293B"/>
                </a:solidFill>
                <a:latin typeface="Segoe UI"/>
              </a:defRPr>
            </a:pPr>
            <a:r>
              <a:t>•  Compromising Victim 2: CRO opens the attachment; identical malware payload compromises Victim 2 host.</a:t>
            </a:r>
          </a:p>
          <a:p>
            <a:pPr>
              <a:spcBef>
                <a:spcPts val="400"/>
              </a:spcBef>
              <a:defRPr sz="1050">
                <a:solidFill>
                  <a:srgbClr val="1E293B"/>
                </a:solidFill>
                <a:latin typeface="Segoe UI"/>
              </a:defRPr>
            </a:pPr>
            <a:r>
              <a:t>•  Proxy Configuration: Adversary configures NA1's workstation as a web proxy to route and exfiltrate stolen research data from Victim 2.</a:t>
            </a:r>
          </a:p>
          <a:p>
            <a:pPr>
              <a:spcBef>
                <a:spcPts val="400"/>
              </a:spcBef>
              <a:defRPr sz="1050">
                <a:solidFill>
                  <a:srgbClr val="1E293B"/>
                </a:solidFill>
                <a:latin typeface="Segoe UI"/>
              </a:defRPr>
            </a:pPr>
            <a:r>
              <a:t>•  Simultaneous Compromise: Adversary successfully controls two separate organizations via a single initial intrusion.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unizulu_watermark.png"/>
          <p:cNvPicPr>
            <a:picLocks noChangeAspect="1"/>
          </p:cNvPicPr>
          <p:nvPr/>
        </p:nvPicPr>
        <p:blipFill>
          <a:blip r:embed="rId2"/>
          <a:stretch>
            <a:fillRect/>
          </a:stretch>
        </p:blipFill>
        <p:spPr>
          <a:xfrm>
            <a:off x="4206240" y="1188720"/>
            <a:ext cx="3840480" cy="4800600"/>
          </a:xfrm>
          <a:prstGeom prst="rect">
            <a:avLst/>
          </a:prstGeom>
        </p:spPr>
      </p:pic>
      <p:sp>
        <p:nvSpPr>
          <p:cNvPr id="4" name="Rectangle 3"/>
          <p:cNvSpPr/>
          <p:nvPr/>
        </p:nvSpPr>
        <p:spPr>
          <a:xfrm>
            <a:off x="0" y="0"/>
            <a:ext cx="12191695" cy="1051560"/>
          </a:xfrm>
          <a:prstGeom prst="rect">
            <a:avLst/>
          </a:prstGeom>
          <a:solidFill>
            <a:srgbClr val="002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1051560"/>
            <a:ext cx="12191695"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unizulu_logo.png"/>
          <p:cNvPicPr>
            <a:picLocks noChangeAspect="1"/>
          </p:cNvPicPr>
          <p:nvPr/>
        </p:nvPicPr>
        <p:blipFill>
          <a:blip r:embed="rId3"/>
          <a:stretch>
            <a:fillRect/>
          </a:stretch>
        </p:blipFill>
        <p:spPr>
          <a:xfrm>
            <a:off x="457200" y="109728"/>
            <a:ext cx="658368" cy="822960"/>
          </a:xfrm>
          <a:prstGeom prst="rect">
            <a:avLst/>
          </a:prstGeom>
        </p:spPr>
      </p:pic>
      <p:sp>
        <p:nvSpPr>
          <p:cNvPr id="7" name="TextBox 6"/>
          <p:cNvSpPr txBox="1"/>
          <p:nvPr/>
        </p:nvSpPr>
        <p:spPr>
          <a:xfrm>
            <a:off x="1280160" y="109728"/>
            <a:ext cx="8961120" cy="822960"/>
          </a:xfrm>
          <a:prstGeom prst="rect">
            <a:avLst/>
          </a:prstGeom>
          <a:noFill/>
        </p:spPr>
        <p:txBody>
          <a:bodyPr wrap="square">
            <a:spAutoFit/>
          </a:bodyPr>
          <a:lstStyle/>
          <a:p>
            <a:pPr>
              <a:defRPr sz="1000" b="1">
                <a:solidFill>
                  <a:srgbClr val="F59E0B"/>
                </a:solidFill>
                <a:latin typeface="Segoe UI"/>
              </a:defRPr>
            </a:pPr>
            <a:r>
              <a:t>28.4 INCIDENT RESPONSE • 28.4.1 CSIRC CAPABILITY</a:t>
            </a:r>
          </a:p>
          <a:p>
            <a:pPr>
              <a:defRPr sz="1900" b="1">
                <a:solidFill>
                  <a:srgbClr val="FFFFFF"/>
                </a:solidFill>
                <a:latin typeface="Segoe UI"/>
              </a:defRPr>
            </a:pPr>
            <a:r>
              <a:t>Establishing a CSIRC: Policy, Plan, Procedures</a:t>
            </a:r>
          </a:p>
        </p:txBody>
      </p:sp>
      <p:sp>
        <p:nvSpPr>
          <p:cNvPr id="8" name="TextBox 7"/>
          <p:cNvSpPr txBox="1"/>
          <p:nvPr/>
        </p:nvSpPr>
        <p:spPr>
          <a:xfrm>
            <a:off x="9601200" y="182880"/>
            <a:ext cx="2103120" cy="640080"/>
          </a:xfrm>
          <a:prstGeom prst="rect">
            <a:avLst/>
          </a:prstGeom>
          <a:noFill/>
        </p:spPr>
        <p:txBody>
          <a:bodyPr wrap="none">
            <a:spAutoFit/>
          </a:bodyPr>
          <a:lstStyle/>
          <a:p>
            <a:pPr algn="r">
              <a:defRPr sz="1200" b="1">
                <a:solidFill>
                  <a:srgbClr val="F59E0B"/>
                </a:solidFill>
                <a:latin typeface="Segoe UI"/>
              </a:defRPr>
            </a:pPr>
            <a:r>
              <a:t>UNIZULU CSIRT</a:t>
            </a:r>
          </a:p>
          <a:p>
            <a:pPr algn="r">
              <a:defRPr sz="1000">
                <a:solidFill>
                  <a:srgbClr val="FFFFFF"/>
                </a:solidFill>
                <a:latin typeface="Segoe UI"/>
              </a:defRPr>
            </a:pPr>
            <a:r>
              <a:t>Module 28 • CyberOps</a:t>
            </a:r>
          </a:p>
        </p:txBody>
      </p:sp>
      <p:sp>
        <p:nvSpPr>
          <p:cNvPr id="9" name="Rectangle 8"/>
          <p:cNvSpPr/>
          <p:nvPr/>
        </p:nvSpPr>
        <p:spPr>
          <a:xfrm>
            <a:off x="0" y="6446520"/>
            <a:ext cx="12191695" cy="411480"/>
          </a:xfrm>
          <a:prstGeom prst="rect">
            <a:avLst/>
          </a:prstGeom>
          <a:solidFill>
            <a:srgbClr val="0018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428232"/>
            <a:ext cx="12191695" cy="18288"/>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473952"/>
            <a:ext cx="8229600" cy="320040"/>
          </a:xfrm>
          <a:prstGeom prst="rect">
            <a:avLst/>
          </a:prstGeom>
          <a:noFill/>
        </p:spPr>
        <p:txBody>
          <a:bodyPr wrap="none">
            <a:spAutoFit/>
          </a:bodyPr>
          <a:lstStyle/>
          <a:p>
            <a:pPr>
              <a:defRPr sz="950">
                <a:solidFill>
                  <a:srgbClr val="FEF3C7"/>
                </a:solidFill>
                <a:latin typeface="Segoe UI"/>
              </a:defRPr>
            </a:pPr>
            <a:r>
              <a:t>University of Zululand • Faculty of Science, Agriculture &amp; Technology • Department of Computer Science</a:t>
            </a:r>
          </a:p>
        </p:txBody>
      </p:sp>
      <p:sp>
        <p:nvSpPr>
          <p:cNvPr id="12" name="TextBox 11"/>
          <p:cNvSpPr txBox="1"/>
          <p:nvPr/>
        </p:nvSpPr>
        <p:spPr>
          <a:xfrm>
            <a:off x="9601200" y="6473952"/>
            <a:ext cx="2103120" cy="320040"/>
          </a:xfrm>
          <a:prstGeom prst="rect">
            <a:avLst/>
          </a:prstGeom>
          <a:noFill/>
        </p:spPr>
        <p:txBody>
          <a:bodyPr wrap="none">
            <a:spAutoFit/>
          </a:bodyPr>
          <a:lstStyle/>
          <a:p>
            <a:pPr algn="r">
              <a:defRPr sz="1000" b="1">
                <a:solidFill>
                  <a:srgbClr val="FFFFFF"/>
                </a:solidFill>
                <a:latin typeface="Segoe UI"/>
              </a:defRPr>
            </a:pPr>
            <a:r>
              <a:t>Slide 17 of 26</a:t>
            </a:r>
          </a:p>
        </p:txBody>
      </p:sp>
      <p:sp>
        <p:nvSpPr>
          <p:cNvPr id="13" name="Rounded Rectangle 12"/>
          <p:cNvSpPr/>
          <p:nvPr/>
        </p:nvSpPr>
        <p:spPr>
          <a:xfrm>
            <a:off x="548640" y="1280160"/>
            <a:ext cx="3520440" cy="4846320"/>
          </a:xfrm>
          <a:prstGeom prst="roundRect">
            <a:avLst/>
          </a:prstGeom>
          <a:solidFill>
            <a:srgbClr val="F8FAFC"/>
          </a:solidFill>
          <a:ln w="19050">
            <a:solidFill>
              <a:srgbClr val="0028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 y="1417320"/>
            <a:ext cx="3191256" cy="4572000"/>
          </a:xfrm>
          <a:prstGeom prst="rect">
            <a:avLst/>
          </a:prstGeom>
          <a:noFill/>
        </p:spPr>
        <p:txBody>
          <a:bodyPr wrap="square">
            <a:spAutoFit/>
          </a:bodyPr>
          <a:lstStyle/>
          <a:p>
            <a:pPr>
              <a:defRPr sz="1400" b="1">
                <a:solidFill>
                  <a:srgbClr val="002855"/>
                </a:solidFill>
                <a:latin typeface="Segoe UI"/>
              </a:defRPr>
            </a:pPr>
            <a:r>
              <a:t>1. Policy Document</a:t>
            </a:r>
          </a:p>
          <a:p>
            <a:pPr>
              <a:spcBef>
                <a:spcPts val="400"/>
              </a:spcBef>
              <a:defRPr sz="1050">
                <a:solidFill>
                  <a:srgbClr val="1E293B"/>
                </a:solidFill>
                <a:latin typeface="Segoe UI"/>
              </a:defRPr>
            </a:pPr>
            <a:r>
              <a:t>•  Defines organizational mission, authority, and executive sponsorship.</a:t>
            </a:r>
          </a:p>
          <a:p>
            <a:pPr>
              <a:spcBef>
                <a:spcPts val="400"/>
              </a:spcBef>
              <a:defRPr sz="1050">
                <a:solidFill>
                  <a:srgbClr val="1E293B"/>
                </a:solidFill>
                <a:latin typeface="Segoe UI"/>
              </a:defRPr>
            </a:pPr>
            <a:r>
              <a:t>•  Establishes incident severity definitions and mandatory reporting timelines.</a:t>
            </a:r>
          </a:p>
          <a:p>
            <a:pPr>
              <a:spcBef>
                <a:spcPts val="400"/>
              </a:spcBef>
              <a:defRPr sz="1050">
                <a:solidFill>
                  <a:srgbClr val="1E293B"/>
                </a:solidFill>
                <a:latin typeface="Segoe UI"/>
              </a:defRPr>
            </a:pPr>
            <a:r>
              <a:t>•  Grants CSIRC explicit authority to isolate hosts and seize equipment during a breach.</a:t>
            </a:r>
          </a:p>
          <a:p>
            <a:pPr>
              <a:spcBef>
                <a:spcPts val="400"/>
              </a:spcBef>
              <a:defRPr sz="1050">
                <a:solidFill>
                  <a:srgbClr val="1E293B"/>
                </a:solidFill>
                <a:latin typeface="Segoe UI"/>
              </a:defRPr>
            </a:pPr>
            <a:r>
              <a:t>•  Reviewed and approved by board leadership.</a:t>
            </a:r>
          </a:p>
        </p:txBody>
      </p:sp>
      <p:sp>
        <p:nvSpPr>
          <p:cNvPr id="15" name="Rounded Rectangle 14"/>
          <p:cNvSpPr/>
          <p:nvPr/>
        </p:nvSpPr>
        <p:spPr>
          <a:xfrm>
            <a:off x="4343400" y="1280160"/>
            <a:ext cx="3520440" cy="4846320"/>
          </a:xfrm>
          <a:prstGeom prst="roundRect">
            <a:avLst/>
          </a:prstGeom>
          <a:solidFill>
            <a:srgbClr val="F8FAFC"/>
          </a:solidFill>
          <a:ln w="19050">
            <a:solidFill>
              <a:srgbClr val="0028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07992" y="1417320"/>
            <a:ext cx="3191256" cy="4572000"/>
          </a:xfrm>
          <a:prstGeom prst="rect">
            <a:avLst/>
          </a:prstGeom>
          <a:noFill/>
        </p:spPr>
        <p:txBody>
          <a:bodyPr wrap="square">
            <a:spAutoFit/>
          </a:bodyPr>
          <a:lstStyle/>
          <a:p>
            <a:pPr>
              <a:defRPr sz="1400" b="1">
                <a:solidFill>
                  <a:srgbClr val="002855"/>
                </a:solidFill>
                <a:latin typeface="Segoe UI"/>
              </a:defRPr>
            </a:pPr>
            <a:r>
              <a:t>2. Plan Document</a:t>
            </a:r>
          </a:p>
          <a:p>
            <a:pPr>
              <a:spcBef>
                <a:spcPts val="400"/>
              </a:spcBef>
              <a:defRPr sz="1050">
                <a:solidFill>
                  <a:srgbClr val="1E293B"/>
                </a:solidFill>
                <a:latin typeface="Segoe UI"/>
              </a:defRPr>
            </a:pPr>
            <a:r>
              <a:t>•  High-level strategic roadmap for the organization's incident response capability.</a:t>
            </a:r>
          </a:p>
          <a:p>
            <a:pPr>
              <a:spcBef>
                <a:spcPts val="400"/>
              </a:spcBef>
              <a:defRPr sz="1050">
                <a:solidFill>
                  <a:srgbClr val="1E293B"/>
                </a:solidFill>
                <a:latin typeface="Segoe UI"/>
              </a:defRPr>
            </a:pPr>
            <a:r>
              <a:t>•  Defines team organizational structure, roles, and escalation hierarchy.</a:t>
            </a:r>
          </a:p>
          <a:p>
            <a:pPr>
              <a:spcBef>
                <a:spcPts val="400"/>
              </a:spcBef>
              <a:defRPr sz="1050">
                <a:solidFill>
                  <a:srgbClr val="1E293B"/>
                </a:solidFill>
                <a:latin typeface="Segoe UI"/>
              </a:defRPr>
            </a:pPr>
            <a:r>
              <a:t>•  Establishes performance metrics and executive communication protocols.</a:t>
            </a:r>
          </a:p>
          <a:p>
            <a:pPr>
              <a:spcBef>
                <a:spcPts val="400"/>
              </a:spcBef>
              <a:defRPr sz="1050">
                <a:solidFill>
                  <a:srgbClr val="1E293B"/>
                </a:solidFill>
                <a:latin typeface="Segoe UI"/>
              </a:defRPr>
            </a:pPr>
            <a:r>
              <a:t>•  Defines budget, training schedules, and technology architecture.</a:t>
            </a:r>
          </a:p>
        </p:txBody>
      </p:sp>
      <p:sp>
        <p:nvSpPr>
          <p:cNvPr id="17" name="Rounded Rectangle 16"/>
          <p:cNvSpPr/>
          <p:nvPr/>
        </p:nvSpPr>
        <p:spPr>
          <a:xfrm>
            <a:off x="8138160" y="1280160"/>
            <a:ext cx="3520440" cy="4846320"/>
          </a:xfrm>
          <a:prstGeom prst="roundRect">
            <a:avLst/>
          </a:prstGeom>
          <a:solidFill>
            <a:srgbClr val="F8FAFC"/>
          </a:solidFill>
          <a:ln w="19050">
            <a:solidFill>
              <a:srgbClr val="0028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2752" y="1417320"/>
            <a:ext cx="3191256" cy="4572000"/>
          </a:xfrm>
          <a:prstGeom prst="rect">
            <a:avLst/>
          </a:prstGeom>
          <a:noFill/>
        </p:spPr>
        <p:txBody>
          <a:bodyPr wrap="square">
            <a:spAutoFit/>
          </a:bodyPr>
          <a:lstStyle/>
          <a:p>
            <a:pPr>
              <a:defRPr sz="1400" b="1">
                <a:solidFill>
                  <a:srgbClr val="002855"/>
                </a:solidFill>
                <a:latin typeface="Segoe UI"/>
              </a:defRPr>
            </a:pPr>
            <a:r>
              <a:t>3. Procedures (SOPs)</a:t>
            </a:r>
          </a:p>
          <a:p>
            <a:pPr>
              <a:spcBef>
                <a:spcPts val="400"/>
              </a:spcBef>
              <a:defRPr sz="1050">
                <a:solidFill>
                  <a:srgbClr val="1E293B"/>
                </a:solidFill>
                <a:latin typeface="Segoe UI"/>
              </a:defRPr>
            </a:pPr>
            <a:r>
              <a:t>•  Detailed technical Standard Operating Procedures (SOPs).</a:t>
            </a:r>
          </a:p>
          <a:p>
            <a:pPr>
              <a:spcBef>
                <a:spcPts val="400"/>
              </a:spcBef>
              <a:defRPr sz="1050">
                <a:solidFill>
                  <a:srgbClr val="1E293B"/>
                </a:solidFill>
                <a:latin typeface="Segoe UI"/>
              </a:defRPr>
            </a:pPr>
            <a:r>
              <a:t>•  Step-by-step checklists for handling specific incident categories.</a:t>
            </a:r>
          </a:p>
          <a:p>
            <a:pPr>
              <a:spcBef>
                <a:spcPts val="400"/>
              </a:spcBef>
              <a:defRPr sz="1050">
                <a:solidFill>
                  <a:srgbClr val="1E293B"/>
                </a:solidFill>
                <a:latin typeface="Segoe UI"/>
              </a:defRPr>
            </a:pPr>
            <a:r>
              <a:t>•  Forensic acquisition guides, hashing protocols, and chain of custody forms.</a:t>
            </a:r>
          </a:p>
          <a:p>
            <a:pPr>
              <a:spcBef>
                <a:spcPts val="400"/>
              </a:spcBef>
              <a:defRPr sz="1050">
                <a:solidFill>
                  <a:srgbClr val="1E293B"/>
                </a:solidFill>
                <a:latin typeface="Segoe UI"/>
              </a:defRPr>
            </a:pPr>
            <a:r>
              <a:t>•  Updated regularly following post-incident lessons learned.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unizulu_watermark.png"/>
          <p:cNvPicPr>
            <a:picLocks noChangeAspect="1"/>
          </p:cNvPicPr>
          <p:nvPr/>
        </p:nvPicPr>
        <p:blipFill>
          <a:blip r:embed="rId2"/>
          <a:stretch>
            <a:fillRect/>
          </a:stretch>
        </p:blipFill>
        <p:spPr>
          <a:xfrm>
            <a:off x="4206240" y="1188720"/>
            <a:ext cx="3840480" cy="4800600"/>
          </a:xfrm>
          <a:prstGeom prst="rect">
            <a:avLst/>
          </a:prstGeom>
        </p:spPr>
      </p:pic>
      <p:sp>
        <p:nvSpPr>
          <p:cNvPr id="4" name="Rectangle 3"/>
          <p:cNvSpPr/>
          <p:nvPr/>
        </p:nvSpPr>
        <p:spPr>
          <a:xfrm>
            <a:off x="0" y="0"/>
            <a:ext cx="12191695" cy="1051560"/>
          </a:xfrm>
          <a:prstGeom prst="rect">
            <a:avLst/>
          </a:prstGeom>
          <a:solidFill>
            <a:srgbClr val="002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1051560"/>
            <a:ext cx="12191695"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unizulu_logo.png"/>
          <p:cNvPicPr>
            <a:picLocks noChangeAspect="1"/>
          </p:cNvPicPr>
          <p:nvPr/>
        </p:nvPicPr>
        <p:blipFill>
          <a:blip r:embed="rId3"/>
          <a:stretch>
            <a:fillRect/>
          </a:stretch>
        </p:blipFill>
        <p:spPr>
          <a:xfrm>
            <a:off x="457200" y="109728"/>
            <a:ext cx="658368" cy="822960"/>
          </a:xfrm>
          <a:prstGeom prst="rect">
            <a:avLst/>
          </a:prstGeom>
        </p:spPr>
      </p:pic>
      <p:sp>
        <p:nvSpPr>
          <p:cNvPr id="7" name="TextBox 6"/>
          <p:cNvSpPr txBox="1"/>
          <p:nvPr/>
        </p:nvSpPr>
        <p:spPr>
          <a:xfrm>
            <a:off x="1280160" y="109728"/>
            <a:ext cx="8961120" cy="822960"/>
          </a:xfrm>
          <a:prstGeom prst="rect">
            <a:avLst/>
          </a:prstGeom>
          <a:noFill/>
        </p:spPr>
        <p:txBody>
          <a:bodyPr wrap="square">
            <a:spAutoFit/>
          </a:bodyPr>
          <a:lstStyle/>
          <a:p>
            <a:pPr>
              <a:defRPr sz="1000" b="1">
                <a:solidFill>
                  <a:srgbClr val="F59E0B"/>
                </a:solidFill>
                <a:latin typeface="Segoe UI"/>
              </a:defRPr>
            </a:pPr>
            <a:r>
              <a:t>28.4 INCIDENT RESPONSE • 28.4.3 STAKEHOLDERS &amp; CMMC</a:t>
            </a:r>
          </a:p>
          <a:p>
            <a:pPr>
              <a:defRPr sz="1900" b="1">
                <a:solidFill>
                  <a:srgbClr val="FFFFFF"/>
                </a:solidFill>
                <a:latin typeface="Segoe UI"/>
              </a:defRPr>
            </a:pPr>
            <a:r>
              <a:t>IR Stakeholders &amp; DoD CMMC Levels</a:t>
            </a:r>
          </a:p>
        </p:txBody>
      </p:sp>
      <p:sp>
        <p:nvSpPr>
          <p:cNvPr id="8" name="TextBox 7"/>
          <p:cNvSpPr txBox="1"/>
          <p:nvPr/>
        </p:nvSpPr>
        <p:spPr>
          <a:xfrm>
            <a:off x="9601200" y="182880"/>
            <a:ext cx="2103120" cy="640080"/>
          </a:xfrm>
          <a:prstGeom prst="rect">
            <a:avLst/>
          </a:prstGeom>
          <a:noFill/>
        </p:spPr>
        <p:txBody>
          <a:bodyPr wrap="none">
            <a:spAutoFit/>
          </a:bodyPr>
          <a:lstStyle/>
          <a:p>
            <a:pPr algn="r">
              <a:defRPr sz="1200" b="1">
                <a:solidFill>
                  <a:srgbClr val="F59E0B"/>
                </a:solidFill>
                <a:latin typeface="Segoe UI"/>
              </a:defRPr>
            </a:pPr>
            <a:r>
              <a:t>UNIZULU CSIRT</a:t>
            </a:r>
          </a:p>
          <a:p>
            <a:pPr algn="r">
              <a:defRPr sz="1000">
                <a:solidFill>
                  <a:srgbClr val="FFFFFF"/>
                </a:solidFill>
                <a:latin typeface="Segoe UI"/>
              </a:defRPr>
            </a:pPr>
            <a:r>
              <a:t>Module 28 • CyberOps</a:t>
            </a:r>
          </a:p>
        </p:txBody>
      </p:sp>
      <p:sp>
        <p:nvSpPr>
          <p:cNvPr id="9" name="Rectangle 8"/>
          <p:cNvSpPr/>
          <p:nvPr/>
        </p:nvSpPr>
        <p:spPr>
          <a:xfrm>
            <a:off x="0" y="6446520"/>
            <a:ext cx="12191695" cy="411480"/>
          </a:xfrm>
          <a:prstGeom prst="rect">
            <a:avLst/>
          </a:prstGeom>
          <a:solidFill>
            <a:srgbClr val="0018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428232"/>
            <a:ext cx="12191695" cy="18288"/>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473952"/>
            <a:ext cx="8229600" cy="320040"/>
          </a:xfrm>
          <a:prstGeom prst="rect">
            <a:avLst/>
          </a:prstGeom>
          <a:noFill/>
        </p:spPr>
        <p:txBody>
          <a:bodyPr wrap="none">
            <a:spAutoFit/>
          </a:bodyPr>
          <a:lstStyle/>
          <a:p>
            <a:pPr>
              <a:defRPr sz="950">
                <a:solidFill>
                  <a:srgbClr val="FEF3C7"/>
                </a:solidFill>
                <a:latin typeface="Segoe UI"/>
              </a:defRPr>
            </a:pPr>
            <a:r>
              <a:t>University of Zululand • Faculty of Science, Agriculture &amp; Technology • Department of Computer Science</a:t>
            </a:r>
          </a:p>
        </p:txBody>
      </p:sp>
      <p:sp>
        <p:nvSpPr>
          <p:cNvPr id="12" name="TextBox 11"/>
          <p:cNvSpPr txBox="1"/>
          <p:nvPr/>
        </p:nvSpPr>
        <p:spPr>
          <a:xfrm>
            <a:off x="9601200" y="6473952"/>
            <a:ext cx="2103120" cy="320040"/>
          </a:xfrm>
          <a:prstGeom prst="rect">
            <a:avLst/>
          </a:prstGeom>
          <a:noFill/>
        </p:spPr>
        <p:txBody>
          <a:bodyPr wrap="none">
            <a:spAutoFit/>
          </a:bodyPr>
          <a:lstStyle/>
          <a:p>
            <a:pPr algn="r">
              <a:defRPr sz="1000" b="1">
                <a:solidFill>
                  <a:srgbClr val="FFFFFF"/>
                </a:solidFill>
                <a:latin typeface="Segoe UI"/>
              </a:defRPr>
            </a:pPr>
            <a:r>
              <a:t>Slide 18 of 26</a:t>
            </a:r>
          </a:p>
        </p:txBody>
      </p:sp>
      <p:sp>
        <p:nvSpPr>
          <p:cNvPr id="13" name="Rounded Rectangle 12"/>
          <p:cNvSpPr/>
          <p:nvPr/>
        </p:nvSpPr>
        <p:spPr>
          <a:xfrm>
            <a:off x="548640" y="1280160"/>
            <a:ext cx="5303520" cy="4846320"/>
          </a:xfrm>
          <a:prstGeom prst="roundRect">
            <a:avLst/>
          </a:prstGeom>
          <a:solidFill>
            <a:srgbClr val="F8FAFC"/>
          </a:solidFill>
          <a:ln w="19050">
            <a:solidFill>
              <a:srgbClr val="0028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 y="1417320"/>
            <a:ext cx="4974336" cy="4572000"/>
          </a:xfrm>
          <a:prstGeom prst="rect">
            <a:avLst/>
          </a:prstGeom>
          <a:noFill/>
        </p:spPr>
        <p:txBody>
          <a:bodyPr wrap="square">
            <a:spAutoFit/>
          </a:bodyPr>
          <a:lstStyle/>
          <a:p>
            <a:pPr>
              <a:defRPr sz="1400" b="1">
                <a:solidFill>
                  <a:srgbClr val="002855"/>
                </a:solidFill>
                <a:latin typeface="Segoe UI"/>
              </a:defRPr>
            </a:pPr>
            <a:r>
              <a:t>Key Incident Response Stakeholders</a:t>
            </a:r>
          </a:p>
          <a:p>
            <a:pPr>
              <a:spcBef>
                <a:spcPts val="400"/>
              </a:spcBef>
              <a:defRPr sz="1050">
                <a:solidFill>
                  <a:srgbClr val="1E293B"/>
                </a:solidFill>
                <a:latin typeface="Segoe UI"/>
              </a:defRPr>
            </a:pPr>
            <a:r>
              <a:t>•  Management: Ultimate financial and operational responsibility; approves business disruption decisions.</a:t>
            </a:r>
          </a:p>
          <a:p>
            <a:pPr>
              <a:spcBef>
                <a:spcPts val="400"/>
              </a:spcBef>
              <a:defRPr sz="1050">
                <a:solidFill>
                  <a:srgbClr val="1E293B"/>
                </a:solidFill>
                <a:latin typeface="Segoe UI"/>
              </a:defRPr>
            </a:pPr>
            <a:r>
              <a:t>•  IT Support: Implements technical containment, routes traffic, and re-images systems.</a:t>
            </a:r>
          </a:p>
          <a:p>
            <a:pPr>
              <a:spcBef>
                <a:spcPts val="400"/>
              </a:spcBef>
              <a:defRPr sz="1050">
                <a:solidFill>
                  <a:srgbClr val="1E293B"/>
                </a:solidFill>
                <a:latin typeface="Segoe UI"/>
              </a:defRPr>
            </a:pPr>
            <a:r>
              <a:t>•  Legal Department: Evaluates criminal prosecution options, regulatory reporting (HIPAA, GDPR), and liability.</a:t>
            </a:r>
          </a:p>
          <a:p>
            <a:pPr>
              <a:spcBef>
                <a:spcPts val="400"/>
              </a:spcBef>
              <a:defRPr sz="1050">
                <a:solidFill>
                  <a:srgbClr val="1E293B"/>
                </a:solidFill>
                <a:latin typeface="Segoe UI"/>
              </a:defRPr>
            </a:pPr>
            <a:r>
              <a:t>•  Public Relations (PR): Manages external press releases to protect organizational reputation.</a:t>
            </a:r>
          </a:p>
          <a:p>
            <a:pPr>
              <a:spcBef>
                <a:spcPts val="400"/>
              </a:spcBef>
              <a:defRPr sz="1050">
                <a:solidFill>
                  <a:srgbClr val="1E293B"/>
                </a:solidFill>
                <a:latin typeface="Segoe UI"/>
              </a:defRPr>
            </a:pPr>
            <a:r>
              <a:t>•  Human Resources: Handles disciplinary action if internal employees violate acceptable use policies.</a:t>
            </a:r>
          </a:p>
        </p:txBody>
      </p:sp>
      <p:sp>
        <p:nvSpPr>
          <p:cNvPr id="15" name="Rounded Rectangle 14"/>
          <p:cNvSpPr/>
          <p:nvPr/>
        </p:nvSpPr>
        <p:spPr>
          <a:xfrm>
            <a:off x="6217920" y="1280160"/>
            <a:ext cx="5303520" cy="4846320"/>
          </a:xfrm>
          <a:prstGeom prst="roundRect">
            <a:avLst/>
          </a:prstGeom>
          <a:solidFill>
            <a:srgbClr val="F8FAFC"/>
          </a:solidFill>
          <a:ln w="19050">
            <a:solidFill>
              <a:srgbClr val="0028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82512" y="1417320"/>
            <a:ext cx="4974336" cy="4572000"/>
          </a:xfrm>
          <a:prstGeom prst="rect">
            <a:avLst/>
          </a:prstGeom>
          <a:noFill/>
        </p:spPr>
        <p:txBody>
          <a:bodyPr wrap="square">
            <a:spAutoFit/>
          </a:bodyPr>
          <a:lstStyle/>
          <a:p>
            <a:pPr>
              <a:defRPr sz="1400" b="1">
                <a:solidFill>
                  <a:srgbClr val="002855"/>
                </a:solidFill>
                <a:latin typeface="Segoe UI"/>
              </a:defRPr>
            </a:pPr>
            <a:r>
              <a:t>DoD CMMC IR Maturity Levels</a:t>
            </a:r>
          </a:p>
          <a:p>
            <a:pPr>
              <a:spcBef>
                <a:spcPts val="400"/>
              </a:spcBef>
              <a:defRPr sz="1050">
                <a:solidFill>
                  <a:srgbClr val="1E293B"/>
                </a:solidFill>
                <a:latin typeface="Segoe UI"/>
              </a:defRPr>
            </a:pPr>
            <a:r>
              <a:t>•  Level 2: Establish a basic IR plan, track incidents, and respond using predefined standard procedures.</a:t>
            </a:r>
          </a:p>
          <a:p>
            <a:pPr>
              <a:spcBef>
                <a:spcPts val="400"/>
              </a:spcBef>
              <a:defRPr sz="1050">
                <a:solidFill>
                  <a:srgbClr val="1E293B"/>
                </a:solidFill>
                <a:latin typeface="Segoe UI"/>
              </a:defRPr>
            </a:pPr>
            <a:r>
              <a:t>•  Level 3: Test and validate capability via tabletop exercises; report incidents to required government stakeholders.</a:t>
            </a:r>
          </a:p>
          <a:p>
            <a:pPr>
              <a:spcBef>
                <a:spcPts val="400"/>
              </a:spcBef>
              <a:defRPr sz="1050">
                <a:solidFill>
                  <a:srgbClr val="1E293B"/>
                </a:solidFill>
                <a:latin typeface="Segoe UI"/>
              </a:defRPr>
            </a:pPr>
            <a:r>
              <a:t>•  Level 4: Leverage adversary TTP knowledge; operate a 24/7/365 Security Operations Center; track threat campaigns.</a:t>
            </a:r>
          </a:p>
          <a:p>
            <a:pPr>
              <a:spcBef>
                <a:spcPts val="400"/>
              </a:spcBef>
              <a:defRPr sz="1050">
                <a:solidFill>
                  <a:srgbClr val="1E293B"/>
                </a:solidFill>
                <a:latin typeface="Segoe UI"/>
              </a:defRPr>
            </a:pPr>
            <a:r>
              <a:t>•  Level 5: Utilize automated real-time response playbooks and advanced live memory forensic capabilities.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unizulu_watermark.png"/>
          <p:cNvPicPr>
            <a:picLocks noChangeAspect="1"/>
          </p:cNvPicPr>
          <p:nvPr/>
        </p:nvPicPr>
        <p:blipFill>
          <a:blip r:embed="rId2"/>
          <a:stretch>
            <a:fillRect/>
          </a:stretch>
        </p:blipFill>
        <p:spPr>
          <a:xfrm>
            <a:off x="4206240" y="1188720"/>
            <a:ext cx="3840480" cy="4800600"/>
          </a:xfrm>
          <a:prstGeom prst="rect">
            <a:avLst/>
          </a:prstGeom>
        </p:spPr>
      </p:pic>
      <p:sp>
        <p:nvSpPr>
          <p:cNvPr id="4" name="Rectangle 3"/>
          <p:cNvSpPr/>
          <p:nvPr/>
        </p:nvSpPr>
        <p:spPr>
          <a:xfrm>
            <a:off x="0" y="0"/>
            <a:ext cx="12191695" cy="1051560"/>
          </a:xfrm>
          <a:prstGeom prst="rect">
            <a:avLst/>
          </a:prstGeom>
          <a:solidFill>
            <a:srgbClr val="002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1051560"/>
            <a:ext cx="12191695"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unizulu_logo.png"/>
          <p:cNvPicPr>
            <a:picLocks noChangeAspect="1"/>
          </p:cNvPicPr>
          <p:nvPr/>
        </p:nvPicPr>
        <p:blipFill>
          <a:blip r:embed="rId3"/>
          <a:stretch>
            <a:fillRect/>
          </a:stretch>
        </p:blipFill>
        <p:spPr>
          <a:xfrm>
            <a:off x="457200" y="109728"/>
            <a:ext cx="658368" cy="822960"/>
          </a:xfrm>
          <a:prstGeom prst="rect">
            <a:avLst/>
          </a:prstGeom>
        </p:spPr>
      </p:pic>
      <p:sp>
        <p:nvSpPr>
          <p:cNvPr id="7" name="TextBox 6"/>
          <p:cNvSpPr txBox="1"/>
          <p:nvPr/>
        </p:nvSpPr>
        <p:spPr>
          <a:xfrm>
            <a:off x="1280160" y="109728"/>
            <a:ext cx="8961120" cy="822960"/>
          </a:xfrm>
          <a:prstGeom prst="rect">
            <a:avLst/>
          </a:prstGeom>
          <a:noFill/>
        </p:spPr>
        <p:txBody>
          <a:bodyPr wrap="square">
            <a:spAutoFit/>
          </a:bodyPr>
          <a:lstStyle/>
          <a:p>
            <a:pPr>
              <a:defRPr sz="1000" b="1">
                <a:solidFill>
                  <a:srgbClr val="F59E0B"/>
                </a:solidFill>
                <a:latin typeface="Segoe UI"/>
              </a:defRPr>
            </a:pPr>
            <a:r>
              <a:t>28.4 INCIDENT RESPONSE • 28.4.4 NIST LIFE CYCLE</a:t>
            </a:r>
          </a:p>
          <a:p>
            <a:pPr>
              <a:defRPr sz="1900" b="1">
                <a:solidFill>
                  <a:srgbClr val="FFFFFF"/>
                </a:solidFill>
                <a:latin typeface="Segoe UI"/>
              </a:defRPr>
            </a:pPr>
            <a:r>
              <a:t>NIST SP 800-61r2 Incident Life Cycle</a:t>
            </a:r>
          </a:p>
        </p:txBody>
      </p:sp>
      <p:sp>
        <p:nvSpPr>
          <p:cNvPr id="8" name="TextBox 7"/>
          <p:cNvSpPr txBox="1"/>
          <p:nvPr/>
        </p:nvSpPr>
        <p:spPr>
          <a:xfrm>
            <a:off x="9601200" y="182880"/>
            <a:ext cx="2103120" cy="640080"/>
          </a:xfrm>
          <a:prstGeom prst="rect">
            <a:avLst/>
          </a:prstGeom>
          <a:noFill/>
        </p:spPr>
        <p:txBody>
          <a:bodyPr wrap="none">
            <a:spAutoFit/>
          </a:bodyPr>
          <a:lstStyle/>
          <a:p>
            <a:pPr algn="r">
              <a:defRPr sz="1200" b="1">
                <a:solidFill>
                  <a:srgbClr val="F59E0B"/>
                </a:solidFill>
                <a:latin typeface="Segoe UI"/>
              </a:defRPr>
            </a:pPr>
            <a:r>
              <a:t>UNIZULU CSIRT</a:t>
            </a:r>
          </a:p>
          <a:p>
            <a:pPr algn="r">
              <a:defRPr sz="1000">
                <a:solidFill>
                  <a:srgbClr val="FFFFFF"/>
                </a:solidFill>
                <a:latin typeface="Segoe UI"/>
              </a:defRPr>
            </a:pPr>
            <a:r>
              <a:t>Module 28 • CyberOps</a:t>
            </a:r>
          </a:p>
        </p:txBody>
      </p:sp>
      <p:sp>
        <p:nvSpPr>
          <p:cNvPr id="9" name="Rectangle 8"/>
          <p:cNvSpPr/>
          <p:nvPr/>
        </p:nvSpPr>
        <p:spPr>
          <a:xfrm>
            <a:off x="0" y="6446520"/>
            <a:ext cx="12191695" cy="411480"/>
          </a:xfrm>
          <a:prstGeom prst="rect">
            <a:avLst/>
          </a:prstGeom>
          <a:solidFill>
            <a:srgbClr val="0018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428232"/>
            <a:ext cx="12191695" cy="18288"/>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473952"/>
            <a:ext cx="8229600" cy="320040"/>
          </a:xfrm>
          <a:prstGeom prst="rect">
            <a:avLst/>
          </a:prstGeom>
          <a:noFill/>
        </p:spPr>
        <p:txBody>
          <a:bodyPr wrap="none">
            <a:spAutoFit/>
          </a:bodyPr>
          <a:lstStyle/>
          <a:p>
            <a:pPr>
              <a:defRPr sz="950">
                <a:solidFill>
                  <a:srgbClr val="FEF3C7"/>
                </a:solidFill>
                <a:latin typeface="Segoe UI"/>
              </a:defRPr>
            </a:pPr>
            <a:r>
              <a:t>University of Zululand • Faculty of Science, Agriculture &amp; Technology • Department of Computer Science</a:t>
            </a:r>
          </a:p>
        </p:txBody>
      </p:sp>
      <p:sp>
        <p:nvSpPr>
          <p:cNvPr id="12" name="TextBox 11"/>
          <p:cNvSpPr txBox="1"/>
          <p:nvPr/>
        </p:nvSpPr>
        <p:spPr>
          <a:xfrm>
            <a:off x="9601200" y="6473952"/>
            <a:ext cx="2103120" cy="320040"/>
          </a:xfrm>
          <a:prstGeom prst="rect">
            <a:avLst/>
          </a:prstGeom>
          <a:noFill/>
        </p:spPr>
        <p:txBody>
          <a:bodyPr wrap="none">
            <a:spAutoFit/>
          </a:bodyPr>
          <a:lstStyle/>
          <a:p>
            <a:pPr algn="r">
              <a:defRPr sz="1000" b="1">
                <a:solidFill>
                  <a:srgbClr val="FFFFFF"/>
                </a:solidFill>
                <a:latin typeface="Segoe UI"/>
              </a:defRPr>
            </a:pPr>
            <a:r>
              <a:t>Slide 19 of 26</a:t>
            </a:r>
          </a:p>
        </p:txBody>
      </p:sp>
      <p:sp>
        <p:nvSpPr>
          <p:cNvPr id="13" name="Rounded Rectangle 12"/>
          <p:cNvSpPr/>
          <p:nvPr/>
        </p:nvSpPr>
        <p:spPr>
          <a:xfrm>
            <a:off x="548640" y="1280160"/>
            <a:ext cx="5303520" cy="4846320"/>
          </a:xfrm>
          <a:prstGeom prst="roundRect">
            <a:avLst/>
          </a:prstGeom>
          <a:solidFill>
            <a:srgbClr val="F8FAFC"/>
          </a:solidFill>
          <a:ln w="19050">
            <a:solidFill>
              <a:srgbClr val="0028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 y="1417320"/>
            <a:ext cx="4974336" cy="4572000"/>
          </a:xfrm>
          <a:prstGeom prst="rect">
            <a:avLst/>
          </a:prstGeom>
          <a:noFill/>
        </p:spPr>
        <p:txBody>
          <a:bodyPr wrap="square">
            <a:spAutoFit/>
          </a:bodyPr>
          <a:lstStyle/>
          <a:p>
            <a:pPr>
              <a:defRPr sz="1400" b="1">
                <a:solidFill>
                  <a:srgbClr val="002855"/>
                </a:solidFill>
                <a:latin typeface="Segoe UI"/>
              </a:defRPr>
            </a:pPr>
            <a:r>
              <a:t>The 4 Continuous Phases</a:t>
            </a:r>
          </a:p>
          <a:p>
            <a:pPr>
              <a:spcBef>
                <a:spcPts val="400"/>
              </a:spcBef>
              <a:defRPr sz="1050">
                <a:solidFill>
                  <a:srgbClr val="1E293B"/>
                </a:solidFill>
                <a:latin typeface="Segoe UI"/>
              </a:defRPr>
            </a:pPr>
            <a:r>
              <a:t>•  Phase 1: Preparation - Building CSIRT team capability, assembling forensic jump kits, and hardening network defenses.</a:t>
            </a:r>
          </a:p>
          <a:p>
            <a:pPr>
              <a:spcBef>
                <a:spcPts val="400"/>
              </a:spcBef>
              <a:defRPr sz="1050">
                <a:solidFill>
                  <a:srgbClr val="1E293B"/>
                </a:solidFill>
                <a:latin typeface="Segoe UI"/>
              </a:defRPr>
            </a:pPr>
            <a:r>
              <a:t>•  Phase 2: Detection &amp; Analysis - Monitoring attack vectors, evaluating precursors and IoCs, and assessing scope and severity.</a:t>
            </a:r>
          </a:p>
          <a:p>
            <a:pPr>
              <a:spcBef>
                <a:spcPts val="400"/>
              </a:spcBef>
              <a:defRPr sz="1050">
                <a:solidFill>
                  <a:srgbClr val="1E293B"/>
                </a:solidFill>
                <a:latin typeface="Segoe UI"/>
              </a:defRPr>
            </a:pPr>
            <a:r>
              <a:t>•  Phase 3: Containment, Eradication &amp; Recovery - Limiting damage, removing adversary artifacts, and safely restoring systems.</a:t>
            </a:r>
          </a:p>
          <a:p>
            <a:pPr>
              <a:spcBef>
                <a:spcPts val="400"/>
              </a:spcBef>
              <a:defRPr sz="1050">
                <a:solidFill>
                  <a:srgbClr val="1E293B"/>
                </a:solidFill>
                <a:latin typeface="Segoe UI"/>
              </a:defRPr>
            </a:pPr>
            <a:r>
              <a:t>•  Phase 4: Post-Incident Activity - Conducting lessons learned meetings, retaining evidence, and updating policies.</a:t>
            </a:r>
          </a:p>
          <a:p>
            <a:pPr>
              <a:spcBef>
                <a:spcPts val="400"/>
              </a:spcBef>
              <a:defRPr sz="1050">
                <a:solidFill>
                  <a:srgbClr val="1E293B"/>
                </a:solidFill>
                <a:latin typeface="Segoe UI"/>
              </a:defRPr>
            </a:pPr>
            <a:r>
              <a:t>•  Continuous Feedback Loop: Post-incident findings feed directly back into Phase 1 to harden baseline defenses.</a:t>
            </a:r>
          </a:p>
        </p:txBody>
      </p:sp>
      <p:sp>
        <p:nvSpPr>
          <p:cNvPr id="15" name="Rounded Rectangle 14"/>
          <p:cNvSpPr/>
          <p:nvPr/>
        </p:nvSpPr>
        <p:spPr>
          <a:xfrm>
            <a:off x="6217920" y="1280160"/>
            <a:ext cx="5303520" cy="4846320"/>
          </a:xfrm>
          <a:prstGeom prst="roundRect">
            <a:avLst/>
          </a:prstGeom>
          <a:solidFill>
            <a:srgbClr val="F8FAFC"/>
          </a:solidFill>
          <a:ln w="19050">
            <a:solidFill>
              <a:srgbClr val="0028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82512" y="1417320"/>
            <a:ext cx="4974336" cy="4572000"/>
          </a:xfrm>
          <a:prstGeom prst="rect">
            <a:avLst/>
          </a:prstGeom>
          <a:noFill/>
        </p:spPr>
        <p:txBody>
          <a:bodyPr wrap="square">
            <a:spAutoFit/>
          </a:bodyPr>
          <a:lstStyle/>
          <a:p>
            <a:pPr>
              <a:defRPr sz="1400" b="1">
                <a:solidFill>
                  <a:srgbClr val="002855"/>
                </a:solidFill>
                <a:latin typeface="Segoe UI"/>
              </a:defRPr>
            </a:pPr>
            <a:r>
              <a:t>Precursors vs. Indicators of Compromise</a:t>
            </a:r>
          </a:p>
          <a:p>
            <a:pPr>
              <a:spcBef>
                <a:spcPts val="400"/>
              </a:spcBef>
              <a:defRPr sz="1050">
                <a:solidFill>
                  <a:srgbClr val="1E293B"/>
                </a:solidFill>
                <a:latin typeface="Segoe UI"/>
              </a:defRPr>
            </a:pPr>
            <a:r>
              <a:t>•  Precursors: Signs that an incident MAY occur in the future.</a:t>
            </a:r>
          </a:p>
          <a:p>
            <a:pPr>
              <a:spcBef>
                <a:spcPts val="400"/>
              </a:spcBef>
              <a:defRPr sz="1050">
                <a:solidFill>
                  <a:srgbClr val="1E293B"/>
                </a:solidFill>
                <a:latin typeface="Segoe UI"/>
              </a:defRPr>
            </a:pPr>
            <a:r>
              <a:t>•  Precursor Examples: Web server log showing port scanning; vulnerability announcements; phishing campaign targeting staff.</a:t>
            </a:r>
          </a:p>
          <a:p>
            <a:pPr>
              <a:spcBef>
                <a:spcPts val="400"/>
              </a:spcBef>
              <a:defRPr sz="1050">
                <a:solidFill>
                  <a:srgbClr val="1E293B"/>
                </a:solidFill>
                <a:latin typeface="Segoe UI"/>
              </a:defRPr>
            </a:pPr>
            <a:r>
              <a:t>•  Indicators (IoCs): Signs that an incident HAS OCCURRED or IS CURRENTLY occurring.</a:t>
            </a:r>
          </a:p>
          <a:p>
            <a:pPr>
              <a:spcBef>
                <a:spcPts val="400"/>
              </a:spcBef>
              <a:defRPr sz="1050">
                <a:solidFill>
                  <a:srgbClr val="1E293B"/>
                </a:solidFill>
                <a:latin typeface="Segoe UI"/>
              </a:defRPr>
            </a:pPr>
            <a:r>
              <a:t>•  Indicator Examples: Antivirus alert for ransomware; unusual outbound traffic to foreign IP; unexpected system reboot with modified system files.</a:t>
            </a:r>
          </a:p>
          <a:p>
            <a:pPr>
              <a:spcBef>
                <a:spcPts val="400"/>
              </a:spcBef>
              <a:defRPr sz="1050">
                <a:solidFill>
                  <a:srgbClr val="1E293B"/>
                </a:solidFill>
                <a:latin typeface="Segoe UI"/>
              </a:defRPr>
            </a:pPr>
            <a:r>
              <a:t>•  SOC Challenge: Analysts receive hundreds of false positives daily and must rapidly validate legitimate indicators.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unizulu_watermark.png"/>
          <p:cNvPicPr>
            <a:picLocks noChangeAspect="1"/>
          </p:cNvPicPr>
          <p:nvPr/>
        </p:nvPicPr>
        <p:blipFill>
          <a:blip r:embed="rId2"/>
          <a:stretch>
            <a:fillRect/>
          </a:stretch>
        </p:blipFill>
        <p:spPr>
          <a:xfrm>
            <a:off x="4206240" y="1188720"/>
            <a:ext cx="3840480" cy="4800600"/>
          </a:xfrm>
          <a:prstGeom prst="rect">
            <a:avLst/>
          </a:prstGeom>
        </p:spPr>
      </p:pic>
      <p:sp>
        <p:nvSpPr>
          <p:cNvPr id="4" name="Rectangle 3"/>
          <p:cNvSpPr/>
          <p:nvPr/>
        </p:nvSpPr>
        <p:spPr>
          <a:xfrm>
            <a:off x="0" y="0"/>
            <a:ext cx="12191695" cy="1051560"/>
          </a:xfrm>
          <a:prstGeom prst="rect">
            <a:avLst/>
          </a:prstGeom>
          <a:solidFill>
            <a:srgbClr val="002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1051560"/>
            <a:ext cx="12191695"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unizulu_logo.png"/>
          <p:cNvPicPr>
            <a:picLocks noChangeAspect="1"/>
          </p:cNvPicPr>
          <p:nvPr/>
        </p:nvPicPr>
        <p:blipFill>
          <a:blip r:embed="rId3"/>
          <a:stretch>
            <a:fillRect/>
          </a:stretch>
        </p:blipFill>
        <p:spPr>
          <a:xfrm>
            <a:off x="457200" y="109728"/>
            <a:ext cx="658368" cy="822960"/>
          </a:xfrm>
          <a:prstGeom prst="rect">
            <a:avLst/>
          </a:prstGeom>
        </p:spPr>
      </p:pic>
      <p:sp>
        <p:nvSpPr>
          <p:cNvPr id="7" name="TextBox 6"/>
          <p:cNvSpPr txBox="1"/>
          <p:nvPr/>
        </p:nvSpPr>
        <p:spPr>
          <a:xfrm>
            <a:off x="1280160" y="109728"/>
            <a:ext cx="8961120" cy="822960"/>
          </a:xfrm>
          <a:prstGeom prst="rect">
            <a:avLst/>
          </a:prstGeom>
          <a:noFill/>
        </p:spPr>
        <p:txBody>
          <a:bodyPr wrap="square">
            <a:spAutoFit/>
          </a:bodyPr>
          <a:lstStyle/>
          <a:p>
            <a:pPr>
              <a:defRPr sz="1000" b="1">
                <a:solidFill>
                  <a:srgbClr val="F59E0B"/>
                </a:solidFill>
                <a:latin typeface="Segoe UI"/>
              </a:defRPr>
            </a:pPr>
            <a:r>
              <a:t>28.4 INCIDENT RESPONSE • MASTER LIFE CYCLE INFOGRAPHIC</a:t>
            </a:r>
          </a:p>
          <a:p>
            <a:pPr>
              <a:defRPr sz="1900" b="1">
                <a:solidFill>
                  <a:srgbClr val="FFFFFF"/>
                </a:solidFill>
                <a:latin typeface="Segoe UI"/>
              </a:defRPr>
            </a:pPr>
            <a:r>
              <a:t>NIST SP 800-61r2: Incident Response Life Cycle</a:t>
            </a:r>
          </a:p>
        </p:txBody>
      </p:sp>
      <p:sp>
        <p:nvSpPr>
          <p:cNvPr id="8" name="TextBox 7"/>
          <p:cNvSpPr txBox="1"/>
          <p:nvPr/>
        </p:nvSpPr>
        <p:spPr>
          <a:xfrm>
            <a:off x="9601200" y="182880"/>
            <a:ext cx="2103120" cy="640080"/>
          </a:xfrm>
          <a:prstGeom prst="rect">
            <a:avLst/>
          </a:prstGeom>
          <a:noFill/>
        </p:spPr>
        <p:txBody>
          <a:bodyPr wrap="none">
            <a:spAutoFit/>
          </a:bodyPr>
          <a:lstStyle/>
          <a:p>
            <a:pPr algn="r">
              <a:defRPr sz="1200" b="1">
                <a:solidFill>
                  <a:srgbClr val="F59E0B"/>
                </a:solidFill>
                <a:latin typeface="Segoe UI"/>
              </a:defRPr>
            </a:pPr>
            <a:r>
              <a:t>UNIZULU CSIRT</a:t>
            </a:r>
          </a:p>
          <a:p>
            <a:pPr algn="r">
              <a:defRPr sz="1000">
                <a:solidFill>
                  <a:srgbClr val="FFFFFF"/>
                </a:solidFill>
                <a:latin typeface="Segoe UI"/>
              </a:defRPr>
            </a:pPr>
            <a:r>
              <a:t>Module 28 • CyberOps</a:t>
            </a:r>
          </a:p>
        </p:txBody>
      </p:sp>
      <p:sp>
        <p:nvSpPr>
          <p:cNvPr id="9" name="Rectangle 8"/>
          <p:cNvSpPr/>
          <p:nvPr/>
        </p:nvSpPr>
        <p:spPr>
          <a:xfrm>
            <a:off x="0" y="6446520"/>
            <a:ext cx="12191695" cy="411480"/>
          </a:xfrm>
          <a:prstGeom prst="rect">
            <a:avLst/>
          </a:prstGeom>
          <a:solidFill>
            <a:srgbClr val="0018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428232"/>
            <a:ext cx="12191695" cy="18288"/>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473952"/>
            <a:ext cx="8229600" cy="320040"/>
          </a:xfrm>
          <a:prstGeom prst="rect">
            <a:avLst/>
          </a:prstGeom>
          <a:noFill/>
        </p:spPr>
        <p:txBody>
          <a:bodyPr wrap="none">
            <a:spAutoFit/>
          </a:bodyPr>
          <a:lstStyle/>
          <a:p>
            <a:pPr>
              <a:defRPr sz="950">
                <a:solidFill>
                  <a:srgbClr val="FEF3C7"/>
                </a:solidFill>
                <a:latin typeface="Segoe UI"/>
              </a:defRPr>
            </a:pPr>
            <a:r>
              <a:t>University of Zululand • Faculty of Science, Agriculture &amp; Technology • Department of Computer Science</a:t>
            </a:r>
          </a:p>
        </p:txBody>
      </p:sp>
      <p:sp>
        <p:nvSpPr>
          <p:cNvPr id="12" name="TextBox 11"/>
          <p:cNvSpPr txBox="1"/>
          <p:nvPr/>
        </p:nvSpPr>
        <p:spPr>
          <a:xfrm>
            <a:off x="9601200" y="6473952"/>
            <a:ext cx="2103120" cy="320040"/>
          </a:xfrm>
          <a:prstGeom prst="rect">
            <a:avLst/>
          </a:prstGeom>
          <a:noFill/>
        </p:spPr>
        <p:txBody>
          <a:bodyPr wrap="none">
            <a:spAutoFit/>
          </a:bodyPr>
          <a:lstStyle/>
          <a:p>
            <a:pPr algn="r">
              <a:defRPr sz="1000" b="1">
                <a:solidFill>
                  <a:srgbClr val="FFFFFF"/>
                </a:solidFill>
                <a:latin typeface="Segoe UI"/>
              </a:defRPr>
            </a:pPr>
            <a:r>
              <a:t>Slide 20 of 26</a:t>
            </a:r>
          </a:p>
        </p:txBody>
      </p:sp>
      <p:sp>
        <p:nvSpPr>
          <p:cNvPr id="13" name="Rounded Rectangle 12"/>
          <p:cNvSpPr/>
          <p:nvPr/>
        </p:nvSpPr>
        <p:spPr>
          <a:xfrm>
            <a:off x="502920" y="1234440"/>
            <a:ext cx="6858000" cy="4937760"/>
          </a:xfrm>
          <a:prstGeom prst="roundRect">
            <a:avLst/>
          </a:prstGeom>
          <a:solidFill>
            <a:srgbClr val="FFFFFF"/>
          </a:solidFill>
          <a:ln w="25400">
            <a:solidFill>
              <a:srgbClr val="0028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1c0ca5b4-26dd-4eac-abb6-a4967573c9e2.jfif"/>
          <p:cNvPicPr>
            <a:picLocks noChangeAspect="1"/>
          </p:cNvPicPr>
          <p:nvPr/>
        </p:nvPicPr>
        <p:blipFill>
          <a:blip r:embed="rId5"/>
          <a:stretch>
            <a:fillRect/>
          </a:stretch>
        </p:blipFill>
        <p:spPr>
          <a:xfrm>
            <a:off x="640080" y="1371600"/>
            <a:ext cx="6583680" cy="3594021"/>
          </a:xfrm>
          <a:prstGeom prst="rect">
            <a:avLst/>
          </a:prstGeom>
        </p:spPr>
      </p:pic>
      <p:sp>
        <p:nvSpPr>
          <p:cNvPr id="15" name="Rectangle 14"/>
          <p:cNvSpPr/>
          <p:nvPr/>
        </p:nvSpPr>
        <p:spPr>
          <a:xfrm>
            <a:off x="502920" y="5806440"/>
            <a:ext cx="6858000" cy="365760"/>
          </a:xfrm>
          <a:prstGeom prst="rect">
            <a:avLst/>
          </a:prstGeom>
          <a:solidFill>
            <a:srgbClr val="002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59E0B"/>
                </a:solidFill>
                <a:latin typeface="Segoe UI"/>
              </a:defRPr>
            </a:pPr>
            <a:r>
              <a:t>Cisco CyberOps Associate • Module 28 Master Architecture Diagram</a:t>
            </a:r>
          </a:p>
        </p:txBody>
      </p:sp>
      <p:sp>
        <p:nvSpPr>
          <p:cNvPr id="16" name="Rounded Rectangle 15"/>
          <p:cNvSpPr/>
          <p:nvPr/>
        </p:nvSpPr>
        <p:spPr>
          <a:xfrm>
            <a:off x="7543800" y="1234440"/>
            <a:ext cx="4160520" cy="1536192"/>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80960" y="1307592"/>
            <a:ext cx="3886200" cy="1389888"/>
          </a:xfrm>
          <a:prstGeom prst="rect">
            <a:avLst/>
          </a:prstGeom>
          <a:noFill/>
        </p:spPr>
        <p:txBody>
          <a:bodyPr wrap="square">
            <a:spAutoFit/>
          </a:bodyPr>
          <a:lstStyle/>
          <a:p>
            <a:pPr>
              <a:defRPr sz="1200" b="1">
                <a:solidFill>
                  <a:srgbClr val="002855"/>
                </a:solidFill>
                <a:latin typeface="Segoe UI"/>
              </a:defRPr>
            </a:pPr>
            <a:r>
              <a:t>Circular 4-Phase Life Cycle (28.4.4)</a:t>
            </a:r>
          </a:p>
          <a:p>
            <a:pPr>
              <a:spcBef>
                <a:spcPts val="300"/>
              </a:spcBef>
              <a:defRPr sz="1000">
                <a:solidFill>
                  <a:srgbClr val="1E293B"/>
                </a:solidFill>
                <a:latin typeface="Segoe UI"/>
              </a:defRPr>
            </a:pPr>
            <a:r>
              <a:t>Continuous loop: Preparation (team, jump kits) ➔ Detection &amp; Analysis (vector matrix, validation) ➔ Containment, Eradication &amp; Recovery (clean-up, restore) ➔ Post-Incident Activities (lessons learned).</a:t>
            </a:r>
          </a:p>
        </p:txBody>
      </p:sp>
      <p:sp>
        <p:nvSpPr>
          <p:cNvPr id="18" name="Rounded Rectangle 17"/>
          <p:cNvSpPr/>
          <p:nvPr/>
        </p:nvSpPr>
        <p:spPr>
          <a:xfrm>
            <a:off x="7543800" y="2935224"/>
            <a:ext cx="4160520" cy="1536192"/>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680960" y="3008376"/>
            <a:ext cx="3886200" cy="1389888"/>
          </a:xfrm>
          <a:prstGeom prst="rect">
            <a:avLst/>
          </a:prstGeom>
          <a:noFill/>
        </p:spPr>
        <p:txBody>
          <a:bodyPr wrap="square">
            <a:spAutoFit/>
          </a:bodyPr>
          <a:lstStyle/>
          <a:p>
            <a:pPr>
              <a:defRPr sz="1200" b="1">
                <a:solidFill>
                  <a:srgbClr val="002855"/>
                </a:solidFill>
                <a:latin typeface="Segoe UI"/>
              </a:defRPr>
            </a:pPr>
            <a:r>
              <a:t>Capability &amp; Stakeholders (28.4.1 - 28.4.3)</a:t>
            </a:r>
          </a:p>
          <a:p>
            <a:pPr>
              <a:spcBef>
                <a:spcPts val="300"/>
              </a:spcBef>
              <a:defRPr sz="1000">
                <a:solidFill>
                  <a:srgbClr val="1E293B"/>
                </a:solidFill>
                <a:latin typeface="Segoe UI"/>
              </a:defRPr>
            </a:pPr>
            <a:r>
              <a:t>Three baseline governance documents (Policy, Plan, Procedures); Cross-functional team (Management, IT, Legal, PR, HR); DoD CMMC maturity levels 2 to 5.</a:t>
            </a:r>
          </a:p>
        </p:txBody>
      </p:sp>
      <p:sp>
        <p:nvSpPr>
          <p:cNvPr id="20" name="Rounded Rectangle 19"/>
          <p:cNvSpPr/>
          <p:nvPr/>
        </p:nvSpPr>
        <p:spPr>
          <a:xfrm>
            <a:off x="7543800" y="4636008"/>
            <a:ext cx="4160520" cy="1536192"/>
          </a:xfrm>
          <a:prstGeom prst="roundRect">
            <a:avLst/>
          </a:prstGeom>
          <a:solidFill>
            <a:srgbClr val="F8FAFC"/>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680960" y="4709160"/>
            <a:ext cx="3886200" cy="1389888"/>
          </a:xfrm>
          <a:prstGeom prst="rect">
            <a:avLst/>
          </a:prstGeom>
          <a:noFill/>
        </p:spPr>
        <p:txBody>
          <a:bodyPr wrap="square">
            <a:spAutoFit/>
          </a:bodyPr>
          <a:lstStyle/>
          <a:p>
            <a:pPr>
              <a:defRPr sz="1200" b="1">
                <a:solidFill>
                  <a:srgbClr val="002855"/>
                </a:solidFill>
                <a:latin typeface="Segoe UI"/>
              </a:defRPr>
            </a:pPr>
            <a:r>
              <a:t>Operational Decision-Making (28.4.6 - 28.4.9)</a:t>
            </a:r>
          </a:p>
          <a:p>
            <a:pPr>
              <a:spcBef>
                <a:spcPts val="300"/>
              </a:spcBef>
              <a:defRPr sz="1000">
                <a:solidFill>
                  <a:srgbClr val="1E293B"/>
                </a:solidFill>
                <a:latin typeface="Segoe UI"/>
              </a:defRPr>
            </a:pPr>
            <a:r>
              <a:t>7 Attack vectors matrix; Containment dilemma (sudden disconnect vs. monitoring); Evidence retention determined by Prosecution, Data Type, and Cost.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unizulu_watermark.png"/>
          <p:cNvPicPr>
            <a:picLocks noChangeAspect="1"/>
          </p:cNvPicPr>
          <p:nvPr/>
        </p:nvPicPr>
        <p:blipFill>
          <a:blip r:embed="rId2"/>
          <a:stretch>
            <a:fillRect/>
          </a:stretch>
        </p:blipFill>
        <p:spPr>
          <a:xfrm>
            <a:off x="4206240" y="1188720"/>
            <a:ext cx="3840480" cy="4800600"/>
          </a:xfrm>
          <a:prstGeom prst="rect">
            <a:avLst/>
          </a:prstGeom>
        </p:spPr>
      </p:pic>
      <p:sp>
        <p:nvSpPr>
          <p:cNvPr id="4" name="Rectangle 3"/>
          <p:cNvSpPr/>
          <p:nvPr/>
        </p:nvSpPr>
        <p:spPr>
          <a:xfrm>
            <a:off x="0" y="0"/>
            <a:ext cx="12191695" cy="1051560"/>
          </a:xfrm>
          <a:prstGeom prst="rect">
            <a:avLst/>
          </a:prstGeom>
          <a:solidFill>
            <a:srgbClr val="002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1051560"/>
            <a:ext cx="12191695"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unizulu_logo.png"/>
          <p:cNvPicPr>
            <a:picLocks noChangeAspect="1"/>
          </p:cNvPicPr>
          <p:nvPr/>
        </p:nvPicPr>
        <p:blipFill>
          <a:blip r:embed="rId3"/>
          <a:stretch>
            <a:fillRect/>
          </a:stretch>
        </p:blipFill>
        <p:spPr>
          <a:xfrm>
            <a:off x="457200" y="109728"/>
            <a:ext cx="658368" cy="822960"/>
          </a:xfrm>
          <a:prstGeom prst="rect">
            <a:avLst/>
          </a:prstGeom>
        </p:spPr>
      </p:pic>
      <p:sp>
        <p:nvSpPr>
          <p:cNvPr id="7" name="TextBox 6"/>
          <p:cNvSpPr txBox="1"/>
          <p:nvPr/>
        </p:nvSpPr>
        <p:spPr>
          <a:xfrm>
            <a:off x="1280160" y="109728"/>
            <a:ext cx="8961120" cy="822960"/>
          </a:xfrm>
          <a:prstGeom prst="rect">
            <a:avLst/>
          </a:prstGeom>
          <a:noFill/>
        </p:spPr>
        <p:txBody>
          <a:bodyPr wrap="square">
            <a:spAutoFit/>
          </a:bodyPr>
          <a:lstStyle/>
          <a:p>
            <a:pPr>
              <a:defRPr sz="1000" b="1">
                <a:solidFill>
                  <a:srgbClr val="F59E0B"/>
                </a:solidFill>
                <a:latin typeface="Segoe UI"/>
              </a:defRPr>
            </a:pPr>
            <a:r>
              <a:t>28.4 INCIDENT RESPONSE • 28.4.5 &amp; 28.4.6 VECTORS</a:t>
            </a:r>
          </a:p>
          <a:p>
            <a:pPr>
              <a:defRPr sz="1900" b="1">
                <a:solidFill>
                  <a:srgbClr val="FFFFFF"/>
                </a:solidFill>
                <a:latin typeface="Segoe UI"/>
              </a:defRPr>
            </a:pPr>
            <a:r>
              <a:t>Preparation, Jump Kits &amp; Attack Vectors</a:t>
            </a:r>
          </a:p>
        </p:txBody>
      </p:sp>
      <p:sp>
        <p:nvSpPr>
          <p:cNvPr id="8" name="TextBox 7"/>
          <p:cNvSpPr txBox="1"/>
          <p:nvPr/>
        </p:nvSpPr>
        <p:spPr>
          <a:xfrm>
            <a:off x="9601200" y="182880"/>
            <a:ext cx="2103120" cy="640080"/>
          </a:xfrm>
          <a:prstGeom prst="rect">
            <a:avLst/>
          </a:prstGeom>
          <a:noFill/>
        </p:spPr>
        <p:txBody>
          <a:bodyPr wrap="none">
            <a:spAutoFit/>
          </a:bodyPr>
          <a:lstStyle/>
          <a:p>
            <a:pPr algn="r">
              <a:defRPr sz="1200" b="1">
                <a:solidFill>
                  <a:srgbClr val="F59E0B"/>
                </a:solidFill>
                <a:latin typeface="Segoe UI"/>
              </a:defRPr>
            </a:pPr>
            <a:r>
              <a:t>UNIZULU CSIRT</a:t>
            </a:r>
          </a:p>
          <a:p>
            <a:pPr algn="r">
              <a:defRPr sz="1000">
                <a:solidFill>
                  <a:srgbClr val="FFFFFF"/>
                </a:solidFill>
                <a:latin typeface="Segoe UI"/>
              </a:defRPr>
            </a:pPr>
            <a:r>
              <a:t>Module 28 • CyberOps</a:t>
            </a:r>
          </a:p>
        </p:txBody>
      </p:sp>
      <p:sp>
        <p:nvSpPr>
          <p:cNvPr id="9" name="Rectangle 8"/>
          <p:cNvSpPr/>
          <p:nvPr/>
        </p:nvSpPr>
        <p:spPr>
          <a:xfrm>
            <a:off x="0" y="6446520"/>
            <a:ext cx="12191695" cy="411480"/>
          </a:xfrm>
          <a:prstGeom prst="rect">
            <a:avLst/>
          </a:prstGeom>
          <a:solidFill>
            <a:srgbClr val="0018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428232"/>
            <a:ext cx="12191695" cy="18288"/>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473952"/>
            <a:ext cx="8229600" cy="320040"/>
          </a:xfrm>
          <a:prstGeom prst="rect">
            <a:avLst/>
          </a:prstGeom>
          <a:noFill/>
        </p:spPr>
        <p:txBody>
          <a:bodyPr wrap="none">
            <a:spAutoFit/>
          </a:bodyPr>
          <a:lstStyle/>
          <a:p>
            <a:pPr>
              <a:defRPr sz="950">
                <a:solidFill>
                  <a:srgbClr val="FEF3C7"/>
                </a:solidFill>
                <a:latin typeface="Segoe UI"/>
              </a:defRPr>
            </a:pPr>
            <a:r>
              <a:t>University of Zululand • Faculty of Science, Agriculture &amp; Technology • Department of Computer Science</a:t>
            </a:r>
          </a:p>
        </p:txBody>
      </p:sp>
      <p:sp>
        <p:nvSpPr>
          <p:cNvPr id="12" name="TextBox 11"/>
          <p:cNvSpPr txBox="1"/>
          <p:nvPr/>
        </p:nvSpPr>
        <p:spPr>
          <a:xfrm>
            <a:off x="9601200" y="6473952"/>
            <a:ext cx="2103120" cy="320040"/>
          </a:xfrm>
          <a:prstGeom prst="rect">
            <a:avLst/>
          </a:prstGeom>
          <a:noFill/>
        </p:spPr>
        <p:txBody>
          <a:bodyPr wrap="none">
            <a:spAutoFit/>
          </a:bodyPr>
          <a:lstStyle/>
          <a:p>
            <a:pPr algn="r">
              <a:defRPr sz="1000" b="1">
                <a:solidFill>
                  <a:srgbClr val="FFFFFF"/>
                </a:solidFill>
                <a:latin typeface="Segoe UI"/>
              </a:defRPr>
            </a:pPr>
            <a:r>
              <a:t>Slide 21 of 26</a:t>
            </a:r>
          </a:p>
        </p:txBody>
      </p:sp>
      <p:sp>
        <p:nvSpPr>
          <p:cNvPr id="13" name="Rounded Rectangle 12"/>
          <p:cNvSpPr/>
          <p:nvPr/>
        </p:nvSpPr>
        <p:spPr>
          <a:xfrm>
            <a:off x="548640" y="1280160"/>
            <a:ext cx="5303520" cy="4846320"/>
          </a:xfrm>
          <a:prstGeom prst="roundRect">
            <a:avLst/>
          </a:prstGeom>
          <a:solidFill>
            <a:srgbClr val="F8FAFC"/>
          </a:solidFill>
          <a:ln w="19050">
            <a:solidFill>
              <a:srgbClr val="0028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 y="1417320"/>
            <a:ext cx="4974336" cy="4572000"/>
          </a:xfrm>
          <a:prstGeom prst="rect">
            <a:avLst/>
          </a:prstGeom>
          <a:noFill/>
        </p:spPr>
        <p:txBody>
          <a:bodyPr wrap="square">
            <a:spAutoFit/>
          </a:bodyPr>
          <a:lstStyle/>
          <a:p>
            <a:pPr>
              <a:defRPr sz="1400" b="1">
                <a:solidFill>
                  <a:srgbClr val="002855"/>
                </a:solidFill>
                <a:latin typeface="Segoe UI"/>
              </a:defRPr>
            </a:pPr>
            <a:r>
              <a:t>Forensic Jump Kit Hardware &amp; Tools</a:t>
            </a:r>
          </a:p>
          <a:p>
            <a:pPr>
              <a:spcBef>
                <a:spcPts val="400"/>
              </a:spcBef>
              <a:defRPr sz="1050">
                <a:solidFill>
                  <a:srgbClr val="1E293B"/>
                </a:solidFill>
                <a:latin typeface="Segoe UI"/>
              </a:defRPr>
            </a:pPr>
            <a:r>
              <a:t>•  Dedicated Laptop: Hardened machine pre-loaded with packet sniffers, memory acquisition tools, and forensic software suites.</a:t>
            </a:r>
          </a:p>
          <a:p>
            <a:pPr>
              <a:spcBef>
                <a:spcPts val="400"/>
              </a:spcBef>
              <a:defRPr sz="1050">
                <a:solidFill>
                  <a:srgbClr val="1E293B"/>
                </a:solidFill>
                <a:latin typeface="Segoe UI"/>
              </a:defRPr>
            </a:pPr>
            <a:r>
              <a:t>•  Hardware Write-Blockers: Forensic bridges preventing disk write operations during bit-level cloning.</a:t>
            </a:r>
          </a:p>
          <a:p>
            <a:pPr>
              <a:spcBef>
                <a:spcPts val="400"/>
              </a:spcBef>
              <a:defRPr sz="1050">
                <a:solidFill>
                  <a:srgbClr val="1E293B"/>
                </a:solidFill>
                <a:latin typeface="Segoe UI"/>
              </a:defRPr>
            </a:pPr>
            <a:r>
              <a:t>•  Clean Storage Media: Cryptographically wiped external SSDs and thumb drives for storing evidence images.</a:t>
            </a:r>
          </a:p>
          <a:p>
            <a:pPr>
              <a:spcBef>
                <a:spcPts val="400"/>
              </a:spcBef>
              <a:defRPr sz="1050">
                <a:solidFill>
                  <a:srgbClr val="1E293B"/>
                </a:solidFill>
                <a:latin typeface="Segoe UI"/>
              </a:defRPr>
            </a:pPr>
            <a:r>
              <a:t>•  Network Tap &amp; Cables: Hardware taps, ethernet crossover cables, and patch cables for passive traffic sniffing.</a:t>
            </a:r>
          </a:p>
          <a:p>
            <a:pPr>
              <a:spcBef>
                <a:spcPts val="400"/>
              </a:spcBef>
              <a:defRPr sz="1050">
                <a:solidFill>
                  <a:srgbClr val="1E293B"/>
                </a:solidFill>
                <a:latin typeface="Segoe UI"/>
              </a:defRPr>
            </a:pPr>
            <a:r>
              <a:t>•  Documentation Supplies: Chain of custody forms, evidence tape, antistatic bags, and tamper-evident labels.</a:t>
            </a:r>
          </a:p>
        </p:txBody>
      </p:sp>
      <p:sp>
        <p:nvSpPr>
          <p:cNvPr id="15" name="Rounded Rectangle 14"/>
          <p:cNvSpPr/>
          <p:nvPr/>
        </p:nvSpPr>
        <p:spPr>
          <a:xfrm>
            <a:off x="6217920" y="1280160"/>
            <a:ext cx="5303520" cy="4846320"/>
          </a:xfrm>
          <a:prstGeom prst="roundRect">
            <a:avLst/>
          </a:prstGeom>
          <a:solidFill>
            <a:srgbClr val="F8FAFC"/>
          </a:solidFill>
          <a:ln w="19050">
            <a:solidFill>
              <a:srgbClr val="0028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82512" y="1417320"/>
            <a:ext cx="4974336" cy="4572000"/>
          </a:xfrm>
          <a:prstGeom prst="rect">
            <a:avLst/>
          </a:prstGeom>
          <a:noFill/>
        </p:spPr>
        <p:txBody>
          <a:bodyPr wrap="square">
            <a:spAutoFit/>
          </a:bodyPr>
          <a:lstStyle/>
          <a:p>
            <a:pPr>
              <a:defRPr sz="1400" b="1">
                <a:solidFill>
                  <a:srgbClr val="002855"/>
                </a:solidFill>
                <a:latin typeface="Segoe UI"/>
              </a:defRPr>
            </a:pPr>
            <a:r>
              <a:t>7 NIST Common Attack Vectors</a:t>
            </a:r>
          </a:p>
          <a:p>
            <a:pPr>
              <a:spcBef>
                <a:spcPts val="400"/>
              </a:spcBef>
              <a:defRPr sz="1050">
                <a:solidFill>
                  <a:srgbClr val="1E293B"/>
                </a:solidFill>
                <a:latin typeface="Segoe UI"/>
              </a:defRPr>
            </a:pPr>
            <a:r>
              <a:t>•  1. Web: Attacks launched from web applications, cross-site scripting (XSS), SQL injection, or drive-by downloads.</a:t>
            </a:r>
          </a:p>
          <a:p>
            <a:pPr>
              <a:spcBef>
                <a:spcPts val="400"/>
              </a:spcBef>
              <a:defRPr sz="1050">
                <a:solidFill>
                  <a:srgbClr val="1E293B"/>
                </a:solidFill>
                <a:latin typeface="Segoe UI"/>
              </a:defRPr>
            </a:pPr>
            <a:r>
              <a:t>•  2. Email: Phishing attacks, malicious attachments, or social engineering links.</a:t>
            </a:r>
          </a:p>
          <a:p>
            <a:pPr>
              <a:spcBef>
                <a:spcPts val="400"/>
              </a:spcBef>
              <a:defRPr sz="1050">
                <a:solidFill>
                  <a:srgbClr val="1E293B"/>
                </a:solidFill>
                <a:latin typeface="Segoe UI"/>
              </a:defRPr>
            </a:pPr>
            <a:r>
              <a:t>•  3. Loss or Theft: Stolen laptops, smartphones, or backup storage drives.</a:t>
            </a:r>
          </a:p>
          <a:p>
            <a:pPr>
              <a:spcBef>
                <a:spcPts val="400"/>
              </a:spcBef>
              <a:defRPr sz="1050">
                <a:solidFill>
                  <a:srgbClr val="1E293B"/>
                </a:solidFill>
                <a:latin typeface="Segoe UI"/>
              </a:defRPr>
            </a:pPr>
            <a:r>
              <a:t>•  4. Impersonation: Social engineering, spoofing, man-in-the-middle, or rogue access points.</a:t>
            </a:r>
          </a:p>
          <a:p>
            <a:pPr>
              <a:spcBef>
                <a:spcPts val="400"/>
              </a:spcBef>
              <a:defRPr sz="1050">
                <a:solidFill>
                  <a:srgbClr val="1E293B"/>
                </a:solidFill>
                <a:latin typeface="Segoe UI"/>
              </a:defRPr>
            </a:pPr>
            <a:r>
              <a:t>•  5. Attrition: Denial of Service (DoS/DDoS) exhausting network bandwidth or server resources.</a:t>
            </a:r>
          </a:p>
          <a:p>
            <a:pPr>
              <a:spcBef>
                <a:spcPts val="400"/>
              </a:spcBef>
              <a:defRPr sz="1050">
                <a:solidFill>
                  <a:srgbClr val="1E293B"/>
                </a:solidFill>
                <a:latin typeface="Segoe UI"/>
              </a:defRPr>
            </a:pPr>
            <a:r>
              <a:t>•  6. Removable Media: Malware executed from infected USB flash drives or external drives.</a:t>
            </a:r>
          </a:p>
          <a:p>
            <a:pPr>
              <a:spcBef>
                <a:spcPts val="400"/>
              </a:spcBef>
              <a:defRPr sz="1050">
                <a:solidFill>
                  <a:srgbClr val="1E293B"/>
                </a:solidFill>
                <a:latin typeface="Segoe UI"/>
              </a:defRPr>
            </a:pPr>
            <a:r>
              <a:t>•  7. External/Hardware: Exploiting hardware firmware or unauthorized physical network devices.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unizulu_watermark.png"/>
          <p:cNvPicPr>
            <a:picLocks noChangeAspect="1"/>
          </p:cNvPicPr>
          <p:nvPr/>
        </p:nvPicPr>
        <p:blipFill>
          <a:blip r:embed="rId2"/>
          <a:stretch>
            <a:fillRect/>
          </a:stretch>
        </p:blipFill>
        <p:spPr>
          <a:xfrm>
            <a:off x="4206240" y="1188720"/>
            <a:ext cx="3840480" cy="4800600"/>
          </a:xfrm>
          <a:prstGeom prst="rect">
            <a:avLst/>
          </a:prstGeom>
        </p:spPr>
      </p:pic>
      <p:sp>
        <p:nvSpPr>
          <p:cNvPr id="4" name="Rectangle 3"/>
          <p:cNvSpPr/>
          <p:nvPr/>
        </p:nvSpPr>
        <p:spPr>
          <a:xfrm>
            <a:off x="0" y="0"/>
            <a:ext cx="12191695" cy="1051560"/>
          </a:xfrm>
          <a:prstGeom prst="rect">
            <a:avLst/>
          </a:prstGeom>
          <a:solidFill>
            <a:srgbClr val="002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1051560"/>
            <a:ext cx="12191695"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unizulu_logo.png"/>
          <p:cNvPicPr>
            <a:picLocks noChangeAspect="1"/>
          </p:cNvPicPr>
          <p:nvPr/>
        </p:nvPicPr>
        <p:blipFill>
          <a:blip r:embed="rId3"/>
          <a:stretch>
            <a:fillRect/>
          </a:stretch>
        </p:blipFill>
        <p:spPr>
          <a:xfrm>
            <a:off x="457200" y="109728"/>
            <a:ext cx="658368" cy="822960"/>
          </a:xfrm>
          <a:prstGeom prst="rect">
            <a:avLst/>
          </a:prstGeom>
        </p:spPr>
      </p:pic>
      <p:sp>
        <p:nvSpPr>
          <p:cNvPr id="7" name="TextBox 6"/>
          <p:cNvSpPr txBox="1"/>
          <p:nvPr/>
        </p:nvSpPr>
        <p:spPr>
          <a:xfrm>
            <a:off x="1280160" y="109728"/>
            <a:ext cx="8961120" cy="822960"/>
          </a:xfrm>
          <a:prstGeom prst="rect">
            <a:avLst/>
          </a:prstGeom>
          <a:noFill/>
        </p:spPr>
        <p:txBody>
          <a:bodyPr wrap="square">
            <a:spAutoFit/>
          </a:bodyPr>
          <a:lstStyle/>
          <a:p>
            <a:pPr>
              <a:defRPr sz="1000" b="1">
                <a:solidFill>
                  <a:srgbClr val="F59E0B"/>
                </a:solidFill>
                <a:latin typeface="Segoe UI"/>
              </a:defRPr>
            </a:pPr>
            <a:r>
              <a:t>28.4 INCIDENT RESPONSE • 28.4.7 CONTAINMENT &amp; RECOVERY</a:t>
            </a:r>
          </a:p>
          <a:p>
            <a:pPr>
              <a:defRPr sz="1900" b="1">
                <a:solidFill>
                  <a:srgbClr val="FFFFFF"/>
                </a:solidFill>
                <a:latin typeface="Segoe UI"/>
              </a:defRPr>
            </a:pPr>
            <a:r>
              <a:t>Containment, Eradication &amp; Recovery</a:t>
            </a:r>
          </a:p>
        </p:txBody>
      </p:sp>
      <p:sp>
        <p:nvSpPr>
          <p:cNvPr id="8" name="TextBox 7"/>
          <p:cNvSpPr txBox="1"/>
          <p:nvPr/>
        </p:nvSpPr>
        <p:spPr>
          <a:xfrm>
            <a:off x="9601200" y="182880"/>
            <a:ext cx="2103120" cy="640080"/>
          </a:xfrm>
          <a:prstGeom prst="rect">
            <a:avLst/>
          </a:prstGeom>
          <a:noFill/>
        </p:spPr>
        <p:txBody>
          <a:bodyPr wrap="none">
            <a:spAutoFit/>
          </a:bodyPr>
          <a:lstStyle/>
          <a:p>
            <a:pPr algn="r">
              <a:defRPr sz="1200" b="1">
                <a:solidFill>
                  <a:srgbClr val="F59E0B"/>
                </a:solidFill>
                <a:latin typeface="Segoe UI"/>
              </a:defRPr>
            </a:pPr>
            <a:r>
              <a:t>UNIZULU CSIRT</a:t>
            </a:r>
          </a:p>
          <a:p>
            <a:pPr algn="r">
              <a:defRPr sz="1000">
                <a:solidFill>
                  <a:srgbClr val="FFFFFF"/>
                </a:solidFill>
                <a:latin typeface="Segoe UI"/>
              </a:defRPr>
            </a:pPr>
            <a:r>
              <a:t>Module 28 • CyberOps</a:t>
            </a:r>
          </a:p>
        </p:txBody>
      </p:sp>
      <p:sp>
        <p:nvSpPr>
          <p:cNvPr id="9" name="Rectangle 8"/>
          <p:cNvSpPr/>
          <p:nvPr/>
        </p:nvSpPr>
        <p:spPr>
          <a:xfrm>
            <a:off x="0" y="6446520"/>
            <a:ext cx="12191695" cy="411480"/>
          </a:xfrm>
          <a:prstGeom prst="rect">
            <a:avLst/>
          </a:prstGeom>
          <a:solidFill>
            <a:srgbClr val="0018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428232"/>
            <a:ext cx="12191695" cy="18288"/>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473952"/>
            <a:ext cx="8229600" cy="320040"/>
          </a:xfrm>
          <a:prstGeom prst="rect">
            <a:avLst/>
          </a:prstGeom>
          <a:noFill/>
        </p:spPr>
        <p:txBody>
          <a:bodyPr wrap="none">
            <a:spAutoFit/>
          </a:bodyPr>
          <a:lstStyle/>
          <a:p>
            <a:pPr>
              <a:defRPr sz="950">
                <a:solidFill>
                  <a:srgbClr val="FEF3C7"/>
                </a:solidFill>
                <a:latin typeface="Segoe UI"/>
              </a:defRPr>
            </a:pPr>
            <a:r>
              <a:t>University of Zululand • Faculty of Science, Agriculture &amp; Technology • Department of Computer Science</a:t>
            </a:r>
          </a:p>
        </p:txBody>
      </p:sp>
      <p:sp>
        <p:nvSpPr>
          <p:cNvPr id="12" name="TextBox 11"/>
          <p:cNvSpPr txBox="1"/>
          <p:nvPr/>
        </p:nvSpPr>
        <p:spPr>
          <a:xfrm>
            <a:off x="9601200" y="6473952"/>
            <a:ext cx="2103120" cy="320040"/>
          </a:xfrm>
          <a:prstGeom prst="rect">
            <a:avLst/>
          </a:prstGeom>
          <a:noFill/>
        </p:spPr>
        <p:txBody>
          <a:bodyPr wrap="none">
            <a:spAutoFit/>
          </a:bodyPr>
          <a:lstStyle/>
          <a:p>
            <a:pPr algn="r">
              <a:defRPr sz="1000" b="1">
                <a:solidFill>
                  <a:srgbClr val="FFFFFF"/>
                </a:solidFill>
                <a:latin typeface="Segoe UI"/>
              </a:defRPr>
            </a:pPr>
            <a:r>
              <a:t>Slide 22 of 26</a:t>
            </a:r>
          </a:p>
        </p:txBody>
      </p:sp>
      <p:sp>
        <p:nvSpPr>
          <p:cNvPr id="13" name="Rounded Rectangle 12"/>
          <p:cNvSpPr/>
          <p:nvPr/>
        </p:nvSpPr>
        <p:spPr>
          <a:xfrm>
            <a:off x="548640" y="1280160"/>
            <a:ext cx="5303520" cy="4846320"/>
          </a:xfrm>
          <a:prstGeom prst="roundRect">
            <a:avLst/>
          </a:prstGeom>
          <a:solidFill>
            <a:srgbClr val="F8FAFC"/>
          </a:solidFill>
          <a:ln w="19050">
            <a:solidFill>
              <a:srgbClr val="0028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 y="1417320"/>
            <a:ext cx="4974336" cy="4572000"/>
          </a:xfrm>
          <a:prstGeom prst="rect">
            <a:avLst/>
          </a:prstGeom>
          <a:noFill/>
        </p:spPr>
        <p:txBody>
          <a:bodyPr wrap="square">
            <a:spAutoFit/>
          </a:bodyPr>
          <a:lstStyle/>
          <a:p>
            <a:pPr>
              <a:defRPr sz="1400" b="1">
                <a:solidFill>
                  <a:srgbClr val="002855"/>
                </a:solidFill>
                <a:latin typeface="Segoe UI"/>
              </a:defRPr>
            </a:pPr>
            <a:r>
              <a:t>Containment Strategy &amp; The Dilemma</a:t>
            </a:r>
          </a:p>
          <a:p>
            <a:pPr>
              <a:spcBef>
                <a:spcPts val="400"/>
              </a:spcBef>
              <a:defRPr sz="1050">
                <a:solidFill>
                  <a:srgbClr val="1E293B"/>
                </a:solidFill>
                <a:latin typeface="Segoe UI"/>
              </a:defRPr>
            </a:pPr>
            <a:r>
              <a:t>•  Strategy Criteria: Potential damage, evidence preservation needs, service availability impact, time/resources required, and solution duration.</a:t>
            </a:r>
          </a:p>
          <a:p>
            <a:pPr>
              <a:spcBef>
                <a:spcPts val="400"/>
              </a:spcBef>
              <a:defRPr sz="1050">
                <a:solidFill>
                  <a:srgbClr val="1E293B"/>
                </a:solidFill>
                <a:latin typeface="Segoe UI"/>
              </a:defRPr>
            </a:pPr>
            <a:r>
              <a:t>•  The Containment Dilemma: Abruptly disconnecting an infected server halts immediate spread, but tips off the adversary.</a:t>
            </a:r>
          </a:p>
          <a:p>
            <a:pPr>
              <a:spcBef>
                <a:spcPts val="400"/>
              </a:spcBef>
              <a:defRPr sz="1050">
                <a:solidFill>
                  <a:srgbClr val="1E293B"/>
                </a:solidFill>
                <a:latin typeface="Segoe UI"/>
              </a:defRPr>
            </a:pPr>
            <a:r>
              <a:t>•  Adversary Counteraction: If alerted, an adversary may execute anti-forensic wiper scripts or detonate ransomware early.</a:t>
            </a:r>
          </a:p>
          <a:p>
            <a:pPr>
              <a:spcBef>
                <a:spcPts val="400"/>
              </a:spcBef>
              <a:defRPr sz="1050">
                <a:solidFill>
                  <a:srgbClr val="1E293B"/>
                </a:solidFill>
                <a:latin typeface="Segoe UI"/>
              </a:defRPr>
            </a:pPr>
            <a:r>
              <a:t>•  Subtle Containment: Redirecting C2 traffic to a honeynet sinkhole or restricting VLAN routing allows the SOC to monitor TTPs without alerting the intruder.</a:t>
            </a:r>
          </a:p>
        </p:txBody>
      </p:sp>
      <p:sp>
        <p:nvSpPr>
          <p:cNvPr id="15" name="Rounded Rectangle 14"/>
          <p:cNvSpPr/>
          <p:nvPr/>
        </p:nvSpPr>
        <p:spPr>
          <a:xfrm>
            <a:off x="6217920" y="1280160"/>
            <a:ext cx="5303520" cy="4846320"/>
          </a:xfrm>
          <a:prstGeom prst="roundRect">
            <a:avLst/>
          </a:prstGeom>
          <a:solidFill>
            <a:srgbClr val="F8FAFC"/>
          </a:solidFill>
          <a:ln w="19050">
            <a:solidFill>
              <a:srgbClr val="0028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82512" y="1417320"/>
            <a:ext cx="4974336" cy="4572000"/>
          </a:xfrm>
          <a:prstGeom prst="rect">
            <a:avLst/>
          </a:prstGeom>
          <a:noFill/>
        </p:spPr>
        <p:txBody>
          <a:bodyPr wrap="square">
            <a:spAutoFit/>
          </a:bodyPr>
          <a:lstStyle/>
          <a:p>
            <a:pPr>
              <a:defRPr sz="1400" b="1">
                <a:solidFill>
                  <a:srgbClr val="002855"/>
                </a:solidFill>
                <a:latin typeface="Segoe UI"/>
              </a:defRPr>
            </a:pPr>
            <a:r>
              <a:t>Eradication &amp; Recovery Operations</a:t>
            </a:r>
          </a:p>
          <a:p>
            <a:pPr>
              <a:spcBef>
                <a:spcPts val="400"/>
              </a:spcBef>
              <a:defRPr sz="1050">
                <a:solidFill>
                  <a:srgbClr val="1E293B"/>
                </a:solidFill>
                <a:latin typeface="Segoe UI"/>
              </a:defRPr>
            </a:pPr>
            <a:r>
              <a:t>•  Eradication Tasks: Deleting malware binaries, disabling compromised user accounts, closing exploited vulnerabilities, and patching systems.</a:t>
            </a:r>
          </a:p>
          <a:p>
            <a:pPr>
              <a:spcBef>
                <a:spcPts val="400"/>
              </a:spcBef>
              <a:defRPr sz="1050">
                <a:solidFill>
                  <a:srgbClr val="1E293B"/>
                </a:solidFill>
                <a:latin typeface="Segoe UI"/>
              </a:defRPr>
            </a:pPr>
            <a:r>
              <a:t>•  Recovery Tasks: Restoring systems from clean, verified backups, rebuilding OS images, and changing all administrative passwords.</a:t>
            </a:r>
          </a:p>
          <a:p>
            <a:pPr>
              <a:spcBef>
                <a:spcPts val="400"/>
              </a:spcBef>
              <a:defRPr sz="1050">
                <a:solidFill>
                  <a:srgbClr val="1E293B"/>
                </a:solidFill>
                <a:latin typeface="Segoe UI"/>
              </a:defRPr>
            </a:pPr>
            <a:r>
              <a:t>•  Phased Restoration: Bringing critical business services online in controlled phases to verify integrity.</a:t>
            </a:r>
          </a:p>
          <a:p>
            <a:pPr>
              <a:spcBef>
                <a:spcPts val="400"/>
              </a:spcBef>
              <a:defRPr sz="1050">
                <a:solidFill>
                  <a:srgbClr val="1E293B"/>
                </a:solidFill>
                <a:latin typeface="Segoe UI"/>
              </a:defRPr>
            </a:pPr>
            <a:r>
              <a:t>•  Enhanced Monitoring: Operating high-frequency logging and continuous surveillance for 30+ days to ensure no dormant backdoors remain.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unizulu_watermark.png"/>
          <p:cNvPicPr>
            <a:picLocks noChangeAspect="1"/>
          </p:cNvPicPr>
          <p:nvPr/>
        </p:nvPicPr>
        <p:blipFill>
          <a:blip r:embed="rId2"/>
          <a:stretch>
            <a:fillRect/>
          </a:stretch>
        </p:blipFill>
        <p:spPr>
          <a:xfrm>
            <a:off x="4206240" y="1188720"/>
            <a:ext cx="3840480" cy="4800600"/>
          </a:xfrm>
          <a:prstGeom prst="rect">
            <a:avLst/>
          </a:prstGeom>
        </p:spPr>
      </p:pic>
      <p:sp>
        <p:nvSpPr>
          <p:cNvPr id="4" name="Rectangle 3"/>
          <p:cNvSpPr/>
          <p:nvPr/>
        </p:nvSpPr>
        <p:spPr>
          <a:xfrm>
            <a:off x="0" y="0"/>
            <a:ext cx="12191695" cy="1051560"/>
          </a:xfrm>
          <a:prstGeom prst="rect">
            <a:avLst/>
          </a:prstGeom>
          <a:solidFill>
            <a:srgbClr val="002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1051560"/>
            <a:ext cx="12191695"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unizulu_logo.png"/>
          <p:cNvPicPr>
            <a:picLocks noChangeAspect="1"/>
          </p:cNvPicPr>
          <p:nvPr/>
        </p:nvPicPr>
        <p:blipFill>
          <a:blip r:embed="rId3"/>
          <a:stretch>
            <a:fillRect/>
          </a:stretch>
        </p:blipFill>
        <p:spPr>
          <a:xfrm>
            <a:off x="457200" y="109728"/>
            <a:ext cx="658368" cy="822960"/>
          </a:xfrm>
          <a:prstGeom prst="rect">
            <a:avLst/>
          </a:prstGeom>
        </p:spPr>
      </p:pic>
      <p:sp>
        <p:nvSpPr>
          <p:cNvPr id="7" name="TextBox 6"/>
          <p:cNvSpPr txBox="1"/>
          <p:nvPr/>
        </p:nvSpPr>
        <p:spPr>
          <a:xfrm>
            <a:off x="1280160" y="109728"/>
            <a:ext cx="8961120" cy="822960"/>
          </a:xfrm>
          <a:prstGeom prst="rect">
            <a:avLst/>
          </a:prstGeom>
          <a:noFill/>
        </p:spPr>
        <p:txBody>
          <a:bodyPr wrap="square">
            <a:spAutoFit/>
          </a:bodyPr>
          <a:lstStyle/>
          <a:p>
            <a:pPr>
              <a:defRPr sz="1000" b="1">
                <a:solidFill>
                  <a:srgbClr val="F59E0B"/>
                </a:solidFill>
                <a:latin typeface="Segoe UI"/>
              </a:defRPr>
            </a:pPr>
            <a:r>
              <a:t>28.4 INCIDENT RESPONSE • 28.4.8 LESSONS LEARNED</a:t>
            </a:r>
          </a:p>
          <a:p>
            <a:pPr>
              <a:defRPr sz="1900" b="1">
                <a:solidFill>
                  <a:srgbClr val="FFFFFF"/>
                </a:solidFill>
                <a:latin typeface="Segoe UI"/>
              </a:defRPr>
            </a:pPr>
            <a:r>
              <a:t>Post-Incident: The 10 Review Questions</a:t>
            </a:r>
          </a:p>
        </p:txBody>
      </p:sp>
      <p:sp>
        <p:nvSpPr>
          <p:cNvPr id="8" name="TextBox 7"/>
          <p:cNvSpPr txBox="1"/>
          <p:nvPr/>
        </p:nvSpPr>
        <p:spPr>
          <a:xfrm>
            <a:off x="9601200" y="182880"/>
            <a:ext cx="2103120" cy="640080"/>
          </a:xfrm>
          <a:prstGeom prst="rect">
            <a:avLst/>
          </a:prstGeom>
          <a:noFill/>
        </p:spPr>
        <p:txBody>
          <a:bodyPr wrap="none">
            <a:spAutoFit/>
          </a:bodyPr>
          <a:lstStyle/>
          <a:p>
            <a:pPr algn="r">
              <a:defRPr sz="1200" b="1">
                <a:solidFill>
                  <a:srgbClr val="F59E0B"/>
                </a:solidFill>
                <a:latin typeface="Segoe UI"/>
              </a:defRPr>
            </a:pPr>
            <a:r>
              <a:t>UNIZULU CSIRT</a:t>
            </a:r>
          </a:p>
          <a:p>
            <a:pPr algn="r">
              <a:defRPr sz="1000">
                <a:solidFill>
                  <a:srgbClr val="FFFFFF"/>
                </a:solidFill>
                <a:latin typeface="Segoe UI"/>
              </a:defRPr>
            </a:pPr>
            <a:r>
              <a:t>Module 28 • CyberOps</a:t>
            </a:r>
          </a:p>
        </p:txBody>
      </p:sp>
      <p:sp>
        <p:nvSpPr>
          <p:cNvPr id="9" name="Rectangle 8"/>
          <p:cNvSpPr/>
          <p:nvPr/>
        </p:nvSpPr>
        <p:spPr>
          <a:xfrm>
            <a:off x="0" y="6446520"/>
            <a:ext cx="12191695" cy="411480"/>
          </a:xfrm>
          <a:prstGeom prst="rect">
            <a:avLst/>
          </a:prstGeom>
          <a:solidFill>
            <a:srgbClr val="0018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428232"/>
            <a:ext cx="12191695" cy="18288"/>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473952"/>
            <a:ext cx="8229600" cy="320040"/>
          </a:xfrm>
          <a:prstGeom prst="rect">
            <a:avLst/>
          </a:prstGeom>
          <a:noFill/>
        </p:spPr>
        <p:txBody>
          <a:bodyPr wrap="none">
            <a:spAutoFit/>
          </a:bodyPr>
          <a:lstStyle/>
          <a:p>
            <a:pPr>
              <a:defRPr sz="950">
                <a:solidFill>
                  <a:srgbClr val="FEF3C7"/>
                </a:solidFill>
                <a:latin typeface="Segoe UI"/>
              </a:defRPr>
            </a:pPr>
            <a:r>
              <a:t>University of Zululand • Faculty of Science, Agriculture &amp; Technology • Department of Computer Science</a:t>
            </a:r>
          </a:p>
        </p:txBody>
      </p:sp>
      <p:sp>
        <p:nvSpPr>
          <p:cNvPr id="12" name="TextBox 11"/>
          <p:cNvSpPr txBox="1"/>
          <p:nvPr/>
        </p:nvSpPr>
        <p:spPr>
          <a:xfrm>
            <a:off x="9601200" y="6473952"/>
            <a:ext cx="2103120" cy="320040"/>
          </a:xfrm>
          <a:prstGeom prst="rect">
            <a:avLst/>
          </a:prstGeom>
          <a:noFill/>
        </p:spPr>
        <p:txBody>
          <a:bodyPr wrap="none">
            <a:spAutoFit/>
          </a:bodyPr>
          <a:lstStyle/>
          <a:p>
            <a:pPr algn="r">
              <a:defRPr sz="1000" b="1">
                <a:solidFill>
                  <a:srgbClr val="FFFFFF"/>
                </a:solidFill>
                <a:latin typeface="Segoe UI"/>
              </a:defRPr>
            </a:pPr>
            <a:r>
              <a:t>Slide 23 of 26</a:t>
            </a:r>
          </a:p>
        </p:txBody>
      </p:sp>
      <p:sp>
        <p:nvSpPr>
          <p:cNvPr id="13" name="Rounded Rectangle 12"/>
          <p:cNvSpPr/>
          <p:nvPr/>
        </p:nvSpPr>
        <p:spPr>
          <a:xfrm>
            <a:off x="548640" y="1280160"/>
            <a:ext cx="5303520" cy="4846320"/>
          </a:xfrm>
          <a:prstGeom prst="roundRect">
            <a:avLst/>
          </a:prstGeom>
          <a:solidFill>
            <a:srgbClr val="F8FAFC"/>
          </a:solidFill>
          <a:ln w="19050">
            <a:solidFill>
              <a:srgbClr val="0028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 y="1417320"/>
            <a:ext cx="4974336" cy="4572000"/>
          </a:xfrm>
          <a:prstGeom prst="rect">
            <a:avLst/>
          </a:prstGeom>
          <a:noFill/>
        </p:spPr>
        <p:txBody>
          <a:bodyPr wrap="square">
            <a:spAutoFit/>
          </a:bodyPr>
          <a:lstStyle/>
          <a:p>
            <a:pPr>
              <a:defRPr sz="1400" b="1">
                <a:solidFill>
                  <a:srgbClr val="002855"/>
                </a:solidFill>
                <a:latin typeface="Segoe UI"/>
              </a:defRPr>
            </a:pPr>
            <a:r>
              <a:t>Post-Incident Meeting Purpose</a:t>
            </a:r>
          </a:p>
          <a:p>
            <a:pPr>
              <a:spcBef>
                <a:spcPts val="400"/>
              </a:spcBef>
              <a:defRPr sz="1050">
                <a:solidFill>
                  <a:srgbClr val="1E293B"/>
                </a:solidFill>
                <a:latin typeface="Segoe UI"/>
              </a:defRPr>
            </a:pPr>
            <a:r>
              <a:t>•  Mandatory Review: Conducted within 2 weeks of major incident resolution while memories are fresh.</a:t>
            </a:r>
          </a:p>
          <a:p>
            <a:pPr>
              <a:spcBef>
                <a:spcPts val="400"/>
              </a:spcBef>
              <a:defRPr sz="1050">
                <a:solidFill>
                  <a:srgbClr val="1E293B"/>
                </a:solidFill>
                <a:latin typeface="Segoe UI"/>
              </a:defRPr>
            </a:pPr>
            <a:r>
              <a:t>•  Blameless Culture: Focuses on process improvement, tool effectiveness, and technical gaps rather than assigning personal blame.</a:t>
            </a:r>
          </a:p>
          <a:p>
            <a:pPr>
              <a:spcBef>
                <a:spcPts val="400"/>
              </a:spcBef>
              <a:defRPr sz="1050">
                <a:solidFill>
                  <a:srgbClr val="1E293B"/>
                </a:solidFill>
                <a:latin typeface="Segoe UI"/>
              </a:defRPr>
            </a:pPr>
            <a:r>
              <a:t>•  Documentation Outcome: Produces formal Incident Summary Report detailing chronological timeline and financial damage.</a:t>
            </a:r>
          </a:p>
          <a:p>
            <a:pPr>
              <a:spcBef>
                <a:spcPts val="400"/>
              </a:spcBef>
              <a:defRPr sz="1050">
                <a:solidFill>
                  <a:srgbClr val="1E293B"/>
                </a:solidFill>
                <a:latin typeface="Segoe UI"/>
              </a:defRPr>
            </a:pPr>
            <a:r>
              <a:t>•  Policy Evolution: Revisions made to SOPs, firewall rule baselines, and employee security training programs.</a:t>
            </a:r>
          </a:p>
        </p:txBody>
      </p:sp>
      <p:sp>
        <p:nvSpPr>
          <p:cNvPr id="15" name="Rounded Rectangle 14"/>
          <p:cNvSpPr/>
          <p:nvPr/>
        </p:nvSpPr>
        <p:spPr>
          <a:xfrm>
            <a:off x="6217920" y="1280160"/>
            <a:ext cx="5303520" cy="4846320"/>
          </a:xfrm>
          <a:prstGeom prst="roundRect">
            <a:avLst/>
          </a:prstGeom>
          <a:solidFill>
            <a:srgbClr val="F8FAFC"/>
          </a:solidFill>
          <a:ln w="19050">
            <a:solidFill>
              <a:srgbClr val="0028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82512" y="1417320"/>
            <a:ext cx="4974336" cy="4572000"/>
          </a:xfrm>
          <a:prstGeom prst="rect">
            <a:avLst/>
          </a:prstGeom>
          <a:noFill/>
        </p:spPr>
        <p:txBody>
          <a:bodyPr wrap="square">
            <a:spAutoFit/>
          </a:bodyPr>
          <a:lstStyle/>
          <a:p>
            <a:pPr>
              <a:defRPr sz="1400" b="1">
                <a:solidFill>
                  <a:srgbClr val="002855"/>
                </a:solidFill>
                <a:latin typeface="Segoe UI"/>
              </a:defRPr>
            </a:pPr>
            <a:r>
              <a:t>The 10 NIST Review Questions</a:t>
            </a:r>
          </a:p>
          <a:p>
            <a:pPr>
              <a:spcBef>
                <a:spcPts val="400"/>
              </a:spcBef>
              <a:defRPr sz="1050">
                <a:solidFill>
                  <a:srgbClr val="1E293B"/>
                </a:solidFill>
                <a:latin typeface="Segoe UI"/>
              </a:defRPr>
            </a:pPr>
            <a:r>
              <a:t>•  1. Exactly what happened, and at what times?</a:t>
            </a:r>
          </a:p>
          <a:p>
            <a:pPr>
              <a:spcBef>
                <a:spcPts val="400"/>
              </a:spcBef>
              <a:defRPr sz="1050">
                <a:solidFill>
                  <a:srgbClr val="1E293B"/>
                </a:solidFill>
                <a:latin typeface="Segoe UI"/>
              </a:defRPr>
            </a:pPr>
            <a:r>
              <a:t>•  2. How well did staff and management perform?</a:t>
            </a:r>
          </a:p>
          <a:p>
            <a:pPr>
              <a:spcBef>
                <a:spcPts val="400"/>
              </a:spcBef>
              <a:defRPr sz="1050">
                <a:solidFill>
                  <a:srgbClr val="1E293B"/>
                </a:solidFill>
                <a:latin typeface="Segoe UI"/>
              </a:defRPr>
            </a:pPr>
            <a:r>
              <a:t>•  3. Were documented procedures followed?</a:t>
            </a:r>
          </a:p>
          <a:p>
            <a:pPr>
              <a:spcBef>
                <a:spcPts val="400"/>
              </a:spcBef>
              <a:defRPr sz="1050">
                <a:solidFill>
                  <a:srgbClr val="1E293B"/>
                </a:solidFill>
                <a:latin typeface="Segoe UI"/>
              </a:defRPr>
            </a:pPr>
            <a:r>
              <a:t>•  4. Were procedures adequate to handle the attack?</a:t>
            </a:r>
          </a:p>
          <a:p>
            <a:pPr>
              <a:spcBef>
                <a:spcPts val="400"/>
              </a:spcBef>
              <a:defRPr sz="1050">
                <a:solidFill>
                  <a:srgbClr val="1E293B"/>
                </a:solidFill>
                <a:latin typeface="Segoe UI"/>
              </a:defRPr>
            </a:pPr>
            <a:r>
              <a:t>•  5. What information was needed sooner?</a:t>
            </a:r>
          </a:p>
          <a:p>
            <a:pPr>
              <a:spcBef>
                <a:spcPts val="400"/>
              </a:spcBef>
              <a:defRPr sz="1050">
                <a:solidFill>
                  <a:srgbClr val="1E293B"/>
                </a:solidFill>
                <a:latin typeface="Segoe UI"/>
              </a:defRPr>
            </a:pPr>
            <a:r>
              <a:t>•  6. Were any precursor indicators missed?</a:t>
            </a:r>
          </a:p>
          <a:p>
            <a:pPr>
              <a:spcBef>
                <a:spcPts val="400"/>
              </a:spcBef>
              <a:defRPr sz="1050">
                <a:solidFill>
                  <a:srgbClr val="1E293B"/>
                </a:solidFill>
                <a:latin typeface="Segoe UI"/>
              </a:defRPr>
            </a:pPr>
            <a:r>
              <a:t>•  7. What corrective actions prevent recurrence?</a:t>
            </a:r>
          </a:p>
          <a:p>
            <a:pPr>
              <a:spcBef>
                <a:spcPts val="400"/>
              </a:spcBef>
              <a:defRPr sz="1050">
                <a:solidFill>
                  <a:srgbClr val="1E293B"/>
                </a:solidFill>
                <a:latin typeface="Segoe UI"/>
              </a:defRPr>
            </a:pPr>
            <a:r>
              <a:t>•  8. What new indicators should be monitored?</a:t>
            </a:r>
          </a:p>
          <a:p>
            <a:pPr>
              <a:spcBef>
                <a:spcPts val="400"/>
              </a:spcBef>
              <a:defRPr sz="1050">
                <a:solidFill>
                  <a:srgbClr val="1E293B"/>
                </a:solidFill>
                <a:latin typeface="Segoe UI"/>
              </a:defRPr>
            </a:pPr>
            <a:r>
              <a:t>•  9. What additional tools or resources are needed?</a:t>
            </a:r>
          </a:p>
          <a:p>
            <a:pPr>
              <a:spcBef>
                <a:spcPts val="400"/>
              </a:spcBef>
              <a:defRPr sz="1050">
                <a:solidFill>
                  <a:srgbClr val="1E293B"/>
                </a:solidFill>
                <a:latin typeface="Segoe UI"/>
              </a:defRPr>
            </a:pPr>
            <a:r>
              <a:t>•  10. How can information sharing with external partners be improved?</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unizulu_watermark.png"/>
          <p:cNvPicPr>
            <a:picLocks noChangeAspect="1"/>
          </p:cNvPicPr>
          <p:nvPr/>
        </p:nvPicPr>
        <p:blipFill>
          <a:blip r:embed="rId2"/>
          <a:stretch>
            <a:fillRect/>
          </a:stretch>
        </p:blipFill>
        <p:spPr>
          <a:xfrm>
            <a:off x="4206240" y="1188720"/>
            <a:ext cx="3840480" cy="4800600"/>
          </a:xfrm>
          <a:prstGeom prst="rect">
            <a:avLst/>
          </a:prstGeom>
        </p:spPr>
      </p:pic>
      <p:sp>
        <p:nvSpPr>
          <p:cNvPr id="4" name="Rectangle 3"/>
          <p:cNvSpPr/>
          <p:nvPr/>
        </p:nvSpPr>
        <p:spPr>
          <a:xfrm>
            <a:off x="0" y="0"/>
            <a:ext cx="12191695" cy="1051560"/>
          </a:xfrm>
          <a:prstGeom prst="rect">
            <a:avLst/>
          </a:prstGeom>
          <a:solidFill>
            <a:srgbClr val="002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1051560"/>
            <a:ext cx="12191695"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unizulu_logo.png"/>
          <p:cNvPicPr>
            <a:picLocks noChangeAspect="1"/>
          </p:cNvPicPr>
          <p:nvPr/>
        </p:nvPicPr>
        <p:blipFill>
          <a:blip r:embed="rId3"/>
          <a:stretch>
            <a:fillRect/>
          </a:stretch>
        </p:blipFill>
        <p:spPr>
          <a:xfrm>
            <a:off x="457200" y="109728"/>
            <a:ext cx="658368" cy="822960"/>
          </a:xfrm>
          <a:prstGeom prst="rect">
            <a:avLst/>
          </a:prstGeom>
        </p:spPr>
      </p:pic>
      <p:sp>
        <p:nvSpPr>
          <p:cNvPr id="7" name="TextBox 6"/>
          <p:cNvSpPr txBox="1"/>
          <p:nvPr/>
        </p:nvSpPr>
        <p:spPr>
          <a:xfrm>
            <a:off x="1280160" y="109728"/>
            <a:ext cx="8961120" cy="822960"/>
          </a:xfrm>
          <a:prstGeom prst="rect">
            <a:avLst/>
          </a:prstGeom>
          <a:noFill/>
        </p:spPr>
        <p:txBody>
          <a:bodyPr wrap="square">
            <a:spAutoFit/>
          </a:bodyPr>
          <a:lstStyle/>
          <a:p>
            <a:pPr>
              <a:defRPr sz="1000" b="1">
                <a:solidFill>
                  <a:srgbClr val="F59E0B"/>
                </a:solidFill>
                <a:latin typeface="Segoe UI"/>
              </a:defRPr>
            </a:pPr>
            <a:r>
              <a:t>28.4 INCIDENT RESPONSE • 28.4.9 METRICS &amp; RETENTION</a:t>
            </a:r>
          </a:p>
          <a:p>
            <a:pPr>
              <a:defRPr sz="1900" b="1">
                <a:solidFill>
                  <a:srgbClr val="FFFFFF"/>
                </a:solidFill>
                <a:latin typeface="Segoe UI"/>
              </a:defRPr>
            </a:pPr>
            <a:r>
              <a:t>Incident Data Metrics &amp; Evidence Retention</a:t>
            </a:r>
          </a:p>
        </p:txBody>
      </p:sp>
      <p:sp>
        <p:nvSpPr>
          <p:cNvPr id="8" name="TextBox 7"/>
          <p:cNvSpPr txBox="1"/>
          <p:nvPr/>
        </p:nvSpPr>
        <p:spPr>
          <a:xfrm>
            <a:off x="9601200" y="182880"/>
            <a:ext cx="2103120" cy="640080"/>
          </a:xfrm>
          <a:prstGeom prst="rect">
            <a:avLst/>
          </a:prstGeom>
          <a:noFill/>
        </p:spPr>
        <p:txBody>
          <a:bodyPr wrap="none">
            <a:spAutoFit/>
          </a:bodyPr>
          <a:lstStyle/>
          <a:p>
            <a:pPr algn="r">
              <a:defRPr sz="1200" b="1">
                <a:solidFill>
                  <a:srgbClr val="F59E0B"/>
                </a:solidFill>
                <a:latin typeface="Segoe UI"/>
              </a:defRPr>
            </a:pPr>
            <a:r>
              <a:t>UNIZULU CSIRT</a:t>
            </a:r>
          </a:p>
          <a:p>
            <a:pPr algn="r">
              <a:defRPr sz="1000">
                <a:solidFill>
                  <a:srgbClr val="FFFFFF"/>
                </a:solidFill>
                <a:latin typeface="Segoe UI"/>
              </a:defRPr>
            </a:pPr>
            <a:r>
              <a:t>Module 28 • CyberOps</a:t>
            </a:r>
          </a:p>
        </p:txBody>
      </p:sp>
      <p:sp>
        <p:nvSpPr>
          <p:cNvPr id="9" name="Rectangle 8"/>
          <p:cNvSpPr/>
          <p:nvPr/>
        </p:nvSpPr>
        <p:spPr>
          <a:xfrm>
            <a:off x="0" y="6446520"/>
            <a:ext cx="12191695" cy="411480"/>
          </a:xfrm>
          <a:prstGeom prst="rect">
            <a:avLst/>
          </a:prstGeom>
          <a:solidFill>
            <a:srgbClr val="0018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428232"/>
            <a:ext cx="12191695" cy="18288"/>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473952"/>
            <a:ext cx="8229600" cy="320040"/>
          </a:xfrm>
          <a:prstGeom prst="rect">
            <a:avLst/>
          </a:prstGeom>
          <a:noFill/>
        </p:spPr>
        <p:txBody>
          <a:bodyPr wrap="none">
            <a:spAutoFit/>
          </a:bodyPr>
          <a:lstStyle/>
          <a:p>
            <a:pPr>
              <a:defRPr sz="950">
                <a:solidFill>
                  <a:srgbClr val="FEF3C7"/>
                </a:solidFill>
                <a:latin typeface="Segoe UI"/>
              </a:defRPr>
            </a:pPr>
            <a:r>
              <a:t>University of Zululand • Faculty of Science, Agriculture &amp; Technology • Department of Computer Science</a:t>
            </a:r>
          </a:p>
        </p:txBody>
      </p:sp>
      <p:sp>
        <p:nvSpPr>
          <p:cNvPr id="12" name="TextBox 11"/>
          <p:cNvSpPr txBox="1"/>
          <p:nvPr/>
        </p:nvSpPr>
        <p:spPr>
          <a:xfrm>
            <a:off x="9601200" y="6473952"/>
            <a:ext cx="2103120" cy="320040"/>
          </a:xfrm>
          <a:prstGeom prst="rect">
            <a:avLst/>
          </a:prstGeom>
          <a:noFill/>
        </p:spPr>
        <p:txBody>
          <a:bodyPr wrap="none">
            <a:spAutoFit/>
          </a:bodyPr>
          <a:lstStyle/>
          <a:p>
            <a:pPr algn="r">
              <a:defRPr sz="1000" b="1">
                <a:solidFill>
                  <a:srgbClr val="FFFFFF"/>
                </a:solidFill>
                <a:latin typeface="Segoe UI"/>
              </a:defRPr>
            </a:pPr>
            <a:r>
              <a:t>Slide 24 of 26</a:t>
            </a:r>
          </a:p>
        </p:txBody>
      </p:sp>
      <p:sp>
        <p:nvSpPr>
          <p:cNvPr id="13" name="Rounded Rectangle 12"/>
          <p:cNvSpPr/>
          <p:nvPr/>
        </p:nvSpPr>
        <p:spPr>
          <a:xfrm>
            <a:off x="548640" y="1280160"/>
            <a:ext cx="5303520" cy="4846320"/>
          </a:xfrm>
          <a:prstGeom prst="roundRect">
            <a:avLst/>
          </a:prstGeom>
          <a:solidFill>
            <a:srgbClr val="F8FAFC"/>
          </a:solidFill>
          <a:ln w="19050">
            <a:solidFill>
              <a:srgbClr val="0028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 y="1417320"/>
            <a:ext cx="4974336" cy="4572000"/>
          </a:xfrm>
          <a:prstGeom prst="rect">
            <a:avLst/>
          </a:prstGeom>
          <a:noFill/>
        </p:spPr>
        <p:txBody>
          <a:bodyPr wrap="square">
            <a:spAutoFit/>
          </a:bodyPr>
          <a:lstStyle/>
          <a:p>
            <a:pPr>
              <a:defRPr sz="1400" b="1">
                <a:solidFill>
                  <a:srgbClr val="002855"/>
                </a:solidFill>
                <a:latin typeface="Segoe UI"/>
              </a:defRPr>
            </a:pPr>
            <a:r>
              <a:t>Actionable Metrics &amp; Assessment</a:t>
            </a:r>
          </a:p>
          <a:p>
            <a:pPr>
              <a:spcBef>
                <a:spcPts val="400"/>
              </a:spcBef>
              <a:defRPr sz="1050">
                <a:solidFill>
                  <a:srgbClr val="1E293B"/>
                </a:solidFill>
                <a:latin typeface="Segoe UI"/>
              </a:defRPr>
            </a:pPr>
            <a:r>
              <a:t>•  Interpreting Counts: High incident counts may indicate flawed methodology or CSIRT incompetence; low counts may show great defense or lack of detection! Separate counts by incident category.</a:t>
            </a:r>
          </a:p>
          <a:p>
            <a:pPr>
              <a:spcBef>
                <a:spcPts val="400"/>
              </a:spcBef>
              <a:defRPr sz="1050">
                <a:solidFill>
                  <a:srgbClr val="1E293B"/>
                </a:solidFill>
                <a:latin typeface="Segoe UI"/>
              </a:defRPr>
            </a:pPr>
            <a:r>
              <a:t>•  Time Metrics: Total labor hours expended, duration of each phase, time to initial detection, and escalation speed.</a:t>
            </a:r>
          </a:p>
          <a:p>
            <a:pPr>
              <a:spcBef>
                <a:spcPts val="400"/>
              </a:spcBef>
              <a:defRPr sz="1050">
                <a:solidFill>
                  <a:srgbClr val="1E293B"/>
                </a:solidFill>
                <a:latin typeface="Segoe UI"/>
              </a:defRPr>
            </a:pPr>
            <a:r>
              <a:t>•  Objective Assessment (NIST): Checking adherence to SOPs, evaluating precursor logs, calculating financial damage, and comparing initial vs. final impact assessments.</a:t>
            </a:r>
          </a:p>
          <a:p>
            <a:pPr>
              <a:spcBef>
                <a:spcPts val="400"/>
              </a:spcBef>
              <a:defRPr sz="1050">
                <a:solidFill>
                  <a:srgbClr val="1E293B"/>
                </a:solidFill>
                <a:latin typeface="Segoe UI"/>
              </a:defRPr>
            </a:pPr>
            <a:r>
              <a:t>•  Subjective Assessment: Self-assessments, peer reviews, and resource owner satisfaction feedback.</a:t>
            </a:r>
          </a:p>
        </p:txBody>
      </p:sp>
      <p:sp>
        <p:nvSpPr>
          <p:cNvPr id="15" name="Rounded Rectangle 14"/>
          <p:cNvSpPr/>
          <p:nvPr/>
        </p:nvSpPr>
        <p:spPr>
          <a:xfrm>
            <a:off x="6217920" y="1280160"/>
            <a:ext cx="5303520" cy="4846320"/>
          </a:xfrm>
          <a:prstGeom prst="roundRect">
            <a:avLst/>
          </a:prstGeom>
          <a:solidFill>
            <a:srgbClr val="F8FAFC"/>
          </a:solidFill>
          <a:ln w="19050">
            <a:solidFill>
              <a:srgbClr val="0028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82512" y="1417320"/>
            <a:ext cx="4974336" cy="4572000"/>
          </a:xfrm>
          <a:prstGeom prst="rect">
            <a:avLst/>
          </a:prstGeom>
          <a:noFill/>
        </p:spPr>
        <p:txBody>
          <a:bodyPr wrap="square">
            <a:spAutoFit/>
          </a:bodyPr>
          <a:lstStyle/>
          <a:p>
            <a:pPr>
              <a:defRPr sz="1400" b="1">
                <a:solidFill>
                  <a:srgbClr val="002855"/>
                </a:solidFill>
                <a:latin typeface="Segoe UI"/>
              </a:defRPr>
            </a:pPr>
            <a:r>
              <a:t>3 Determining Retention Factors</a:t>
            </a:r>
          </a:p>
          <a:p>
            <a:pPr>
              <a:spcBef>
                <a:spcPts val="400"/>
              </a:spcBef>
              <a:defRPr sz="1050">
                <a:solidFill>
                  <a:srgbClr val="1E293B"/>
                </a:solidFill>
                <a:latin typeface="Segoe UI"/>
              </a:defRPr>
            </a:pPr>
            <a:r>
              <a:t>•  1. Prosecution: Retain all evidence until legal proceedings and appeals conclude (months or years). Evidence involved in ongoing litigation may never be destroyed.</a:t>
            </a:r>
          </a:p>
          <a:p>
            <a:pPr>
              <a:spcBef>
                <a:spcPts val="400"/>
              </a:spcBef>
              <a:defRPr sz="1050">
                <a:solidFill>
                  <a:srgbClr val="1E293B"/>
                </a:solidFill>
                <a:latin typeface="Segoe UI"/>
              </a:defRPr>
            </a:pPr>
            <a:r>
              <a:t>•  2. Data Type: Routine emails and transient files may be retained for 90 days, while incident response forensic images are typically retained for 3 years or longer.</a:t>
            </a:r>
          </a:p>
          <a:p>
            <a:pPr>
              <a:spcBef>
                <a:spcPts val="400"/>
              </a:spcBef>
              <a:defRPr sz="1050">
                <a:solidFill>
                  <a:srgbClr val="1E293B"/>
                </a:solidFill>
                <a:latin typeface="Segoe UI"/>
              </a:defRPr>
            </a:pPr>
            <a:r>
              <a:t>•  3. Cost: Long-term physical storage, secure warehouse facilities, and maintaining legacy hardware capable of reading outdated magnetic media become expensive over time.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unizulu_watermark.png"/>
          <p:cNvPicPr>
            <a:picLocks noChangeAspect="1"/>
          </p:cNvPicPr>
          <p:nvPr/>
        </p:nvPicPr>
        <p:blipFill>
          <a:blip r:embed="rId2"/>
          <a:stretch>
            <a:fillRect/>
          </a:stretch>
        </p:blipFill>
        <p:spPr>
          <a:xfrm>
            <a:off x="4206240" y="1188720"/>
            <a:ext cx="3840480" cy="4800600"/>
          </a:xfrm>
          <a:prstGeom prst="rect">
            <a:avLst/>
          </a:prstGeom>
        </p:spPr>
      </p:pic>
      <p:sp>
        <p:nvSpPr>
          <p:cNvPr id="4" name="Rectangle 3"/>
          <p:cNvSpPr/>
          <p:nvPr/>
        </p:nvSpPr>
        <p:spPr>
          <a:xfrm>
            <a:off x="0" y="0"/>
            <a:ext cx="12191695" cy="1051560"/>
          </a:xfrm>
          <a:prstGeom prst="rect">
            <a:avLst/>
          </a:prstGeom>
          <a:solidFill>
            <a:srgbClr val="002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1051560"/>
            <a:ext cx="12191695"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unizulu_logo.png"/>
          <p:cNvPicPr>
            <a:picLocks noChangeAspect="1"/>
          </p:cNvPicPr>
          <p:nvPr/>
        </p:nvPicPr>
        <p:blipFill>
          <a:blip r:embed="rId3"/>
          <a:stretch>
            <a:fillRect/>
          </a:stretch>
        </p:blipFill>
        <p:spPr>
          <a:xfrm>
            <a:off x="457200" y="109728"/>
            <a:ext cx="658368" cy="822960"/>
          </a:xfrm>
          <a:prstGeom prst="rect">
            <a:avLst/>
          </a:prstGeom>
        </p:spPr>
      </p:pic>
      <p:sp>
        <p:nvSpPr>
          <p:cNvPr id="7" name="TextBox 6"/>
          <p:cNvSpPr txBox="1"/>
          <p:nvPr/>
        </p:nvSpPr>
        <p:spPr>
          <a:xfrm>
            <a:off x="1280160" y="109728"/>
            <a:ext cx="8961120" cy="822960"/>
          </a:xfrm>
          <a:prstGeom prst="rect">
            <a:avLst/>
          </a:prstGeom>
          <a:noFill/>
        </p:spPr>
        <p:txBody>
          <a:bodyPr wrap="square">
            <a:spAutoFit/>
          </a:bodyPr>
          <a:lstStyle/>
          <a:p>
            <a:pPr>
              <a:defRPr sz="1000" b="1">
                <a:solidFill>
                  <a:srgbClr val="F59E0B"/>
                </a:solidFill>
                <a:latin typeface="Segoe UI"/>
              </a:defRPr>
            </a:pPr>
            <a:r>
              <a:t>28.4 INCIDENT RESPONSE • 28.4.10 SHARING &amp; VERIS</a:t>
            </a:r>
          </a:p>
          <a:p>
            <a:pPr>
              <a:defRPr sz="1900" b="1">
                <a:solidFill>
                  <a:srgbClr val="FFFFFF"/>
                </a:solidFill>
                <a:latin typeface="Segoe UI"/>
              </a:defRPr>
            </a:pPr>
            <a:r>
              <a:t>Reporting &amp; NIST Sharing Rules</a:t>
            </a:r>
          </a:p>
        </p:txBody>
      </p:sp>
      <p:sp>
        <p:nvSpPr>
          <p:cNvPr id="8" name="TextBox 7"/>
          <p:cNvSpPr txBox="1"/>
          <p:nvPr/>
        </p:nvSpPr>
        <p:spPr>
          <a:xfrm>
            <a:off x="9601200" y="182880"/>
            <a:ext cx="2103120" cy="640080"/>
          </a:xfrm>
          <a:prstGeom prst="rect">
            <a:avLst/>
          </a:prstGeom>
          <a:noFill/>
        </p:spPr>
        <p:txBody>
          <a:bodyPr wrap="none">
            <a:spAutoFit/>
          </a:bodyPr>
          <a:lstStyle/>
          <a:p>
            <a:pPr algn="r">
              <a:defRPr sz="1200" b="1">
                <a:solidFill>
                  <a:srgbClr val="F59E0B"/>
                </a:solidFill>
                <a:latin typeface="Segoe UI"/>
              </a:defRPr>
            </a:pPr>
            <a:r>
              <a:t>UNIZULU CSIRT</a:t>
            </a:r>
          </a:p>
          <a:p>
            <a:pPr algn="r">
              <a:defRPr sz="1000">
                <a:solidFill>
                  <a:srgbClr val="FFFFFF"/>
                </a:solidFill>
                <a:latin typeface="Segoe UI"/>
              </a:defRPr>
            </a:pPr>
            <a:r>
              <a:t>Module 28 • CyberOps</a:t>
            </a:r>
          </a:p>
        </p:txBody>
      </p:sp>
      <p:sp>
        <p:nvSpPr>
          <p:cNvPr id="9" name="Rectangle 8"/>
          <p:cNvSpPr/>
          <p:nvPr/>
        </p:nvSpPr>
        <p:spPr>
          <a:xfrm>
            <a:off x="0" y="6446520"/>
            <a:ext cx="12191695" cy="411480"/>
          </a:xfrm>
          <a:prstGeom prst="rect">
            <a:avLst/>
          </a:prstGeom>
          <a:solidFill>
            <a:srgbClr val="0018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428232"/>
            <a:ext cx="12191695" cy="18288"/>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473952"/>
            <a:ext cx="8229600" cy="320040"/>
          </a:xfrm>
          <a:prstGeom prst="rect">
            <a:avLst/>
          </a:prstGeom>
          <a:noFill/>
        </p:spPr>
        <p:txBody>
          <a:bodyPr wrap="none">
            <a:spAutoFit/>
          </a:bodyPr>
          <a:lstStyle/>
          <a:p>
            <a:pPr>
              <a:defRPr sz="950">
                <a:solidFill>
                  <a:srgbClr val="FEF3C7"/>
                </a:solidFill>
                <a:latin typeface="Segoe UI"/>
              </a:defRPr>
            </a:pPr>
            <a:r>
              <a:t>University of Zululand • Faculty of Science, Agriculture &amp; Technology • Department of Computer Science</a:t>
            </a:r>
          </a:p>
        </p:txBody>
      </p:sp>
      <p:sp>
        <p:nvSpPr>
          <p:cNvPr id="12" name="TextBox 11"/>
          <p:cNvSpPr txBox="1"/>
          <p:nvPr/>
        </p:nvSpPr>
        <p:spPr>
          <a:xfrm>
            <a:off x="9601200" y="6473952"/>
            <a:ext cx="2103120" cy="320040"/>
          </a:xfrm>
          <a:prstGeom prst="rect">
            <a:avLst/>
          </a:prstGeom>
          <a:noFill/>
        </p:spPr>
        <p:txBody>
          <a:bodyPr wrap="none">
            <a:spAutoFit/>
          </a:bodyPr>
          <a:lstStyle/>
          <a:p>
            <a:pPr algn="r">
              <a:defRPr sz="1000" b="1">
                <a:solidFill>
                  <a:srgbClr val="FFFFFF"/>
                </a:solidFill>
                <a:latin typeface="Segoe UI"/>
              </a:defRPr>
            </a:pPr>
            <a:r>
              <a:t>Slide 25 of 26</a:t>
            </a:r>
          </a:p>
        </p:txBody>
      </p:sp>
      <p:sp>
        <p:nvSpPr>
          <p:cNvPr id="13" name="Rounded Rectangle 12"/>
          <p:cNvSpPr/>
          <p:nvPr/>
        </p:nvSpPr>
        <p:spPr>
          <a:xfrm>
            <a:off x="548640" y="1280160"/>
            <a:ext cx="5303520" cy="4846320"/>
          </a:xfrm>
          <a:prstGeom prst="roundRect">
            <a:avLst/>
          </a:prstGeom>
          <a:solidFill>
            <a:srgbClr val="F8FAFC"/>
          </a:solidFill>
          <a:ln w="19050">
            <a:solidFill>
              <a:srgbClr val="0028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 y="1417320"/>
            <a:ext cx="4974336" cy="4572000"/>
          </a:xfrm>
          <a:prstGeom prst="rect">
            <a:avLst/>
          </a:prstGeom>
          <a:noFill/>
        </p:spPr>
        <p:txBody>
          <a:bodyPr wrap="square">
            <a:spAutoFit/>
          </a:bodyPr>
          <a:lstStyle/>
          <a:p>
            <a:pPr>
              <a:defRPr sz="1400" b="1">
                <a:solidFill>
                  <a:srgbClr val="002855"/>
                </a:solidFill>
                <a:latin typeface="Segoe UI"/>
              </a:defRPr>
            </a:pPr>
            <a:r>
              <a:t>NIST 5 Information Sharing Rules</a:t>
            </a:r>
          </a:p>
          <a:p>
            <a:pPr>
              <a:spcBef>
                <a:spcPts val="400"/>
              </a:spcBef>
              <a:defRPr sz="1050">
                <a:solidFill>
                  <a:srgbClr val="1E293B"/>
                </a:solidFill>
                <a:latin typeface="Segoe UI"/>
              </a:defRPr>
            </a:pPr>
            <a:r>
              <a:t>•  1. Plan Coordination: Establish incident coordination relationships with external parties before incidents occur.</a:t>
            </a:r>
          </a:p>
          <a:p>
            <a:pPr>
              <a:spcBef>
                <a:spcPts val="400"/>
              </a:spcBef>
              <a:defRPr sz="1050">
                <a:solidFill>
                  <a:srgbClr val="1E293B"/>
                </a:solidFill>
                <a:latin typeface="Segoe UI"/>
              </a:defRPr>
            </a:pPr>
            <a:r>
              <a:t>•  2. Consult Legal: Consult with legal counsel before sharing data to protect proprietary rights and regulatory compliance.</a:t>
            </a:r>
          </a:p>
          <a:p>
            <a:pPr>
              <a:spcBef>
                <a:spcPts val="400"/>
              </a:spcBef>
              <a:defRPr sz="1050">
                <a:solidFill>
                  <a:srgbClr val="1E293B"/>
                </a:solidFill>
                <a:latin typeface="Segoe UI"/>
              </a:defRPr>
            </a:pPr>
            <a:r>
              <a:t>•  3. Share Throughout Life Cycle: Perform bi-directional information sharing across all 4 phases of incident handling.</a:t>
            </a:r>
          </a:p>
          <a:p>
            <a:pPr>
              <a:spcBef>
                <a:spcPts val="400"/>
              </a:spcBef>
              <a:defRPr sz="1050">
                <a:solidFill>
                  <a:srgbClr val="1E293B"/>
                </a:solidFill>
                <a:latin typeface="Segoe UI"/>
              </a:defRPr>
            </a:pPr>
            <a:r>
              <a:t>•  4. Automate Sharing: Automate threat indicator feeds (STIX/TAXII) to achieve machine-speed defensive updates.</a:t>
            </a:r>
          </a:p>
          <a:p>
            <a:pPr>
              <a:spcBef>
                <a:spcPts val="400"/>
              </a:spcBef>
              <a:defRPr sz="1050">
                <a:solidFill>
                  <a:srgbClr val="1E293B"/>
                </a:solidFill>
                <a:latin typeface="Segoe UI"/>
              </a:defRPr>
            </a:pPr>
            <a:r>
              <a:t>•  5. Balance Benefits vs. Risks: Balance the security benefits of sharing against the risk of disclosing sensitive corporate data.</a:t>
            </a:r>
          </a:p>
        </p:txBody>
      </p:sp>
      <p:sp>
        <p:nvSpPr>
          <p:cNvPr id="15" name="Rounded Rectangle 14"/>
          <p:cNvSpPr/>
          <p:nvPr/>
        </p:nvSpPr>
        <p:spPr>
          <a:xfrm>
            <a:off x="6217920" y="1280160"/>
            <a:ext cx="5303520" cy="4846320"/>
          </a:xfrm>
          <a:prstGeom prst="roundRect">
            <a:avLst/>
          </a:prstGeom>
          <a:solidFill>
            <a:srgbClr val="F8FAFC"/>
          </a:solidFill>
          <a:ln w="19050">
            <a:solidFill>
              <a:srgbClr val="0028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82512" y="1417320"/>
            <a:ext cx="4974336" cy="4572000"/>
          </a:xfrm>
          <a:prstGeom prst="rect">
            <a:avLst/>
          </a:prstGeom>
          <a:noFill/>
        </p:spPr>
        <p:txBody>
          <a:bodyPr wrap="square">
            <a:spAutoFit/>
          </a:bodyPr>
          <a:lstStyle/>
          <a:p>
            <a:pPr>
              <a:defRPr sz="1400" b="1">
                <a:solidFill>
                  <a:srgbClr val="002855"/>
                </a:solidFill>
                <a:latin typeface="Segoe UI"/>
              </a:defRPr>
            </a:pPr>
            <a:r>
              <a:t>VERIS Framework &amp; Community Threat Intel</a:t>
            </a:r>
          </a:p>
          <a:p>
            <a:pPr>
              <a:spcBef>
                <a:spcPts val="400"/>
              </a:spcBef>
              <a:defRPr sz="1050">
                <a:solidFill>
                  <a:srgbClr val="1E293B"/>
                </a:solidFill>
                <a:latin typeface="Segoe UI"/>
              </a:defRPr>
            </a:pPr>
            <a:r>
              <a:t>•  VERIS Overview: Vocabulary for Event Recording and Incident Sharing — standardized schema for logging security incidents.</a:t>
            </a:r>
          </a:p>
          <a:p>
            <a:pPr>
              <a:spcBef>
                <a:spcPts val="400"/>
              </a:spcBef>
              <a:defRPr sz="1050">
                <a:solidFill>
                  <a:srgbClr val="1E293B"/>
                </a:solidFill>
                <a:latin typeface="Segoe UI"/>
              </a:defRPr>
            </a:pPr>
            <a:r>
              <a:t>•  Powers Verizon DBIR: Powers the annual Verizon Data Breach Investigations Report using anonymized incident contributions.</a:t>
            </a:r>
          </a:p>
          <a:p>
            <a:pPr>
              <a:spcBef>
                <a:spcPts val="400"/>
              </a:spcBef>
              <a:defRPr sz="1050">
                <a:solidFill>
                  <a:srgbClr val="1E293B"/>
                </a:solidFill>
                <a:latin typeface="Segoe UI"/>
              </a:defRPr>
            </a:pPr>
            <a:r>
              <a:t>•  The 4 A's of VERIS:</a:t>
            </a:r>
          </a:p>
          <a:p>
            <a:pPr>
              <a:spcBef>
                <a:spcPts val="400"/>
              </a:spcBef>
              <a:defRPr sz="1050">
                <a:solidFill>
                  <a:srgbClr val="1E293B"/>
                </a:solidFill>
                <a:latin typeface="Segoe UI"/>
              </a:defRPr>
            </a:pPr>
            <a:r>
              <a:t>•    • Actors: Who was involved (Internal, External, Partner)?</a:t>
            </a:r>
          </a:p>
          <a:p>
            <a:pPr>
              <a:spcBef>
                <a:spcPts val="400"/>
              </a:spcBef>
              <a:defRPr sz="1050">
                <a:solidFill>
                  <a:srgbClr val="1E293B"/>
                </a:solidFill>
                <a:latin typeface="Segoe UI"/>
              </a:defRPr>
            </a:pPr>
            <a:r>
              <a:t>•    • Actions: What did they do (Malware, Hacking, Social, Error)?</a:t>
            </a:r>
          </a:p>
          <a:p>
            <a:pPr>
              <a:spcBef>
                <a:spcPts val="400"/>
              </a:spcBef>
              <a:defRPr sz="1050">
                <a:solidFill>
                  <a:srgbClr val="1E293B"/>
                </a:solidFill>
                <a:latin typeface="Segoe UI"/>
              </a:defRPr>
            </a:pPr>
            <a:r>
              <a:t>•    • Assets: What systems were affected (Server, User, Network)?</a:t>
            </a:r>
          </a:p>
          <a:p>
            <a:pPr>
              <a:spcBef>
                <a:spcPts val="400"/>
              </a:spcBef>
              <a:defRPr sz="1050">
                <a:solidFill>
                  <a:srgbClr val="1E293B"/>
                </a:solidFill>
                <a:latin typeface="Segoe UI"/>
              </a:defRPr>
            </a:pPr>
            <a:r>
              <a:t>•    • Attributes: What security properties were compromised (C, I, A)?</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unizulu_watermark.png"/>
          <p:cNvPicPr>
            <a:picLocks noChangeAspect="1"/>
          </p:cNvPicPr>
          <p:nvPr/>
        </p:nvPicPr>
        <p:blipFill>
          <a:blip r:embed="rId2"/>
          <a:stretch>
            <a:fillRect/>
          </a:stretch>
        </p:blipFill>
        <p:spPr>
          <a:xfrm>
            <a:off x="4206240" y="1188720"/>
            <a:ext cx="3840480" cy="4800600"/>
          </a:xfrm>
          <a:prstGeom prst="rect">
            <a:avLst/>
          </a:prstGeom>
        </p:spPr>
      </p:pic>
      <p:sp>
        <p:nvSpPr>
          <p:cNvPr id="4" name="Rectangle 3"/>
          <p:cNvSpPr/>
          <p:nvPr/>
        </p:nvSpPr>
        <p:spPr>
          <a:xfrm>
            <a:off x="0" y="0"/>
            <a:ext cx="12191695" cy="1371600"/>
          </a:xfrm>
          <a:prstGeom prst="rect">
            <a:avLst/>
          </a:prstGeom>
          <a:solidFill>
            <a:srgbClr val="002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1371600"/>
            <a:ext cx="12191695" cy="7315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unizulu_logo.png"/>
          <p:cNvPicPr>
            <a:picLocks noChangeAspect="1"/>
          </p:cNvPicPr>
          <p:nvPr/>
        </p:nvPicPr>
        <p:blipFill>
          <a:blip r:embed="rId3"/>
          <a:stretch>
            <a:fillRect/>
          </a:stretch>
        </p:blipFill>
        <p:spPr>
          <a:xfrm>
            <a:off x="548640" y="182880"/>
            <a:ext cx="804672" cy="1005840"/>
          </a:xfrm>
          <a:prstGeom prst="rect">
            <a:avLst/>
          </a:prstGeom>
        </p:spPr>
      </p:pic>
      <p:sp>
        <p:nvSpPr>
          <p:cNvPr id="7" name="TextBox 6"/>
          <p:cNvSpPr txBox="1"/>
          <p:nvPr/>
        </p:nvSpPr>
        <p:spPr>
          <a:xfrm>
            <a:off x="1645920" y="228600"/>
            <a:ext cx="9875520" cy="914400"/>
          </a:xfrm>
          <a:prstGeom prst="rect">
            <a:avLst/>
          </a:prstGeom>
          <a:noFill/>
        </p:spPr>
        <p:txBody>
          <a:bodyPr wrap="square">
            <a:spAutoFit/>
          </a:bodyPr>
          <a:lstStyle/>
          <a:p>
            <a:pPr>
              <a:defRPr sz="1300" b="1">
                <a:solidFill>
                  <a:srgbClr val="F59E0B"/>
                </a:solidFill>
                <a:latin typeface="Segoe UI"/>
              </a:defRPr>
            </a:pPr>
            <a:r>
              <a:t>UNIVERSITY OF ZULULAND • CISCO CYBEROPS ACADEMY</a:t>
            </a:r>
          </a:p>
          <a:p>
            <a:pPr>
              <a:defRPr sz="2200" b="1">
                <a:solidFill>
                  <a:srgbClr val="FFFFFF"/>
                </a:solidFill>
                <a:latin typeface="Segoe UI"/>
              </a:defRPr>
            </a:pPr>
            <a:r>
              <a:t>Summary: CyberOps Exam Takeaways</a:t>
            </a:r>
          </a:p>
        </p:txBody>
      </p:sp>
      <p:sp>
        <p:nvSpPr>
          <p:cNvPr id="8" name="Rectangle 7"/>
          <p:cNvSpPr/>
          <p:nvPr/>
        </p:nvSpPr>
        <p:spPr>
          <a:xfrm>
            <a:off x="0" y="6446520"/>
            <a:ext cx="12191695" cy="411480"/>
          </a:xfrm>
          <a:prstGeom prst="rect">
            <a:avLst/>
          </a:prstGeom>
          <a:solidFill>
            <a:srgbClr val="0018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428232"/>
            <a:ext cx="12191695" cy="18288"/>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6473952"/>
            <a:ext cx="8229600" cy="320040"/>
          </a:xfrm>
          <a:prstGeom prst="rect">
            <a:avLst/>
          </a:prstGeom>
          <a:noFill/>
        </p:spPr>
        <p:txBody>
          <a:bodyPr wrap="none">
            <a:spAutoFit/>
          </a:bodyPr>
          <a:lstStyle/>
          <a:p>
            <a:pPr>
              <a:defRPr sz="950">
                <a:solidFill>
                  <a:srgbClr val="FEF3C7"/>
                </a:solidFill>
                <a:latin typeface="Segoe UI"/>
              </a:defRPr>
            </a:pPr>
            <a:r>
              <a:t>University of Zululand • Faculty of Science, Agriculture &amp; Technology • Department of Computer Science</a:t>
            </a:r>
          </a:p>
        </p:txBody>
      </p:sp>
      <p:sp>
        <p:nvSpPr>
          <p:cNvPr id="11" name="TextBox 10"/>
          <p:cNvSpPr txBox="1"/>
          <p:nvPr/>
        </p:nvSpPr>
        <p:spPr>
          <a:xfrm>
            <a:off x="9601200" y="6473952"/>
            <a:ext cx="2103120" cy="320040"/>
          </a:xfrm>
          <a:prstGeom prst="rect">
            <a:avLst/>
          </a:prstGeom>
          <a:noFill/>
        </p:spPr>
        <p:txBody>
          <a:bodyPr wrap="none">
            <a:spAutoFit/>
          </a:bodyPr>
          <a:lstStyle/>
          <a:p>
            <a:pPr algn="r">
              <a:defRPr sz="1000" b="1">
                <a:solidFill>
                  <a:srgbClr val="FFFFFF"/>
                </a:solidFill>
                <a:latin typeface="Segoe UI"/>
              </a:defRPr>
            </a:pPr>
            <a:r>
              <a:t>Slide 26 of 26</a:t>
            </a:r>
          </a:p>
        </p:txBody>
      </p:sp>
      <p:sp>
        <p:nvSpPr>
          <p:cNvPr id="12" name="Rounded Rectangle 11"/>
          <p:cNvSpPr/>
          <p:nvPr/>
        </p:nvSpPr>
        <p:spPr>
          <a:xfrm>
            <a:off x="548640" y="1600200"/>
            <a:ext cx="5303520" cy="3840480"/>
          </a:xfrm>
          <a:prstGeom prst="roundRect">
            <a:avLst/>
          </a:prstGeom>
          <a:solidFill>
            <a:srgbClr val="F8FAFC"/>
          </a:solidFill>
          <a:ln w="19050">
            <a:solidFill>
              <a:srgbClr val="0028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3232" y="1737360"/>
            <a:ext cx="4974336" cy="3566160"/>
          </a:xfrm>
          <a:prstGeom prst="rect">
            <a:avLst/>
          </a:prstGeom>
          <a:noFill/>
        </p:spPr>
        <p:txBody>
          <a:bodyPr wrap="square">
            <a:spAutoFit/>
          </a:bodyPr>
          <a:lstStyle/>
          <a:p>
            <a:pPr>
              <a:defRPr sz="1400" b="1">
                <a:solidFill>
                  <a:srgbClr val="002855"/>
                </a:solidFill>
                <a:latin typeface="Segoe UI"/>
              </a:defRPr>
            </a:pPr>
            <a:r>
              <a:t>Forensics &amp; Evidence Essentials</a:t>
            </a:r>
          </a:p>
          <a:p>
            <a:pPr>
              <a:spcBef>
                <a:spcPts val="400"/>
              </a:spcBef>
              <a:defRPr sz="1050">
                <a:solidFill>
                  <a:srgbClr val="1E293B"/>
                </a:solidFill>
                <a:latin typeface="Segoe UI"/>
              </a:defRPr>
            </a:pPr>
            <a:r>
              <a:t>•  RFC 3227 Volatility: Registers ➔ RAM ➔ Temp ➔ Disks ➔ Logs ➔ Topology ➔ Archives.</a:t>
            </a:r>
          </a:p>
          <a:p>
            <a:pPr>
              <a:spcBef>
                <a:spcPts val="400"/>
              </a:spcBef>
              <a:defRPr sz="1050">
                <a:solidFill>
                  <a:srgbClr val="1E293B"/>
                </a:solidFill>
                <a:latin typeface="Segoe UI"/>
              </a:defRPr>
            </a:pPr>
            <a:r>
              <a:t>•  Golden Rule: Never examine original evidence; create verified bit-level copies with write-blockers.</a:t>
            </a:r>
          </a:p>
          <a:p>
            <a:pPr>
              <a:spcBef>
                <a:spcPts val="400"/>
              </a:spcBef>
              <a:defRPr sz="1050">
                <a:solidFill>
                  <a:srgbClr val="1E293B"/>
                </a:solidFill>
                <a:latin typeface="Segoe UI"/>
              </a:defRPr>
            </a:pPr>
            <a:r>
              <a:t>•  Chain of Custody: Complete chronological log; broken chains result in legal inadmissibility.</a:t>
            </a:r>
          </a:p>
          <a:p>
            <a:pPr>
              <a:spcBef>
                <a:spcPts val="400"/>
              </a:spcBef>
              <a:defRPr sz="1050">
                <a:solidFill>
                  <a:srgbClr val="1E293B"/>
                </a:solidFill>
                <a:latin typeface="Segoe UI"/>
              </a:defRPr>
            </a:pPr>
            <a:r>
              <a:t>•  MITRE ATT&amp;CK: Tactics (Why/Goals) ➔ Techniques (How/Means) ➔ Procedures (Exact actions).</a:t>
            </a:r>
          </a:p>
        </p:txBody>
      </p:sp>
      <p:sp>
        <p:nvSpPr>
          <p:cNvPr id="14" name="Rounded Rectangle 13"/>
          <p:cNvSpPr/>
          <p:nvPr/>
        </p:nvSpPr>
        <p:spPr>
          <a:xfrm>
            <a:off x="6217920" y="1600200"/>
            <a:ext cx="5303520" cy="3840480"/>
          </a:xfrm>
          <a:prstGeom prst="roundRect">
            <a:avLst/>
          </a:prstGeom>
          <a:solidFill>
            <a:srgbClr val="F8FAFC"/>
          </a:solidFill>
          <a:ln w="19050">
            <a:solidFill>
              <a:srgbClr val="0028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82512" y="1737360"/>
            <a:ext cx="4974336" cy="3566160"/>
          </a:xfrm>
          <a:prstGeom prst="rect">
            <a:avLst/>
          </a:prstGeom>
          <a:noFill/>
        </p:spPr>
        <p:txBody>
          <a:bodyPr wrap="square">
            <a:spAutoFit/>
          </a:bodyPr>
          <a:lstStyle/>
          <a:p>
            <a:pPr>
              <a:defRPr sz="1400" b="1">
                <a:solidFill>
                  <a:srgbClr val="002855"/>
                </a:solidFill>
                <a:latin typeface="Segoe UI"/>
              </a:defRPr>
            </a:pPr>
            <a:r>
              <a:t>Kill Chain, Diamond &amp; NIST IR</a:t>
            </a:r>
          </a:p>
          <a:p>
            <a:pPr>
              <a:spcBef>
                <a:spcPts val="400"/>
              </a:spcBef>
              <a:defRPr sz="1050">
                <a:solidFill>
                  <a:srgbClr val="1E293B"/>
                </a:solidFill>
                <a:latin typeface="Segoe UI"/>
              </a:defRPr>
            </a:pPr>
            <a:r>
              <a:t>•  Cyber Kill Chain: 7 sequential stages; breaking any single link halts the campaign.</a:t>
            </a:r>
          </a:p>
          <a:p>
            <a:pPr>
              <a:spcBef>
                <a:spcPts val="400"/>
              </a:spcBef>
              <a:defRPr sz="1050">
                <a:solidFill>
                  <a:srgbClr val="1E293B"/>
                </a:solidFill>
                <a:latin typeface="Segoe UI"/>
              </a:defRPr>
            </a:pPr>
            <a:r>
              <a:t>•  Diamond Model: Adversary uses Capability over Infrastructure against Victim; enables pivoting.</a:t>
            </a:r>
          </a:p>
          <a:p>
            <a:pPr>
              <a:spcBef>
                <a:spcPts val="400"/>
              </a:spcBef>
              <a:defRPr sz="1050">
                <a:solidFill>
                  <a:srgbClr val="1E293B"/>
                </a:solidFill>
                <a:latin typeface="Segoe UI"/>
              </a:defRPr>
            </a:pPr>
            <a:r>
              <a:t>•  Attack Threading: Connecting vertical Kill Chain steps with horizontal multi-victim pivots.</a:t>
            </a:r>
          </a:p>
          <a:p>
            <a:pPr>
              <a:spcBef>
                <a:spcPts val="400"/>
              </a:spcBef>
              <a:defRPr sz="1050">
                <a:solidFill>
                  <a:srgbClr val="1E293B"/>
                </a:solidFill>
                <a:latin typeface="Segoe UI"/>
              </a:defRPr>
            </a:pPr>
            <a:r>
              <a:t>•  NIST 4-Phases: Preparation ➔ Detection &amp; Analysis ➔ Containment/Recovery ➔ Post-Incident.</a:t>
            </a:r>
          </a:p>
        </p:txBody>
      </p:sp>
      <p:sp>
        <p:nvSpPr>
          <p:cNvPr id="16" name="Rounded Rectangle 15"/>
          <p:cNvSpPr/>
          <p:nvPr/>
        </p:nvSpPr>
        <p:spPr>
          <a:xfrm>
            <a:off x="548640" y="5577840"/>
            <a:ext cx="11064240" cy="685800"/>
          </a:xfrm>
          <a:prstGeom prst="roundRect">
            <a:avLst/>
          </a:prstGeom>
          <a:solidFill>
            <a:srgbClr val="002855"/>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EF3C7"/>
                </a:solidFill>
                <a:latin typeface="Segoe UI"/>
              </a:defRPr>
            </a:pPr>
            <a:r>
              <a:t>University of Zululand (UNIZULU) • Department of Computer Science • Cisco CyberOps Academy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